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1" r:id="rId8"/>
    <p:sldId id="262" r:id="rId9"/>
    <p:sldId id="263" r:id="rId10"/>
    <p:sldId id="265" r:id="rId11"/>
    <p:sldId id="266" r:id="rId12"/>
    <p:sldId id="264" r:id="rId13"/>
    <p:sldId id="267" r:id="rId14"/>
    <p:sldId id="269" r:id="rId15"/>
    <p:sldId id="268" r:id="rId16"/>
    <p:sldId id="270" r:id="rId17"/>
    <p:sldId id="271" r:id="rId18"/>
    <p:sldId id="272" r:id="rId19"/>
    <p:sldId id="273" r:id="rId20"/>
    <p:sldId id="274" r:id="rId21"/>
    <p:sldId id="275" r:id="rId22"/>
    <p:sldId id="276" r:id="rId23"/>
  </p:sldIdLst>
  <p:sldSz cx="12192000" cy="6858000"/>
  <p:notesSz cx="6858000" cy="12192000"/>
  <p:embeddedFontLst>
    <p:embeddedFont>
      <p:font typeface="黑体" panose="02010609060101010101" charset="-122"/>
      <p:regular r:id="rId27"/>
    </p:embeddedFont>
    <p:embeddedFont>
      <p:font typeface="MiSans" pitchFamily="34" charset="-122"/>
      <p:regular r:id="rId28"/>
    </p:embeddedFont>
    <p:embeddedFont>
      <p:font typeface="MiSans" pitchFamily="34" charset="-120"/>
      <p:regular r:id="rId29"/>
    </p:embeddedFont>
    <p:embeddedFont>
      <p:font typeface="Calibri" panose="020F0502020204030204" charset="0"/>
      <p:regular r:id="rId30"/>
      <p:bold r:id="rId31"/>
      <p:italic r:id="rId32"/>
      <p:boldItalic r:id="rId33"/>
    </p:embeddedFont>
    <p:embeddedFont>
      <p:font typeface="等线" panose="02010600030101010101" charset="-122"/>
      <p:regular r:id="rId3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font" Target="fonts/font8.fntdata"/><Relationship Id="rId33" Type="http://schemas.openxmlformats.org/officeDocument/2006/relationships/font" Target="fonts/font7.fntdata"/><Relationship Id="rId32" Type="http://schemas.openxmlformats.org/officeDocument/2006/relationships/font" Target="fonts/font6.fntdata"/><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notesSlide" Target="../notesSlides/notesSlide2.xml"/><Relationship Id="rId2" Type="http://schemas.openxmlformats.org/officeDocument/2006/relationships/tags" Target="../tags/tag2.xml"/><Relationship Id="rId19" Type="http://schemas.openxmlformats.org/officeDocument/2006/relationships/slideLayout" Target="../slideLayouts/slideLayout1.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4" Type="http://schemas.openxmlformats.org/officeDocument/2006/relationships/notesSlide" Target="../notesSlides/notesSlide4.xml"/><Relationship Id="rId13" Type="http://schemas.openxmlformats.org/officeDocument/2006/relationships/slideLayout" Target="../slideLayouts/slideLayout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image" Target="../media/image4.png"/><Relationship Id="rId27" Type="http://schemas.openxmlformats.org/officeDocument/2006/relationships/notesSlide" Target="../notesSlides/notesSlide6.xml"/><Relationship Id="rId26" Type="http://schemas.openxmlformats.org/officeDocument/2006/relationships/slideLayout" Target="../slideLayouts/slideLayout1.xml"/><Relationship Id="rId25" Type="http://schemas.openxmlformats.org/officeDocument/2006/relationships/tags" Target="../tags/tag54.xml"/><Relationship Id="rId24" Type="http://schemas.openxmlformats.org/officeDocument/2006/relationships/tags" Target="../tags/tag53.xml"/><Relationship Id="rId23" Type="http://schemas.openxmlformats.org/officeDocument/2006/relationships/tags" Target="../tags/tag52.xml"/><Relationship Id="rId22" Type="http://schemas.openxmlformats.org/officeDocument/2006/relationships/tags" Target="../tags/tag51.xml"/><Relationship Id="rId21" Type="http://schemas.openxmlformats.org/officeDocument/2006/relationships/tags" Target="../tags/tag50.xml"/><Relationship Id="rId20" Type="http://schemas.openxmlformats.org/officeDocument/2006/relationships/tags" Target="../tags/tag49.xml"/><Relationship Id="rId2" Type="http://schemas.openxmlformats.org/officeDocument/2006/relationships/tags" Target="../tags/tag32.xml"/><Relationship Id="rId19" Type="http://schemas.openxmlformats.org/officeDocument/2006/relationships/tags" Target="../tags/tag48.xml"/><Relationship Id="rId18" Type="http://schemas.openxmlformats.org/officeDocument/2006/relationships/tags" Target="../tags/tag47.xml"/><Relationship Id="rId17" Type="http://schemas.openxmlformats.org/officeDocument/2006/relationships/tags" Target="../tags/tag46.xml"/><Relationship Id="rId16" Type="http://schemas.openxmlformats.org/officeDocument/2006/relationships/tags" Target="../tags/tag45.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tags" Target="../tags/tag31.xml"/></Relationships>
</file>

<file path=ppt/slides/_rels/slide7.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image" Target="../media/image6.png"/><Relationship Id="rId3" Type="http://schemas.openxmlformats.org/officeDocument/2006/relationships/tags" Target="../tags/tag56.xml"/><Relationship Id="rId2" Type="http://schemas.openxmlformats.org/officeDocument/2006/relationships/image" Target="../media/image5.png"/><Relationship Id="rId11" Type="http://schemas.openxmlformats.org/officeDocument/2006/relationships/notesSlide" Target="../notesSlides/notesSlide7.xml"/><Relationship Id="rId10" Type="http://schemas.openxmlformats.org/officeDocument/2006/relationships/slideLayout" Target="../slideLayouts/slideLayout1.xml"/><Relationship Id="rId1" Type="http://schemas.openxmlformats.org/officeDocument/2006/relationships/tags" Target="../tags/tag5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5" Type="http://schemas.openxmlformats.org/officeDocument/2006/relationships/notesSlide" Target="../notesSlides/notesSlide10.xml"/><Relationship Id="rId14" Type="http://schemas.openxmlformats.org/officeDocument/2006/relationships/slideLayout" Target="../slideLayouts/slideLayout1.xml"/><Relationship Id="rId13" Type="http://schemas.openxmlformats.org/officeDocument/2006/relationships/tags" Target="../tags/tag72.xml"/><Relationship Id="rId12" Type="http://schemas.openxmlformats.org/officeDocument/2006/relationships/tags" Target="../tags/tag71.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4" Type="http://schemas.openxmlformats.org/officeDocument/2006/relationships/notesSlide" Target="../notesSlides/notesSlide11.xml"/><Relationship Id="rId13" Type="http://schemas.openxmlformats.org/officeDocument/2006/relationships/slideLayout" Target="../slideLayouts/slideLayout1.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tags" Target="../tags/tag73.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7" Type="http://schemas.openxmlformats.org/officeDocument/2006/relationships/notesSlide" Target="../notesSlides/notesSlide14.xml"/><Relationship Id="rId16" Type="http://schemas.openxmlformats.org/officeDocument/2006/relationships/slideLayout" Target="../slideLayouts/slideLayout1.xml"/><Relationship Id="rId15" Type="http://schemas.openxmlformats.org/officeDocument/2006/relationships/tags" Target="../tags/tag105.xml"/><Relationship Id="rId14" Type="http://schemas.openxmlformats.org/officeDocument/2006/relationships/tags" Target="../tags/tag104.xml"/><Relationship Id="rId13" Type="http://schemas.openxmlformats.org/officeDocument/2006/relationships/tags" Target="../tags/tag103.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tags" Target="../tags/tag9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9" Type="http://schemas.openxmlformats.org/officeDocument/2006/relationships/tags" Target="../tags/tag114.xml"/><Relationship Id="rId8" Type="http://schemas.openxmlformats.org/officeDocument/2006/relationships/tags" Target="../tags/tag113.xml"/><Relationship Id="rId7" Type="http://schemas.openxmlformats.org/officeDocument/2006/relationships/tags" Target="../tags/tag112.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4" Type="http://schemas.openxmlformats.org/officeDocument/2006/relationships/notesSlide" Target="../notesSlides/notesSlide16.xml"/><Relationship Id="rId13" Type="http://schemas.openxmlformats.org/officeDocument/2006/relationships/slideLayout" Target="../slideLayouts/slideLayout1.xml"/><Relationship Id="rId12" Type="http://schemas.openxmlformats.org/officeDocument/2006/relationships/tags" Target="../tags/tag117.xml"/><Relationship Id="rId11" Type="http://schemas.openxmlformats.org/officeDocument/2006/relationships/tags" Target="../tags/tag116.xml"/><Relationship Id="rId10" Type="http://schemas.openxmlformats.org/officeDocument/2006/relationships/tags" Target="../tags/tag115.xml"/><Relationship Id="rId1" Type="http://schemas.openxmlformats.org/officeDocument/2006/relationships/tags" Target="../tags/tag106.xml"/></Relationships>
</file>

<file path=ppt/slides/_rels/slide17.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tags" Target="../tags/tag125.xml"/><Relationship Id="rId7" Type="http://schemas.openxmlformats.org/officeDocument/2006/relationships/tags" Target="../tags/tag124.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5" Type="http://schemas.openxmlformats.org/officeDocument/2006/relationships/notesSlide" Target="../notesSlides/notesSlide17.xml"/><Relationship Id="rId14" Type="http://schemas.openxmlformats.org/officeDocument/2006/relationships/slideLayout" Target="../slideLayouts/slideLayout1.xml"/><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tags" Target="../tags/tag1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134.xml"/><Relationship Id="rId7" Type="http://schemas.openxmlformats.org/officeDocument/2006/relationships/tags" Target="../tags/tag133.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0" Type="http://schemas.openxmlformats.org/officeDocument/2006/relationships/notesSlide" Target="../notesSlides/notesSlide19.xml"/><Relationship Id="rId1" Type="http://schemas.openxmlformats.org/officeDocument/2006/relationships/tags" Target="../tags/tag127.xml"/></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1.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0100310" y="535940"/>
            <a:ext cx="1869440" cy="1896110"/>
          </a:xfrm>
          <a:prstGeom prst="rect">
            <a:avLst/>
          </a:prstGeom>
        </p:spPr>
      </p:pic>
      <p:sp>
        <p:nvSpPr>
          <p:cNvPr id="9" name="Shape 6"/>
          <p:cNvSpPr/>
          <p:nvPr/>
        </p:nvSpPr>
        <p:spPr>
          <a:xfrm>
            <a:off x="462280" y="4228465"/>
            <a:ext cx="774258" cy="76200"/>
          </a:xfrm>
          <a:prstGeom prst="rect">
            <a:avLst/>
          </a:prstGeom>
          <a:solidFill>
            <a:srgbClr val="FFFFFF"/>
          </a:solidFill>
        </p:spPr>
      </p:sp>
      <p:sp>
        <p:nvSpPr>
          <p:cNvPr id="10" name="Shape 7"/>
          <p:cNvSpPr/>
          <p:nvPr/>
        </p:nvSpPr>
        <p:spPr>
          <a:xfrm>
            <a:off x="730690" y="4266565"/>
            <a:ext cx="5667570" cy="0"/>
          </a:xfrm>
          <a:prstGeom prst="line">
            <a:avLst/>
          </a:prstGeom>
          <a:noFill/>
          <a:ln w="19050">
            <a:solidFill>
              <a:srgbClr val="FFFFFF"/>
            </a:solidFill>
            <a:prstDash val="solid"/>
            <a:headEnd type="none"/>
            <a:tailEnd type="none"/>
          </a:ln>
        </p:spPr>
      </p:sp>
      <p:sp>
        <p:nvSpPr>
          <p:cNvPr id="11" name="Shape 8"/>
          <p:cNvSpPr/>
          <p:nvPr/>
        </p:nvSpPr>
        <p:spPr>
          <a:xfrm>
            <a:off x="137324" y="6006465"/>
            <a:ext cx="2088177" cy="467360"/>
          </a:xfrm>
          <a:prstGeom prst="roundRect">
            <a:avLst>
              <a:gd name="adj" fmla="val 50000"/>
            </a:avLst>
          </a:prstGeom>
          <a:solidFill>
            <a:srgbClr val="000000">
              <a:alpha val="0"/>
            </a:srgbClr>
          </a:solidFill>
        </p:spPr>
      </p:sp>
      <p:sp>
        <p:nvSpPr>
          <p:cNvPr id="12" name="Text 9"/>
          <p:cNvSpPr/>
          <p:nvPr/>
        </p:nvSpPr>
        <p:spPr>
          <a:xfrm>
            <a:off x="267028" y="6074908"/>
            <a:ext cx="2088822" cy="398780"/>
          </a:xfrm>
          <a:prstGeom prst="rect">
            <a:avLst/>
          </a:prstGeom>
          <a:noFill/>
        </p:spPr>
        <p:txBody>
          <a:bodyPr wrap="square" lIns="91440" tIns="45720" rIns="91440" bIns="45720" rtlCol="0" anchor="t">
            <a:spAutoFit/>
          </a:bodyPr>
          <a:lstStyle/>
          <a:p>
            <a:pPr algn="ctr">
              <a:lnSpc>
                <a:spcPct val="100000"/>
              </a:lnSpc>
            </a:pPr>
            <a:r>
              <a:rPr lang="zh-CN" altLang="en-US" sz="2000" dirty="0">
                <a:solidFill>
                  <a:srgbClr val="000000"/>
                </a:solidFill>
                <a:latin typeface="黑体" panose="02010609060101010101" charset="-122"/>
                <a:ea typeface="黑体" panose="02010609060101010101" charset="-122"/>
                <a:cs typeface="黑体" panose="02010609060101010101" charset="-122"/>
              </a:rPr>
              <a:t>汇报人</a:t>
            </a:r>
            <a:r>
              <a:rPr lang="en-US" sz="2000" dirty="0">
                <a:solidFill>
                  <a:srgbClr val="000000"/>
                </a:solidFill>
                <a:latin typeface="黑体" panose="02010609060101010101" charset="-122"/>
                <a:ea typeface="黑体" panose="02010609060101010101" charset="-122"/>
                <a:cs typeface="黑体" panose="02010609060101010101" charset="-122"/>
              </a:rPr>
              <a:t>:翁艺恺 </a:t>
            </a:r>
            <a:endParaRPr lang="en-US" sz="1600" dirty="0">
              <a:latin typeface="黑体" panose="02010609060101010101" charset="-122"/>
              <a:ea typeface="黑体" panose="02010609060101010101" charset="-122"/>
              <a:cs typeface="黑体" panose="02010609060101010101" charset="-122"/>
            </a:endParaRPr>
          </a:p>
        </p:txBody>
      </p:sp>
      <p:sp>
        <p:nvSpPr>
          <p:cNvPr id="13" name="Shape 10"/>
          <p:cNvSpPr/>
          <p:nvPr/>
        </p:nvSpPr>
        <p:spPr>
          <a:xfrm>
            <a:off x="2355939" y="6006465"/>
            <a:ext cx="2168313" cy="467360"/>
          </a:xfrm>
          <a:prstGeom prst="roundRect">
            <a:avLst>
              <a:gd name="adj" fmla="val 50000"/>
            </a:avLst>
          </a:prstGeom>
          <a:solidFill>
            <a:srgbClr val="000000">
              <a:alpha val="0"/>
            </a:srgbClr>
          </a:solidFill>
        </p:spPr>
      </p:sp>
      <p:sp>
        <p:nvSpPr>
          <p:cNvPr id="14" name="Text 11"/>
          <p:cNvSpPr/>
          <p:nvPr/>
        </p:nvSpPr>
        <p:spPr>
          <a:xfrm>
            <a:off x="2254885" y="6060303"/>
            <a:ext cx="2371090" cy="398780"/>
          </a:xfrm>
          <a:prstGeom prst="rect">
            <a:avLst/>
          </a:prstGeom>
          <a:noFill/>
        </p:spPr>
        <p:txBody>
          <a:bodyPr wrap="square" lIns="91440" tIns="45720" rIns="91440" bIns="45720" rtlCol="0" anchor="t">
            <a:spAutoFit/>
          </a:bodyPr>
          <a:lstStyle/>
          <a:p>
            <a:pPr algn="ctr">
              <a:lnSpc>
                <a:spcPct val="100000"/>
              </a:lnSpc>
            </a:pPr>
            <a:r>
              <a:rPr lang="en-US" sz="2000" dirty="0">
                <a:solidFill>
                  <a:srgbClr val="000000"/>
                </a:solidFill>
                <a:latin typeface="黑体" panose="02010609060101010101" charset="-122"/>
                <a:ea typeface="黑体" panose="02010609060101010101" charset="-122"/>
                <a:cs typeface="黑体" panose="02010609060101010101" charset="-122"/>
              </a:rPr>
              <a:t>时间:2026/05/18</a:t>
            </a:r>
            <a:endParaRPr lang="en-US" sz="2000" dirty="0">
              <a:solidFill>
                <a:srgbClr val="000000"/>
              </a:solidFill>
              <a:latin typeface="黑体" panose="02010609060101010101" charset="-122"/>
              <a:ea typeface="黑体" panose="02010609060101010101" charset="-122"/>
              <a:cs typeface="黑体" panose="02010609060101010101" charset="-122"/>
            </a:endParaRPr>
          </a:p>
        </p:txBody>
      </p:sp>
      <p:sp>
        <p:nvSpPr>
          <p:cNvPr id="16" name="Shape 13"/>
          <p:cNvSpPr/>
          <p:nvPr/>
        </p:nvSpPr>
        <p:spPr>
          <a:xfrm>
            <a:off x="10793095" y="294005"/>
            <a:ext cx="112395" cy="112395"/>
          </a:xfrm>
          <a:prstGeom prst="ellipse">
            <a:avLst/>
          </a:prstGeom>
          <a:solidFill>
            <a:srgbClr val="000000">
              <a:alpha val="0"/>
            </a:srgbClr>
          </a:solidFill>
          <a:ln w="9525">
            <a:solidFill>
              <a:srgbClr val="00B0F0"/>
            </a:solidFill>
            <a:prstDash val="solid"/>
          </a:ln>
        </p:spPr>
      </p:sp>
      <p:sp>
        <p:nvSpPr>
          <p:cNvPr id="17" name="Shape 14"/>
          <p:cNvSpPr/>
          <p:nvPr/>
        </p:nvSpPr>
        <p:spPr>
          <a:xfrm>
            <a:off x="11002645" y="294005"/>
            <a:ext cx="112395" cy="112395"/>
          </a:xfrm>
          <a:prstGeom prst="ellipse">
            <a:avLst/>
          </a:prstGeom>
          <a:solidFill>
            <a:srgbClr val="00B0F0"/>
          </a:solidFill>
          <a:ln w="9525">
            <a:solidFill>
              <a:srgbClr val="00B0F0"/>
            </a:solidFill>
            <a:prstDash val="solid"/>
          </a:ln>
        </p:spPr>
      </p:sp>
      <p:sp>
        <p:nvSpPr>
          <p:cNvPr id="18" name="Shape 15"/>
          <p:cNvSpPr/>
          <p:nvPr/>
        </p:nvSpPr>
        <p:spPr>
          <a:xfrm>
            <a:off x="11212830" y="294005"/>
            <a:ext cx="112395" cy="112395"/>
          </a:xfrm>
          <a:prstGeom prst="ellipse">
            <a:avLst/>
          </a:prstGeom>
          <a:solidFill>
            <a:srgbClr val="000000">
              <a:alpha val="0"/>
            </a:srgbClr>
          </a:solidFill>
          <a:ln w="9525">
            <a:solidFill>
              <a:srgbClr val="00B0F0"/>
            </a:solidFill>
            <a:prstDash val="solid"/>
          </a:ln>
        </p:spPr>
      </p:sp>
      <p:sp>
        <p:nvSpPr>
          <p:cNvPr id="19" name="Shape 16"/>
          <p:cNvSpPr/>
          <p:nvPr/>
        </p:nvSpPr>
        <p:spPr>
          <a:xfrm>
            <a:off x="11422380" y="294005"/>
            <a:ext cx="112395" cy="112395"/>
          </a:xfrm>
          <a:prstGeom prst="ellipse">
            <a:avLst/>
          </a:prstGeom>
          <a:solidFill>
            <a:srgbClr val="00B0F0"/>
          </a:solidFill>
          <a:ln w="9525">
            <a:solidFill>
              <a:srgbClr val="00B0F0"/>
            </a:solidFill>
            <a:prstDash val="solid"/>
          </a:ln>
        </p:spPr>
      </p:sp>
      <p:sp>
        <p:nvSpPr>
          <p:cNvPr id="20" name="Shape 17"/>
          <p:cNvSpPr/>
          <p:nvPr/>
        </p:nvSpPr>
        <p:spPr>
          <a:xfrm rot="5400000">
            <a:off x="11352530" y="4684395"/>
            <a:ext cx="140335" cy="121285"/>
          </a:xfrm>
          <a:prstGeom prst="triangle">
            <a:avLst>
              <a:gd name="adj" fmla="val 50000"/>
            </a:avLst>
          </a:prstGeom>
          <a:solidFill>
            <a:srgbClr val="00B0F0"/>
          </a:solidFill>
        </p:spPr>
      </p:sp>
      <p:sp>
        <p:nvSpPr>
          <p:cNvPr id="21" name="Shape 18"/>
          <p:cNvSpPr/>
          <p:nvPr/>
        </p:nvSpPr>
        <p:spPr>
          <a:xfrm rot="5400000" flipV="1">
            <a:off x="11140440" y="4684395"/>
            <a:ext cx="140335" cy="121285"/>
          </a:xfrm>
          <a:prstGeom prst="triangle">
            <a:avLst>
              <a:gd name="adj" fmla="val 50000"/>
            </a:avLst>
          </a:prstGeom>
          <a:solidFill>
            <a:srgbClr val="00B0F0"/>
          </a:solidFill>
        </p:spPr>
      </p:sp>
      <p:sp>
        <p:nvSpPr>
          <p:cNvPr id="22" name="Shape 19"/>
          <p:cNvSpPr/>
          <p:nvPr/>
        </p:nvSpPr>
        <p:spPr>
          <a:xfrm rot="15060000" flipV="1">
            <a:off x="5186045" y="3797935"/>
            <a:ext cx="1242695" cy="1242695"/>
          </a:xfrm>
          <a:custGeom>
            <a:avLst/>
            <a:gdLst/>
            <a:ahLst/>
            <a:cxnLst/>
            <a:rect l="l" t="t" r="r" b="b"/>
            <a:pathLst>
              <a:path w="1242695" h="1242695">
                <a:moveTo>
                  <a:pt x="455293" y="1221014"/>
                </a:moveTo>
                <a:cubicBezTo>
                  <a:pt x="455293" y="1221014"/>
                  <a:pt x="455293" y="1221014"/>
                  <a:pt x="787401" y="1221014"/>
                </a:cubicBezTo>
                <a:cubicBezTo>
                  <a:pt x="735091" y="1235469"/>
                  <a:pt x="679131" y="1242695"/>
                  <a:pt x="620739" y="1242695"/>
                </a:cubicBezTo>
                <a:cubicBezTo>
                  <a:pt x="563563" y="1242695"/>
                  <a:pt x="507603" y="1235469"/>
                  <a:pt x="455293" y="1221014"/>
                </a:cubicBezTo>
                <a:close/>
                <a:moveTo>
                  <a:pt x="309441" y="1158929"/>
                </a:moveTo>
                <a:lnTo>
                  <a:pt x="932267" y="1158929"/>
                </a:lnTo>
                <a:cubicBezTo>
                  <a:pt x="906771" y="1173342"/>
                  <a:pt x="881275" y="1186554"/>
                  <a:pt x="853352" y="1197363"/>
                </a:cubicBezTo>
                <a:cubicBezTo>
                  <a:pt x="853352" y="1197363"/>
                  <a:pt x="853352" y="1197363"/>
                  <a:pt x="387143" y="1197363"/>
                </a:cubicBezTo>
                <a:cubicBezTo>
                  <a:pt x="360433" y="1186554"/>
                  <a:pt x="333723" y="1173342"/>
                  <a:pt x="309441" y="1158929"/>
                </a:cubicBezTo>
                <a:close/>
                <a:moveTo>
                  <a:pt x="221734" y="1097829"/>
                </a:moveTo>
                <a:lnTo>
                  <a:pt x="1019976" y="1097829"/>
                </a:lnTo>
                <a:cubicBezTo>
                  <a:pt x="1002966" y="1111118"/>
                  <a:pt x="985956" y="1123198"/>
                  <a:pt x="968946" y="1135278"/>
                </a:cubicBezTo>
                <a:cubicBezTo>
                  <a:pt x="968946" y="1135278"/>
                  <a:pt x="968946" y="1135278"/>
                  <a:pt x="272763" y="1135278"/>
                </a:cubicBezTo>
                <a:cubicBezTo>
                  <a:pt x="254538" y="1123198"/>
                  <a:pt x="237528" y="1111118"/>
                  <a:pt x="221734" y="1097829"/>
                </a:cubicBezTo>
                <a:close/>
                <a:moveTo>
                  <a:pt x="158663" y="1035743"/>
                </a:moveTo>
                <a:lnTo>
                  <a:pt x="1083047" y="1035743"/>
                </a:lnTo>
                <a:cubicBezTo>
                  <a:pt x="1070900" y="1049294"/>
                  <a:pt x="1058752" y="1062844"/>
                  <a:pt x="1045391" y="1075163"/>
                </a:cubicBezTo>
                <a:cubicBezTo>
                  <a:pt x="1045391" y="1075163"/>
                  <a:pt x="1045391" y="1075163"/>
                  <a:pt x="196318" y="1075163"/>
                </a:cubicBezTo>
                <a:cubicBezTo>
                  <a:pt x="182957" y="1062844"/>
                  <a:pt x="169595" y="1049294"/>
                  <a:pt x="158663" y="1035743"/>
                </a:cubicBezTo>
                <a:close/>
                <a:moveTo>
                  <a:pt x="110374" y="975629"/>
                </a:moveTo>
                <a:lnTo>
                  <a:pt x="1132320" y="975629"/>
                </a:lnTo>
                <a:cubicBezTo>
                  <a:pt x="1122599" y="988917"/>
                  <a:pt x="1114093" y="1000997"/>
                  <a:pt x="1103157" y="1013078"/>
                </a:cubicBezTo>
                <a:cubicBezTo>
                  <a:pt x="1103157" y="1013078"/>
                  <a:pt x="1103157" y="1013078"/>
                  <a:pt x="138322" y="1013078"/>
                </a:cubicBezTo>
                <a:cubicBezTo>
                  <a:pt x="128601" y="1000997"/>
                  <a:pt x="118879" y="988917"/>
                  <a:pt x="110374" y="975629"/>
                </a:cubicBezTo>
                <a:close/>
                <a:moveTo>
                  <a:pt x="72925" y="913544"/>
                </a:moveTo>
                <a:lnTo>
                  <a:pt x="1169769" y="913544"/>
                </a:lnTo>
                <a:cubicBezTo>
                  <a:pt x="1162481" y="926755"/>
                  <a:pt x="1155193" y="939967"/>
                  <a:pt x="1146690" y="951978"/>
                </a:cubicBezTo>
                <a:cubicBezTo>
                  <a:pt x="1146690" y="951978"/>
                  <a:pt x="1146690" y="951978"/>
                  <a:pt x="94789" y="951978"/>
                </a:cubicBezTo>
                <a:cubicBezTo>
                  <a:pt x="87501" y="939967"/>
                  <a:pt x="80213" y="926755"/>
                  <a:pt x="72925" y="913544"/>
                </a:cubicBezTo>
                <a:close/>
                <a:moveTo>
                  <a:pt x="43361" y="852444"/>
                </a:moveTo>
                <a:lnTo>
                  <a:pt x="1197362" y="852444"/>
                </a:lnTo>
                <a:cubicBezTo>
                  <a:pt x="1192503" y="864523"/>
                  <a:pt x="1186430" y="877812"/>
                  <a:pt x="1180356" y="889892"/>
                </a:cubicBezTo>
                <a:cubicBezTo>
                  <a:pt x="1180356" y="889892"/>
                  <a:pt x="1180356" y="889892"/>
                  <a:pt x="60367" y="889892"/>
                </a:cubicBezTo>
                <a:cubicBezTo>
                  <a:pt x="54293" y="877812"/>
                  <a:pt x="49434" y="864523"/>
                  <a:pt x="43361" y="852444"/>
                </a:cubicBezTo>
                <a:close/>
                <a:moveTo>
                  <a:pt x="22666" y="790358"/>
                </a:moveTo>
                <a:lnTo>
                  <a:pt x="1219043" y="790358"/>
                </a:lnTo>
                <a:cubicBezTo>
                  <a:pt x="1215399" y="803909"/>
                  <a:pt x="1210541" y="817459"/>
                  <a:pt x="1205683" y="829778"/>
                </a:cubicBezTo>
                <a:cubicBezTo>
                  <a:pt x="1205683" y="829778"/>
                  <a:pt x="1205683" y="829778"/>
                  <a:pt x="34812" y="829778"/>
                </a:cubicBezTo>
                <a:cubicBezTo>
                  <a:pt x="29953" y="817459"/>
                  <a:pt x="26310" y="803909"/>
                  <a:pt x="22666" y="790358"/>
                </a:cubicBezTo>
                <a:close/>
                <a:moveTo>
                  <a:pt x="7883" y="730244"/>
                </a:moveTo>
                <a:lnTo>
                  <a:pt x="1232840" y="730244"/>
                </a:lnTo>
                <a:cubicBezTo>
                  <a:pt x="1230409" y="742323"/>
                  <a:pt x="1227979" y="755612"/>
                  <a:pt x="1225548" y="767692"/>
                </a:cubicBezTo>
                <a:cubicBezTo>
                  <a:pt x="1225548" y="767692"/>
                  <a:pt x="1225548" y="767692"/>
                  <a:pt x="16390" y="767692"/>
                </a:cubicBezTo>
                <a:cubicBezTo>
                  <a:pt x="13959" y="755612"/>
                  <a:pt x="10314" y="742323"/>
                  <a:pt x="7883" y="730244"/>
                </a:cubicBezTo>
                <a:close/>
                <a:moveTo>
                  <a:pt x="985" y="668158"/>
                </a:moveTo>
                <a:lnTo>
                  <a:pt x="1241709" y="668158"/>
                </a:lnTo>
                <a:cubicBezTo>
                  <a:pt x="1240494" y="681370"/>
                  <a:pt x="1239279" y="694582"/>
                  <a:pt x="1236849" y="706593"/>
                </a:cubicBezTo>
                <a:cubicBezTo>
                  <a:pt x="1236849" y="706593"/>
                  <a:pt x="1236849" y="706593"/>
                  <a:pt x="5846" y="706593"/>
                </a:cubicBezTo>
                <a:cubicBezTo>
                  <a:pt x="3416" y="694582"/>
                  <a:pt x="2201" y="681370"/>
                  <a:pt x="985" y="668158"/>
                </a:cubicBezTo>
                <a:close/>
                <a:moveTo>
                  <a:pt x="0" y="607058"/>
                </a:moveTo>
                <a:cubicBezTo>
                  <a:pt x="0" y="607058"/>
                  <a:pt x="0" y="607058"/>
                  <a:pt x="1242695" y="607058"/>
                </a:cubicBezTo>
                <a:cubicBezTo>
                  <a:pt x="1242695" y="611986"/>
                  <a:pt x="1242695" y="615681"/>
                  <a:pt x="1242695" y="620609"/>
                </a:cubicBezTo>
                <a:cubicBezTo>
                  <a:pt x="1242695" y="629232"/>
                  <a:pt x="1242695" y="637855"/>
                  <a:pt x="1242695" y="646478"/>
                </a:cubicBezTo>
                <a:cubicBezTo>
                  <a:pt x="1242695" y="646478"/>
                  <a:pt x="1242695" y="646478"/>
                  <a:pt x="0" y="646478"/>
                </a:cubicBezTo>
                <a:cubicBezTo>
                  <a:pt x="0" y="637855"/>
                  <a:pt x="0" y="629232"/>
                  <a:pt x="0" y="620609"/>
                </a:cubicBezTo>
                <a:cubicBezTo>
                  <a:pt x="0" y="615681"/>
                  <a:pt x="0" y="611986"/>
                  <a:pt x="0" y="607058"/>
                </a:cubicBezTo>
                <a:close/>
                <a:moveTo>
                  <a:pt x="3416" y="544973"/>
                </a:moveTo>
                <a:lnTo>
                  <a:pt x="1238063" y="544973"/>
                </a:lnTo>
                <a:cubicBezTo>
                  <a:pt x="1240494" y="558523"/>
                  <a:pt x="1240494" y="570842"/>
                  <a:pt x="1241709" y="584392"/>
                </a:cubicBezTo>
                <a:cubicBezTo>
                  <a:pt x="1241709" y="584392"/>
                  <a:pt x="1241709" y="584392"/>
                  <a:pt x="985" y="584392"/>
                </a:cubicBezTo>
                <a:cubicBezTo>
                  <a:pt x="985" y="570842"/>
                  <a:pt x="2201" y="558523"/>
                  <a:pt x="3416" y="544973"/>
                </a:cubicBezTo>
                <a:close/>
                <a:moveTo>
                  <a:pt x="14185" y="484859"/>
                </a:moveTo>
                <a:lnTo>
                  <a:pt x="1227524" y="484859"/>
                </a:lnTo>
                <a:cubicBezTo>
                  <a:pt x="1229953" y="496869"/>
                  <a:pt x="1232382" y="510081"/>
                  <a:pt x="1234811" y="523293"/>
                </a:cubicBezTo>
                <a:cubicBezTo>
                  <a:pt x="1234811" y="523293"/>
                  <a:pt x="1234811" y="523293"/>
                  <a:pt x="6898" y="523293"/>
                </a:cubicBezTo>
                <a:cubicBezTo>
                  <a:pt x="9327" y="510081"/>
                  <a:pt x="11756" y="496869"/>
                  <a:pt x="14185" y="484859"/>
                </a:cubicBezTo>
                <a:close/>
                <a:moveTo>
                  <a:pt x="31627" y="422773"/>
                </a:moveTo>
                <a:lnTo>
                  <a:pt x="1211068" y="422773"/>
                </a:lnTo>
                <a:cubicBezTo>
                  <a:pt x="1214712" y="435984"/>
                  <a:pt x="1218356" y="447995"/>
                  <a:pt x="1222000" y="461207"/>
                </a:cubicBezTo>
                <a:cubicBezTo>
                  <a:pt x="1222000" y="461207"/>
                  <a:pt x="1222000" y="461207"/>
                  <a:pt x="20695" y="461207"/>
                </a:cubicBezTo>
                <a:cubicBezTo>
                  <a:pt x="23124" y="447995"/>
                  <a:pt x="27983" y="435984"/>
                  <a:pt x="31627" y="422773"/>
                </a:cubicBezTo>
                <a:close/>
                <a:moveTo>
                  <a:pt x="55215" y="361673"/>
                </a:moveTo>
                <a:lnTo>
                  <a:pt x="1185278" y="361673"/>
                </a:lnTo>
                <a:cubicBezTo>
                  <a:pt x="1191354" y="373991"/>
                  <a:pt x="1197429" y="387542"/>
                  <a:pt x="1202290" y="401092"/>
                </a:cubicBezTo>
                <a:cubicBezTo>
                  <a:pt x="1202290" y="401092"/>
                  <a:pt x="1202290" y="401092"/>
                  <a:pt x="39419" y="401092"/>
                </a:cubicBezTo>
                <a:cubicBezTo>
                  <a:pt x="44279" y="387542"/>
                  <a:pt x="49139" y="373991"/>
                  <a:pt x="55215" y="361673"/>
                </a:cubicBezTo>
                <a:close/>
                <a:moveTo>
                  <a:pt x="88874" y="299588"/>
                </a:moveTo>
                <a:lnTo>
                  <a:pt x="1154049" y="299588"/>
                </a:lnTo>
                <a:cubicBezTo>
                  <a:pt x="1161336" y="313138"/>
                  <a:pt x="1168623" y="325457"/>
                  <a:pt x="1174696" y="339007"/>
                </a:cubicBezTo>
                <a:cubicBezTo>
                  <a:pt x="1174696" y="339007"/>
                  <a:pt x="1174696" y="339007"/>
                  <a:pt x="67012" y="339007"/>
                </a:cubicBezTo>
                <a:cubicBezTo>
                  <a:pt x="74300" y="325457"/>
                  <a:pt x="81587" y="313138"/>
                  <a:pt x="88874" y="299588"/>
                </a:cubicBezTo>
                <a:close/>
                <a:moveTo>
                  <a:pt x="131403" y="239473"/>
                </a:moveTo>
                <a:lnTo>
                  <a:pt x="1111291" y="239473"/>
                </a:lnTo>
                <a:cubicBezTo>
                  <a:pt x="1121005" y="251484"/>
                  <a:pt x="1130719" y="264695"/>
                  <a:pt x="1139219" y="277907"/>
                </a:cubicBezTo>
                <a:cubicBezTo>
                  <a:pt x="1139219" y="277907"/>
                  <a:pt x="1139219" y="277907"/>
                  <a:pt x="103476" y="277907"/>
                </a:cubicBezTo>
                <a:cubicBezTo>
                  <a:pt x="111975" y="264695"/>
                  <a:pt x="121689" y="251484"/>
                  <a:pt x="131403" y="239473"/>
                </a:cubicBezTo>
                <a:close/>
                <a:moveTo>
                  <a:pt x="185259" y="178373"/>
                </a:moveTo>
                <a:cubicBezTo>
                  <a:pt x="185259" y="178373"/>
                  <a:pt x="185259" y="178373"/>
                  <a:pt x="1056450" y="178373"/>
                </a:cubicBezTo>
                <a:cubicBezTo>
                  <a:pt x="1068600" y="190453"/>
                  <a:pt x="1080751" y="202533"/>
                  <a:pt x="1092901" y="215821"/>
                </a:cubicBezTo>
                <a:cubicBezTo>
                  <a:pt x="1092901" y="215821"/>
                  <a:pt x="1092901" y="215821"/>
                  <a:pt x="148808" y="215821"/>
                </a:cubicBezTo>
                <a:cubicBezTo>
                  <a:pt x="159743" y="202533"/>
                  <a:pt x="171894" y="190453"/>
                  <a:pt x="185259" y="178373"/>
                </a:cubicBezTo>
                <a:close/>
                <a:moveTo>
                  <a:pt x="257312" y="116288"/>
                </a:moveTo>
                <a:lnTo>
                  <a:pt x="984167" y="116288"/>
                </a:lnTo>
                <a:cubicBezTo>
                  <a:pt x="1001184" y="128606"/>
                  <a:pt x="1016985" y="142157"/>
                  <a:pt x="1032787" y="155707"/>
                </a:cubicBezTo>
                <a:cubicBezTo>
                  <a:pt x="1032787" y="155707"/>
                  <a:pt x="1032787" y="155707"/>
                  <a:pt x="209908" y="155707"/>
                </a:cubicBezTo>
                <a:cubicBezTo>
                  <a:pt x="224494" y="142157"/>
                  <a:pt x="241510" y="128606"/>
                  <a:pt x="257312" y="116288"/>
                </a:cubicBezTo>
                <a:close/>
                <a:moveTo>
                  <a:pt x="363363" y="56173"/>
                </a:moveTo>
                <a:lnTo>
                  <a:pt x="878346" y="56173"/>
                </a:lnTo>
                <a:cubicBezTo>
                  <a:pt x="903852" y="67045"/>
                  <a:pt x="926929" y="79125"/>
                  <a:pt x="950006" y="93621"/>
                </a:cubicBezTo>
                <a:cubicBezTo>
                  <a:pt x="950006" y="93621"/>
                  <a:pt x="950006" y="93621"/>
                  <a:pt x="291703" y="93621"/>
                </a:cubicBezTo>
                <a:cubicBezTo>
                  <a:pt x="314779" y="79125"/>
                  <a:pt x="339071" y="67045"/>
                  <a:pt x="363363" y="56173"/>
                </a:cubicBezTo>
                <a:close/>
                <a:moveTo>
                  <a:pt x="620361" y="0"/>
                </a:moveTo>
                <a:cubicBezTo>
                  <a:pt x="690856" y="0"/>
                  <a:pt x="757705" y="10841"/>
                  <a:pt x="820907" y="32521"/>
                </a:cubicBezTo>
                <a:cubicBezTo>
                  <a:pt x="820907" y="32521"/>
                  <a:pt x="820907" y="32521"/>
                  <a:pt x="419816" y="32521"/>
                </a:cubicBezTo>
                <a:cubicBezTo>
                  <a:pt x="483018" y="10841"/>
                  <a:pt x="551082" y="0"/>
                  <a:pt x="620361" y="0"/>
                </a:cubicBezTo>
                <a:close/>
              </a:path>
            </a:pathLst>
          </a:cu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23" name="Shape 20"/>
          <p:cNvSpPr/>
          <p:nvPr/>
        </p:nvSpPr>
        <p:spPr>
          <a:xfrm rot="6540000">
            <a:off x="4919345" y="-12700"/>
            <a:ext cx="1242695" cy="1242695"/>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24" name="Shape 21"/>
          <p:cNvSpPr/>
          <p:nvPr/>
        </p:nvSpPr>
        <p:spPr>
          <a:xfrm flipH="1">
            <a:off x="7120890" y="6200140"/>
            <a:ext cx="4264660" cy="47625"/>
          </a:xfrm>
          <a:prstGeom prst="line">
            <a:avLst/>
          </a:prstGeom>
          <a:noFill/>
          <a:ln w="12700">
            <a:solidFill>
              <a:srgbClr val="004CC0"/>
            </a:solidFill>
            <a:prstDash val="solid"/>
            <a:headEnd type="none"/>
            <a:tailEnd type="none"/>
          </a:ln>
        </p:spPr>
      </p:sp>
      <p:sp>
        <p:nvSpPr>
          <p:cNvPr id="25" name="Shape 22"/>
          <p:cNvSpPr/>
          <p:nvPr/>
        </p:nvSpPr>
        <p:spPr>
          <a:xfrm rot="16200000" flipH="1">
            <a:off x="11779309" y="6167814"/>
            <a:ext cx="222250" cy="158631"/>
          </a:xfrm>
          <a:prstGeom prst="triangle">
            <a:avLst>
              <a:gd name="adj" fmla="val 50000"/>
            </a:avLst>
          </a:prstGeom>
          <a:solidFill>
            <a:srgbClr val="004CC0"/>
          </a:solidFill>
        </p:spPr>
      </p:sp>
      <p:sp>
        <p:nvSpPr>
          <p:cNvPr id="26" name="Shape 23"/>
          <p:cNvSpPr/>
          <p:nvPr/>
        </p:nvSpPr>
        <p:spPr>
          <a:xfrm rot="16200000" flipH="1">
            <a:off x="11560751" y="6167814"/>
            <a:ext cx="222250" cy="158631"/>
          </a:xfrm>
          <a:prstGeom prst="triangle">
            <a:avLst>
              <a:gd name="adj" fmla="val 50000"/>
            </a:avLst>
          </a:prstGeom>
          <a:solidFill>
            <a:srgbClr val="004CC0"/>
          </a:solidFill>
        </p:spPr>
      </p:sp>
      <p:sp>
        <p:nvSpPr>
          <p:cNvPr id="15" name="文本框 14"/>
          <p:cNvSpPr txBox="1"/>
          <p:nvPr/>
        </p:nvSpPr>
        <p:spPr>
          <a:xfrm>
            <a:off x="4624705" y="6060440"/>
            <a:ext cx="4064000" cy="398780"/>
          </a:xfrm>
          <a:prstGeom prst="rect">
            <a:avLst/>
          </a:prstGeom>
          <a:noFill/>
        </p:spPr>
        <p:txBody>
          <a:bodyPr wrap="square" rtlCol="0">
            <a:spAutoFit/>
          </a:bodyPr>
          <a:p>
            <a:r>
              <a:rPr lang="zh-CN" altLang="en-US" sz="2000" dirty="0">
                <a:solidFill>
                  <a:srgbClr val="000000"/>
                </a:solidFill>
                <a:latin typeface="黑体" panose="02010609060101010101" charset="-122"/>
                <a:ea typeface="黑体" panose="02010609060101010101" charset="-122"/>
                <a:cs typeface="黑体" panose="02010609060101010101" charset="-122"/>
                <a:sym typeface="+mn-ea"/>
              </a:rPr>
              <a:t>指导老师</a:t>
            </a:r>
            <a:r>
              <a:rPr lang="en-US" sz="2000" dirty="0">
                <a:solidFill>
                  <a:srgbClr val="000000"/>
                </a:solidFill>
                <a:latin typeface="黑体" panose="02010609060101010101" charset="-122"/>
                <a:ea typeface="黑体" panose="02010609060101010101" charset="-122"/>
                <a:cs typeface="黑体" panose="02010609060101010101" charset="-122"/>
                <a:sym typeface="+mn-ea"/>
              </a:rPr>
              <a:t>:</a:t>
            </a:r>
            <a:r>
              <a:rPr lang="zh-CN" altLang="en-US" sz="2000" dirty="0">
                <a:solidFill>
                  <a:srgbClr val="000000"/>
                </a:solidFill>
                <a:latin typeface="黑体" panose="02010609060101010101" charset="-122"/>
                <a:ea typeface="黑体" panose="02010609060101010101" charset="-122"/>
                <a:cs typeface="黑体" panose="02010609060101010101" charset="-122"/>
                <a:sym typeface="+mn-ea"/>
              </a:rPr>
              <a:t>黄江平</a:t>
            </a:r>
            <a:endParaRPr lang="zh-CN" altLang="en-US" sz="2000" dirty="0">
              <a:solidFill>
                <a:srgbClr val="000000"/>
              </a:solidFill>
              <a:latin typeface="黑体" panose="02010609060101010101" charset="-122"/>
              <a:ea typeface="黑体" panose="02010609060101010101" charset="-122"/>
              <a:cs typeface="黑体" panose="02010609060101010101" charset="-122"/>
              <a:sym typeface="+mn-ea"/>
            </a:endParaRPr>
          </a:p>
        </p:txBody>
      </p:sp>
      <p:sp>
        <p:nvSpPr>
          <p:cNvPr id="30" name="文本框 29"/>
          <p:cNvSpPr txBox="1"/>
          <p:nvPr/>
        </p:nvSpPr>
        <p:spPr>
          <a:xfrm>
            <a:off x="1899920" y="1090930"/>
            <a:ext cx="8158480" cy="2320290"/>
          </a:xfrm>
          <a:prstGeom prst="rect">
            <a:avLst/>
          </a:prstGeom>
          <a:noFill/>
        </p:spPr>
        <p:txBody>
          <a:bodyPr wrap="square" rtlCol="0">
            <a:noAutofit/>
          </a:bodyPr>
          <a:p>
            <a:pPr algn="ctr"/>
            <a:r>
              <a:rPr lang="en-US" altLang="zh-CN" sz="4800">
                <a:latin typeface="黑体" panose="02010609060101010101" charset="-122"/>
                <a:ea typeface="黑体" panose="02010609060101010101" charset="-122"/>
              </a:rPr>
              <a:t>  </a:t>
            </a:r>
            <a:r>
              <a:rPr lang="zh-CN" altLang="en-US" sz="4800">
                <a:latin typeface="黑体" panose="02010609060101010101" charset="-122"/>
                <a:ea typeface="黑体" panose="02010609060101010101" charset="-122"/>
              </a:rPr>
              <a:t>知识融入大语言模型</a:t>
            </a:r>
            <a:endParaRPr lang="zh-CN" altLang="en-US" sz="4800">
              <a:latin typeface="黑体" panose="02010609060101010101" charset="-122"/>
              <a:ea typeface="黑体" panose="02010609060101010101" charset="-122"/>
            </a:endParaRPr>
          </a:p>
          <a:p>
            <a:pPr algn="ctr"/>
            <a:r>
              <a:rPr lang="en-US" altLang="zh-CN" sz="4800">
                <a:latin typeface="黑体" panose="02010609060101010101" charset="-122"/>
                <a:ea typeface="黑体" panose="02010609060101010101" charset="-122"/>
              </a:rPr>
              <a:t>  </a:t>
            </a:r>
            <a:r>
              <a:rPr lang="zh-CN" altLang="en-US" sz="4800">
                <a:latin typeface="黑体" panose="02010609060101010101" charset="-122"/>
                <a:ea typeface="黑体" panose="02010609060101010101" charset="-122"/>
              </a:rPr>
              <a:t>的智能用户故事生成系统</a:t>
            </a:r>
            <a:endParaRPr lang="zh-CN" altLang="en-US" sz="4800">
              <a:latin typeface="黑体" panose="02010609060101010101" charset="-122"/>
              <a:ea typeface="黑体" panose="02010609060101010101" charset="-122"/>
            </a:endParaRPr>
          </a:p>
          <a:p>
            <a:pPr algn="ctr"/>
            <a:r>
              <a:rPr lang="en-US" altLang="zh-CN" sz="4800">
                <a:latin typeface="黑体" panose="02010609060101010101" charset="-122"/>
                <a:ea typeface="黑体" panose="02010609060101010101" charset="-122"/>
              </a:rPr>
              <a:t> </a:t>
            </a:r>
            <a:r>
              <a:rPr lang="zh-CN" altLang="en-US" sz="4800">
                <a:latin typeface="黑体" panose="02010609060101010101" charset="-122"/>
                <a:ea typeface="黑体" panose="02010609060101010101" charset="-122"/>
              </a:rPr>
              <a:t>的设计与实现</a:t>
            </a:r>
            <a:endParaRPr lang="zh-CN" altLang="en-US" sz="4800">
              <a:latin typeface="黑体" panose="02010609060101010101" charset="-122"/>
              <a:ea typeface="黑体" panose="02010609060101010101" charset="-122"/>
            </a:endParaRPr>
          </a:p>
        </p:txBody>
      </p:sp>
      <p:sp>
        <p:nvSpPr>
          <p:cNvPr id="31" name="文本框 30"/>
          <p:cNvSpPr txBox="1"/>
          <p:nvPr/>
        </p:nvSpPr>
        <p:spPr>
          <a:xfrm>
            <a:off x="2225675" y="3714750"/>
            <a:ext cx="7266940" cy="1198880"/>
          </a:xfrm>
          <a:prstGeom prst="rect">
            <a:avLst/>
          </a:prstGeom>
          <a:noFill/>
        </p:spPr>
        <p:txBody>
          <a:bodyPr wrap="square" rtlCol="0">
            <a:spAutoFit/>
          </a:bodyPr>
          <a:p>
            <a:pPr algn="ctr"/>
            <a:r>
              <a:rPr lang="en-US" altLang="zh-CN" sz="2400">
                <a:latin typeface="Times New Roman" panose="02020603050405020304" charset="0"/>
                <a:cs typeface="Times New Roman" panose="02020603050405020304" charset="0"/>
              </a:rPr>
              <a:t>           Design and Implementation of </a:t>
            </a:r>
            <a:endParaRPr lang="en-US" altLang="zh-CN" sz="2400">
              <a:latin typeface="Times New Roman" panose="02020603050405020304" charset="0"/>
              <a:cs typeface="Times New Roman" panose="02020603050405020304" charset="0"/>
            </a:endParaRPr>
          </a:p>
          <a:p>
            <a:pPr algn="ctr"/>
            <a:r>
              <a:rPr lang="en-US" altLang="zh-CN" sz="2400">
                <a:latin typeface="Times New Roman" panose="02020603050405020304" charset="0"/>
                <a:cs typeface="Times New Roman" panose="02020603050405020304" charset="0"/>
              </a:rPr>
              <a:t>      Intelligent User Story Generation System Integrating</a:t>
            </a:r>
            <a:endParaRPr lang="en-US" altLang="zh-CN" sz="2400">
              <a:latin typeface="Times New Roman" panose="02020603050405020304" charset="0"/>
              <a:cs typeface="Times New Roman" panose="02020603050405020304" charset="0"/>
            </a:endParaRPr>
          </a:p>
          <a:p>
            <a:pPr algn="ctr"/>
            <a:r>
              <a:rPr lang="en-US" altLang="zh-CN" sz="2400">
                <a:latin typeface="Times New Roman" panose="02020603050405020304" charset="0"/>
                <a:cs typeface="Times New Roman" panose="02020603050405020304" charset="0"/>
              </a:rPr>
              <a:t>          Knowledge into Large Language Models</a:t>
            </a:r>
            <a:endParaRPr lang="en-US" altLang="zh-CN" sz="2400">
              <a:latin typeface="Times New Roman" panose="02020603050405020304" charset="0"/>
              <a:cs typeface="Times New Roman" panose="02020603050405020304" charset="0"/>
            </a:endParaRPr>
          </a:p>
        </p:txBody>
      </p:sp>
      <p:pic>
        <p:nvPicPr>
          <p:cNvPr id="6" name="图片 5"/>
          <p:cNvPicPr>
            <a:picLocks noChangeAspect="1"/>
          </p:cNvPicPr>
          <p:nvPr/>
        </p:nvPicPr>
        <p:blipFill>
          <a:blip r:embed="rId2"/>
          <a:stretch>
            <a:fillRect/>
          </a:stretch>
        </p:blipFill>
        <p:spPr>
          <a:xfrm>
            <a:off x="137160" y="535940"/>
            <a:ext cx="2427605" cy="22009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sp>
        <p:nvSpPr>
          <p:cNvPr id="5" name="Shape 3"/>
          <p:cNvSpPr/>
          <p:nvPr/>
        </p:nvSpPr>
        <p:spPr>
          <a:xfrm>
            <a:off x="-27940" y="-8890"/>
            <a:ext cx="12247880" cy="6875780"/>
          </a:xfrm>
          <a:prstGeom prst="rect">
            <a:avLst/>
          </a:prstGeom>
          <a:solidFill>
            <a:srgbClr val="FFFFFF"/>
          </a:solidFill>
        </p:spPr>
      </p:sp>
      <p:sp>
        <p:nvSpPr>
          <p:cNvPr id="6" name="Shape 4"/>
          <p:cNvSpPr/>
          <p:nvPr/>
        </p:nvSpPr>
        <p:spPr>
          <a:xfrm>
            <a:off x="-27940" y="0"/>
            <a:ext cx="12247880" cy="1992630"/>
          </a:xfrm>
          <a:prstGeom prst="rect">
            <a:avLst/>
          </a:prstGeom>
          <a:solidFill>
            <a:srgbClr val="004CC0"/>
          </a:solidFill>
        </p:spPr>
      </p:sp>
      <p:sp>
        <p:nvSpPr>
          <p:cNvPr id="7" name="Text 5"/>
          <p:cNvSpPr/>
          <p:nvPr/>
        </p:nvSpPr>
        <p:spPr>
          <a:xfrm>
            <a:off x="2710498" y="246380"/>
            <a:ext cx="6679565" cy="1012190"/>
          </a:xfrm>
          <a:prstGeom prst="rect">
            <a:avLst/>
          </a:prstGeom>
          <a:noFill/>
        </p:spPr>
        <p:txBody>
          <a:bodyPr wrap="square" lIns="91440" tIns="45720" rIns="91440" bIns="45720" rtlCol="0" anchor="t">
            <a:spAutoFit/>
          </a:bodyPr>
          <a:lstStyle/>
          <a:p>
            <a:pPr algn="ctr">
              <a:lnSpc>
                <a:spcPct val="100000"/>
              </a:lnSpc>
            </a:pPr>
            <a:r>
              <a:rPr lang="en-US" sz="6000" b="1" dirty="0">
                <a:solidFill>
                  <a:srgbClr val="FFFFFF"/>
                </a:solidFill>
                <a:latin typeface="MiSans" pitchFamily="34" charset="-122"/>
                <a:ea typeface="MiSans" pitchFamily="34" charset="-122"/>
                <a:cs typeface="MiSans" pitchFamily="34" charset="-120"/>
              </a:rPr>
              <a:t>目  录</a:t>
            </a:r>
            <a:endParaRPr lang="en-US" sz="1600" dirty="0"/>
          </a:p>
        </p:txBody>
      </p:sp>
      <p:sp>
        <p:nvSpPr>
          <p:cNvPr id="8" name="Shape 6"/>
          <p:cNvSpPr/>
          <p:nvPr>
            <p:custDataLst>
              <p:tags r:id="rId1"/>
            </p:custDataLst>
          </p:nvPr>
        </p:nvSpPr>
        <p:spPr>
          <a:xfrm>
            <a:off x="1257935" y="2527300"/>
            <a:ext cx="2947035" cy="1673860"/>
          </a:xfrm>
          <a:prstGeom prst="roundRect">
            <a:avLst>
              <a:gd name="adj" fmla="val 4938"/>
            </a:avLst>
          </a:prstGeom>
          <a:solidFill>
            <a:srgbClr val="FFFFFF"/>
          </a:solidFill>
        </p:spPr>
      </p:sp>
      <p:sp>
        <p:nvSpPr>
          <p:cNvPr id="9" name="Shape 7"/>
          <p:cNvSpPr/>
          <p:nvPr>
            <p:custDataLst>
              <p:tags r:id="rId2"/>
            </p:custDataLst>
          </p:nvPr>
        </p:nvSpPr>
        <p:spPr>
          <a:xfrm>
            <a:off x="4622800" y="2527300"/>
            <a:ext cx="2947035" cy="1673860"/>
          </a:xfrm>
          <a:prstGeom prst="roundRect">
            <a:avLst>
              <a:gd name="adj" fmla="val 4938"/>
            </a:avLst>
          </a:prstGeom>
          <a:solidFill>
            <a:srgbClr val="FFFFFF"/>
          </a:solidFill>
        </p:spPr>
      </p:sp>
      <p:sp>
        <p:nvSpPr>
          <p:cNvPr id="10" name="Shape 8"/>
          <p:cNvSpPr/>
          <p:nvPr>
            <p:custDataLst>
              <p:tags r:id="rId3"/>
            </p:custDataLst>
          </p:nvPr>
        </p:nvSpPr>
        <p:spPr>
          <a:xfrm>
            <a:off x="7987030" y="2527300"/>
            <a:ext cx="2947035" cy="1673860"/>
          </a:xfrm>
          <a:prstGeom prst="roundRect">
            <a:avLst>
              <a:gd name="adj" fmla="val 4938"/>
            </a:avLst>
          </a:prstGeom>
          <a:solidFill>
            <a:srgbClr val="FFFFFF"/>
          </a:solidFill>
        </p:spPr>
      </p:sp>
      <p:sp>
        <p:nvSpPr>
          <p:cNvPr id="11" name="Shape 9"/>
          <p:cNvSpPr/>
          <p:nvPr>
            <p:custDataLst>
              <p:tags r:id="rId4"/>
            </p:custDataLst>
          </p:nvPr>
        </p:nvSpPr>
        <p:spPr>
          <a:xfrm>
            <a:off x="1257935" y="4346575"/>
            <a:ext cx="2947035" cy="1673860"/>
          </a:xfrm>
          <a:prstGeom prst="roundRect">
            <a:avLst>
              <a:gd name="adj" fmla="val 4938"/>
            </a:avLst>
          </a:prstGeom>
          <a:solidFill>
            <a:srgbClr val="FFFFFF"/>
          </a:solidFill>
        </p:spPr>
      </p:sp>
      <p:sp>
        <p:nvSpPr>
          <p:cNvPr id="12" name="Shape 10"/>
          <p:cNvSpPr/>
          <p:nvPr>
            <p:custDataLst>
              <p:tags r:id="rId5"/>
            </p:custDataLst>
          </p:nvPr>
        </p:nvSpPr>
        <p:spPr>
          <a:xfrm>
            <a:off x="4622800" y="4346575"/>
            <a:ext cx="2947035" cy="1673860"/>
          </a:xfrm>
          <a:prstGeom prst="roundRect">
            <a:avLst>
              <a:gd name="adj" fmla="val 4938"/>
            </a:avLst>
          </a:prstGeom>
          <a:solidFill>
            <a:srgbClr val="FFFFFF"/>
          </a:solidFill>
        </p:spPr>
      </p:sp>
      <p:sp>
        <p:nvSpPr>
          <p:cNvPr id="13" name="Shape 11"/>
          <p:cNvSpPr/>
          <p:nvPr>
            <p:custDataLst>
              <p:tags r:id="rId6"/>
            </p:custDataLst>
          </p:nvPr>
        </p:nvSpPr>
        <p:spPr>
          <a:xfrm>
            <a:off x="7987030" y="4346575"/>
            <a:ext cx="2947035" cy="1673860"/>
          </a:xfrm>
          <a:prstGeom prst="roundRect">
            <a:avLst>
              <a:gd name="adj" fmla="val 4938"/>
            </a:avLst>
          </a:prstGeom>
          <a:solidFill>
            <a:srgbClr val="FFFFFF"/>
          </a:solidFill>
        </p:spPr>
      </p:sp>
      <p:sp>
        <p:nvSpPr>
          <p:cNvPr id="14" name="Shape 12"/>
          <p:cNvSpPr/>
          <p:nvPr/>
        </p:nvSpPr>
        <p:spPr>
          <a:xfrm>
            <a:off x="11120120" y="6267450"/>
            <a:ext cx="139700" cy="139700"/>
          </a:xfrm>
          <a:prstGeom prst="ellipse">
            <a:avLst/>
          </a:prstGeom>
          <a:solidFill>
            <a:srgbClr val="004CC0"/>
          </a:solidFill>
        </p:spPr>
      </p:sp>
      <p:sp>
        <p:nvSpPr>
          <p:cNvPr id="15" name="Shape 13"/>
          <p:cNvSpPr/>
          <p:nvPr/>
        </p:nvSpPr>
        <p:spPr>
          <a:xfrm>
            <a:off x="11374120" y="6267450"/>
            <a:ext cx="139700" cy="139700"/>
          </a:xfrm>
          <a:prstGeom prst="ellipse">
            <a:avLst/>
          </a:prstGeom>
          <a:solidFill>
            <a:srgbClr val="000000">
              <a:alpha val="0"/>
            </a:srgbClr>
          </a:solidFill>
          <a:ln w="19050">
            <a:solidFill>
              <a:srgbClr val="004CC0"/>
            </a:solidFill>
            <a:prstDash val="solid"/>
          </a:ln>
        </p:spPr>
      </p:sp>
      <p:sp>
        <p:nvSpPr>
          <p:cNvPr id="16" name="Shape 14"/>
          <p:cNvSpPr/>
          <p:nvPr/>
        </p:nvSpPr>
        <p:spPr>
          <a:xfrm>
            <a:off x="11628120" y="6267450"/>
            <a:ext cx="139700" cy="139700"/>
          </a:xfrm>
          <a:prstGeom prst="ellipse">
            <a:avLst/>
          </a:prstGeom>
          <a:solidFill>
            <a:srgbClr val="004CC0"/>
          </a:solidFill>
        </p:spPr>
      </p:sp>
      <p:sp>
        <p:nvSpPr>
          <p:cNvPr id="17" name="Text 15"/>
          <p:cNvSpPr/>
          <p:nvPr/>
        </p:nvSpPr>
        <p:spPr>
          <a:xfrm>
            <a:off x="3048000" y="1123315"/>
            <a:ext cx="6096000" cy="770890"/>
          </a:xfrm>
          <a:prstGeom prst="rect">
            <a:avLst/>
          </a:prstGeom>
          <a:noFill/>
        </p:spPr>
        <p:txBody>
          <a:bodyPr wrap="square" lIns="91440" tIns="45720" rIns="91440" bIns="45720" rtlCol="0" anchor="t">
            <a:spAutoFit/>
          </a:bodyPr>
          <a:lstStyle/>
          <a:p>
            <a:pPr algn="ctr">
              <a:lnSpc>
                <a:spcPct val="100000"/>
              </a:lnSpc>
            </a:pPr>
            <a:r>
              <a:rPr lang="en-US" sz="4400" b="1" dirty="0">
                <a:solidFill>
                  <a:srgbClr val="FFFFFF"/>
                </a:solidFill>
                <a:latin typeface="MiSans" pitchFamily="34" charset="-122"/>
                <a:ea typeface="MiSans" pitchFamily="34" charset="-122"/>
                <a:cs typeface="MiSans" pitchFamily="34" charset="-120"/>
              </a:rPr>
              <a:t>CONTENTS</a:t>
            </a:r>
            <a:endParaRPr lang="en-US" sz="1600" dirty="0"/>
          </a:p>
        </p:txBody>
      </p:sp>
      <p:sp>
        <p:nvSpPr>
          <p:cNvPr id="18" name="Text 16"/>
          <p:cNvSpPr/>
          <p:nvPr>
            <p:custDataLst>
              <p:tags r:id="rId7"/>
            </p:custDataLst>
          </p:nvPr>
        </p:nvSpPr>
        <p:spPr>
          <a:xfrm>
            <a:off x="1440815" y="2599690"/>
            <a:ext cx="986155" cy="701040"/>
          </a:xfrm>
          <a:prstGeom prst="rect">
            <a:avLst/>
          </a:prstGeom>
          <a:noFill/>
        </p:spPr>
        <p:txBody>
          <a:bodyPr wrap="square" lIns="91440" tIns="45720" rIns="91440" bIns="45720" rtlCol="0" anchor="t">
            <a:spAutoFit/>
          </a:bodyPr>
          <a:lstStyle/>
          <a:p>
            <a:pPr>
              <a:lnSpc>
                <a:spcPct val="100000"/>
              </a:lnSpc>
            </a:pPr>
            <a:r>
              <a:rPr lang="en-US" sz="4000" b="1" dirty="0">
                <a:solidFill>
                  <a:srgbClr val="1D3EBF"/>
                </a:solidFill>
                <a:latin typeface="MiSans" pitchFamily="34" charset="-122"/>
                <a:ea typeface="MiSans" pitchFamily="34" charset="-122"/>
                <a:cs typeface="MiSans" pitchFamily="34" charset="-120"/>
              </a:rPr>
              <a:t>01</a:t>
            </a:r>
            <a:endParaRPr lang="en-US" sz="1600" dirty="0"/>
          </a:p>
        </p:txBody>
      </p:sp>
      <p:sp>
        <p:nvSpPr>
          <p:cNvPr id="19" name="Text 17"/>
          <p:cNvSpPr/>
          <p:nvPr>
            <p:custDataLst>
              <p:tags r:id="rId8"/>
            </p:custDataLst>
          </p:nvPr>
        </p:nvSpPr>
        <p:spPr>
          <a:xfrm>
            <a:off x="1440815" y="3310890"/>
            <a:ext cx="2581910" cy="402590"/>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2B2F36"/>
                </a:solidFill>
                <a:latin typeface="MiSans" pitchFamily="34" charset="-122"/>
                <a:ea typeface="MiSans" pitchFamily="34" charset="-122"/>
                <a:cs typeface="MiSans" pitchFamily="34" charset="-120"/>
              </a:rPr>
              <a:t>研究背景与问题</a:t>
            </a:r>
            <a:endParaRPr lang="en-US" sz="1600" dirty="0"/>
          </a:p>
        </p:txBody>
      </p:sp>
      <p:sp>
        <p:nvSpPr>
          <p:cNvPr id="20" name="Text 18"/>
          <p:cNvSpPr/>
          <p:nvPr>
            <p:custDataLst>
              <p:tags r:id="rId9"/>
            </p:custDataLst>
          </p:nvPr>
        </p:nvSpPr>
        <p:spPr>
          <a:xfrm>
            <a:off x="4805680" y="2599690"/>
            <a:ext cx="922655" cy="701040"/>
          </a:xfrm>
          <a:prstGeom prst="rect">
            <a:avLst/>
          </a:prstGeom>
          <a:noFill/>
        </p:spPr>
        <p:txBody>
          <a:bodyPr wrap="square" lIns="91440" tIns="45720" rIns="91440" bIns="45720" rtlCol="0" anchor="t">
            <a:spAutoFit/>
          </a:bodyPr>
          <a:lstStyle/>
          <a:p>
            <a:pPr>
              <a:lnSpc>
                <a:spcPct val="100000"/>
              </a:lnSpc>
            </a:pPr>
            <a:r>
              <a:rPr lang="en-US" sz="4000" b="1" dirty="0">
                <a:solidFill>
                  <a:srgbClr val="1D3EBF"/>
                </a:solidFill>
                <a:latin typeface="MiSans" pitchFamily="34" charset="-122"/>
                <a:ea typeface="MiSans" pitchFamily="34" charset="-122"/>
                <a:cs typeface="MiSans" pitchFamily="34" charset="-120"/>
              </a:rPr>
              <a:t>02</a:t>
            </a:r>
            <a:endParaRPr lang="en-US" sz="1600" dirty="0"/>
          </a:p>
        </p:txBody>
      </p:sp>
      <p:sp>
        <p:nvSpPr>
          <p:cNvPr id="21" name="Text 19"/>
          <p:cNvSpPr/>
          <p:nvPr>
            <p:custDataLst>
              <p:tags r:id="rId10"/>
            </p:custDataLst>
          </p:nvPr>
        </p:nvSpPr>
        <p:spPr>
          <a:xfrm>
            <a:off x="4805680" y="3310890"/>
            <a:ext cx="2581910" cy="402590"/>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2B2F36"/>
                </a:solidFill>
                <a:latin typeface="MiSans" pitchFamily="34" charset="-122"/>
                <a:ea typeface="MiSans" pitchFamily="34" charset="-122"/>
                <a:cs typeface="MiSans" pitchFamily="34" charset="-120"/>
              </a:rPr>
              <a:t>系统总体架构</a:t>
            </a:r>
            <a:endParaRPr lang="en-US" sz="1600" dirty="0"/>
          </a:p>
        </p:txBody>
      </p:sp>
      <p:sp>
        <p:nvSpPr>
          <p:cNvPr id="22" name="Text 20"/>
          <p:cNvSpPr/>
          <p:nvPr>
            <p:custDataLst>
              <p:tags r:id="rId11"/>
            </p:custDataLst>
          </p:nvPr>
        </p:nvSpPr>
        <p:spPr>
          <a:xfrm>
            <a:off x="8170545" y="2599690"/>
            <a:ext cx="922655" cy="701040"/>
          </a:xfrm>
          <a:prstGeom prst="rect">
            <a:avLst/>
          </a:prstGeom>
          <a:noFill/>
        </p:spPr>
        <p:txBody>
          <a:bodyPr wrap="square" lIns="91440" tIns="45720" rIns="91440" bIns="45720" rtlCol="0" anchor="t">
            <a:spAutoFit/>
          </a:bodyPr>
          <a:lstStyle/>
          <a:p>
            <a:pPr>
              <a:lnSpc>
                <a:spcPct val="100000"/>
              </a:lnSpc>
            </a:pPr>
            <a:r>
              <a:rPr lang="en-US" sz="4000" b="1" dirty="0">
                <a:solidFill>
                  <a:srgbClr val="1D3EBF"/>
                </a:solidFill>
                <a:latin typeface="MiSans" pitchFamily="34" charset="-122"/>
                <a:ea typeface="MiSans" pitchFamily="34" charset="-122"/>
                <a:cs typeface="MiSans" pitchFamily="34" charset="-120"/>
              </a:rPr>
              <a:t>03</a:t>
            </a:r>
            <a:endParaRPr lang="en-US" sz="1600" dirty="0"/>
          </a:p>
        </p:txBody>
      </p:sp>
      <p:sp>
        <p:nvSpPr>
          <p:cNvPr id="23" name="Text 21"/>
          <p:cNvSpPr/>
          <p:nvPr>
            <p:custDataLst>
              <p:tags r:id="rId12"/>
            </p:custDataLst>
          </p:nvPr>
        </p:nvSpPr>
        <p:spPr>
          <a:xfrm>
            <a:off x="8170545" y="3310890"/>
            <a:ext cx="2581910" cy="402590"/>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2B2F36"/>
                </a:solidFill>
                <a:latin typeface="MiSans" pitchFamily="34" charset="-122"/>
                <a:ea typeface="MiSans" pitchFamily="34" charset="-122"/>
                <a:cs typeface="MiSans" pitchFamily="34" charset="-120"/>
              </a:rPr>
              <a:t>核心流程设计</a:t>
            </a:r>
            <a:endParaRPr lang="en-US" sz="1600" dirty="0"/>
          </a:p>
        </p:txBody>
      </p:sp>
      <p:sp>
        <p:nvSpPr>
          <p:cNvPr id="24" name="Text 22"/>
          <p:cNvSpPr/>
          <p:nvPr>
            <p:custDataLst>
              <p:tags r:id="rId13"/>
            </p:custDataLst>
          </p:nvPr>
        </p:nvSpPr>
        <p:spPr>
          <a:xfrm>
            <a:off x="1440815" y="4418965"/>
            <a:ext cx="1137285" cy="701040"/>
          </a:xfrm>
          <a:prstGeom prst="rect">
            <a:avLst/>
          </a:prstGeom>
          <a:noFill/>
        </p:spPr>
        <p:txBody>
          <a:bodyPr wrap="square" lIns="91440" tIns="45720" rIns="91440" bIns="45720" rtlCol="0" anchor="t">
            <a:spAutoFit/>
          </a:bodyPr>
          <a:lstStyle/>
          <a:p>
            <a:pPr>
              <a:lnSpc>
                <a:spcPct val="100000"/>
              </a:lnSpc>
            </a:pPr>
            <a:r>
              <a:rPr lang="en-US" sz="4000" b="1" dirty="0">
                <a:solidFill>
                  <a:srgbClr val="1D3EBF"/>
                </a:solidFill>
                <a:latin typeface="MiSans" pitchFamily="34" charset="-122"/>
                <a:ea typeface="MiSans" pitchFamily="34" charset="-122"/>
                <a:cs typeface="MiSans" pitchFamily="34" charset="-120"/>
              </a:rPr>
              <a:t>04</a:t>
            </a:r>
            <a:endParaRPr lang="en-US" sz="1600" dirty="0"/>
          </a:p>
        </p:txBody>
      </p:sp>
      <p:sp>
        <p:nvSpPr>
          <p:cNvPr id="25" name="Text 23"/>
          <p:cNvSpPr/>
          <p:nvPr>
            <p:custDataLst>
              <p:tags r:id="rId14"/>
            </p:custDataLst>
          </p:nvPr>
        </p:nvSpPr>
        <p:spPr>
          <a:xfrm>
            <a:off x="1440815" y="5130165"/>
            <a:ext cx="2581910" cy="398780"/>
          </a:xfrm>
          <a:prstGeom prst="rect">
            <a:avLst/>
          </a:prstGeom>
          <a:noFill/>
        </p:spPr>
        <p:txBody>
          <a:bodyPr wrap="square" lIns="91440" tIns="45720" rIns="91440" bIns="45720" rtlCol="0" anchor="t">
            <a:spAutoFit/>
          </a:bodyPr>
          <a:lstStyle/>
          <a:p>
            <a:pPr algn="just">
              <a:lnSpc>
                <a:spcPct val="100000"/>
              </a:lnSpc>
            </a:pPr>
            <a:r>
              <a:rPr lang="zh-CN" altLang="en-US" sz="2000" b="1" dirty="0">
                <a:solidFill>
                  <a:srgbClr val="2B2F36"/>
                </a:solidFill>
                <a:latin typeface="MiSans" pitchFamily="34" charset="-122"/>
                <a:ea typeface="MiSans" pitchFamily="34" charset="-122"/>
                <a:cs typeface="MiSans" pitchFamily="34" charset="-120"/>
              </a:rPr>
              <a:t>问题与解决</a:t>
            </a:r>
            <a:r>
              <a:rPr lang="zh-CN" altLang="en-US" sz="2000" b="1" dirty="0">
                <a:solidFill>
                  <a:srgbClr val="2B2F36"/>
                </a:solidFill>
                <a:latin typeface="MiSans" pitchFamily="34" charset="-122"/>
                <a:ea typeface="MiSans" pitchFamily="34" charset="-122"/>
                <a:cs typeface="MiSans" pitchFamily="34" charset="-120"/>
              </a:rPr>
              <a:t>方案</a:t>
            </a:r>
            <a:endParaRPr lang="zh-CN" altLang="en-US" sz="2000" b="1" dirty="0">
              <a:solidFill>
                <a:srgbClr val="2B2F36"/>
              </a:solidFill>
              <a:latin typeface="MiSans" pitchFamily="34" charset="-122"/>
              <a:ea typeface="MiSans" pitchFamily="34" charset="-122"/>
              <a:cs typeface="MiSans" pitchFamily="34" charset="-120"/>
            </a:endParaRPr>
          </a:p>
        </p:txBody>
      </p:sp>
      <p:sp>
        <p:nvSpPr>
          <p:cNvPr id="26" name="Text 24"/>
          <p:cNvSpPr/>
          <p:nvPr>
            <p:custDataLst>
              <p:tags r:id="rId15"/>
            </p:custDataLst>
          </p:nvPr>
        </p:nvSpPr>
        <p:spPr>
          <a:xfrm>
            <a:off x="4805680" y="4418965"/>
            <a:ext cx="1087120" cy="701040"/>
          </a:xfrm>
          <a:prstGeom prst="rect">
            <a:avLst/>
          </a:prstGeom>
          <a:noFill/>
        </p:spPr>
        <p:txBody>
          <a:bodyPr wrap="square" lIns="91440" tIns="45720" rIns="91440" bIns="45720" rtlCol="0" anchor="t">
            <a:spAutoFit/>
          </a:bodyPr>
          <a:lstStyle/>
          <a:p>
            <a:pPr>
              <a:lnSpc>
                <a:spcPct val="100000"/>
              </a:lnSpc>
            </a:pPr>
            <a:r>
              <a:rPr lang="en-US" sz="4000" b="1" dirty="0">
                <a:solidFill>
                  <a:srgbClr val="1D3EBF"/>
                </a:solidFill>
                <a:latin typeface="MiSans" pitchFamily="34" charset="-122"/>
                <a:ea typeface="MiSans" pitchFamily="34" charset="-122"/>
                <a:cs typeface="MiSans" pitchFamily="34" charset="-120"/>
              </a:rPr>
              <a:t>05</a:t>
            </a:r>
            <a:endParaRPr lang="en-US" sz="1600" dirty="0"/>
          </a:p>
        </p:txBody>
      </p:sp>
      <p:sp>
        <p:nvSpPr>
          <p:cNvPr id="27" name="Text 25"/>
          <p:cNvSpPr/>
          <p:nvPr>
            <p:custDataLst>
              <p:tags r:id="rId16"/>
            </p:custDataLst>
          </p:nvPr>
        </p:nvSpPr>
        <p:spPr>
          <a:xfrm>
            <a:off x="4805680" y="5130165"/>
            <a:ext cx="2581910" cy="402590"/>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2B2F36"/>
                </a:solidFill>
                <a:latin typeface="MiSans" pitchFamily="34" charset="-122"/>
                <a:ea typeface="MiSans" pitchFamily="34" charset="-122"/>
                <a:cs typeface="MiSans" pitchFamily="34" charset="-120"/>
              </a:rPr>
              <a:t>测试验证与结果</a:t>
            </a:r>
            <a:endParaRPr lang="en-US" sz="1600" dirty="0"/>
          </a:p>
        </p:txBody>
      </p:sp>
      <p:sp>
        <p:nvSpPr>
          <p:cNvPr id="28" name="Text 26"/>
          <p:cNvSpPr/>
          <p:nvPr>
            <p:custDataLst>
              <p:tags r:id="rId17"/>
            </p:custDataLst>
          </p:nvPr>
        </p:nvSpPr>
        <p:spPr>
          <a:xfrm>
            <a:off x="8170545" y="4418965"/>
            <a:ext cx="922655" cy="701040"/>
          </a:xfrm>
          <a:prstGeom prst="rect">
            <a:avLst/>
          </a:prstGeom>
          <a:noFill/>
        </p:spPr>
        <p:txBody>
          <a:bodyPr wrap="square" lIns="91440" tIns="45720" rIns="91440" bIns="45720" rtlCol="0" anchor="t">
            <a:spAutoFit/>
          </a:bodyPr>
          <a:lstStyle/>
          <a:p>
            <a:pPr>
              <a:lnSpc>
                <a:spcPct val="100000"/>
              </a:lnSpc>
            </a:pPr>
            <a:r>
              <a:rPr lang="en-US" sz="4000" b="1" dirty="0">
                <a:solidFill>
                  <a:srgbClr val="1D3EBF"/>
                </a:solidFill>
                <a:latin typeface="MiSans" pitchFamily="34" charset="-122"/>
                <a:ea typeface="MiSans" pitchFamily="34" charset="-122"/>
                <a:cs typeface="MiSans" pitchFamily="34" charset="-120"/>
              </a:rPr>
              <a:t>06</a:t>
            </a:r>
            <a:endParaRPr lang="en-US" sz="1600" dirty="0"/>
          </a:p>
        </p:txBody>
      </p:sp>
      <p:sp>
        <p:nvSpPr>
          <p:cNvPr id="29" name="Text 27"/>
          <p:cNvSpPr/>
          <p:nvPr>
            <p:custDataLst>
              <p:tags r:id="rId18"/>
            </p:custDataLst>
          </p:nvPr>
        </p:nvSpPr>
        <p:spPr>
          <a:xfrm>
            <a:off x="8170545" y="5130165"/>
            <a:ext cx="2581910" cy="402590"/>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2B2F36"/>
                </a:solidFill>
                <a:latin typeface="MiSans" pitchFamily="34" charset="-122"/>
                <a:ea typeface="MiSans" pitchFamily="34" charset="-122"/>
                <a:cs typeface="MiSans" pitchFamily="34" charset="-120"/>
              </a:rPr>
              <a:t>总结与展望</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pic>
        <p:nvPicPr>
          <p:cNvPr id="5" name="Image 0" descr="https://kimi-img.moonshot.cn/pub/slides/slides_tmpl/image/25-09-04-15:50:51-d2sk9mu1bb2p4onbqecg.jpg"/>
          <p:cNvPicPr>
            <a:picLocks noChangeAspect="1"/>
          </p:cNvPicPr>
          <p:nvPr/>
        </p:nvPicPr>
        <p:blipFill>
          <a:blip r:embed="rId1"/>
          <a:stretch>
            <a:fillRect/>
          </a:stretch>
        </p:blipFill>
        <p:spPr>
          <a:xfrm>
            <a:off x="0" y="0"/>
            <a:ext cx="12203430" cy="6842760"/>
          </a:xfrm>
          <a:prstGeom prst="rect">
            <a:avLst/>
          </a:prstGeom>
        </p:spPr>
      </p:pic>
      <p:sp>
        <p:nvSpPr>
          <p:cNvPr id="6" name="Shape 3"/>
          <p:cNvSpPr/>
          <p:nvPr/>
        </p:nvSpPr>
        <p:spPr>
          <a:xfrm>
            <a:off x="-27940" y="-8890"/>
            <a:ext cx="12247880" cy="6875780"/>
          </a:xfrm>
          <a:prstGeom prst="rect">
            <a:avLst/>
          </a:prstGeom>
          <a:solidFill>
            <a:srgbClr val="1D3EBF">
              <a:alpha val="94902"/>
            </a:srgbClr>
          </a:solidFill>
        </p:spPr>
      </p:sp>
      <p:sp>
        <p:nvSpPr>
          <p:cNvPr id="7" name="Text 4"/>
          <p:cNvSpPr/>
          <p:nvPr/>
        </p:nvSpPr>
        <p:spPr>
          <a:xfrm>
            <a:off x="4060825" y="2246630"/>
            <a:ext cx="6873875" cy="1012190"/>
          </a:xfrm>
          <a:prstGeom prst="rect">
            <a:avLst/>
          </a:prstGeom>
          <a:noFill/>
        </p:spPr>
        <p:txBody>
          <a:bodyPr wrap="square" lIns="91440" tIns="45720" rIns="91440" bIns="45720" rtlCol="0" anchor="t">
            <a:spAutoFit/>
          </a:bodyPr>
          <a:lstStyle/>
          <a:p>
            <a:pPr>
              <a:lnSpc>
                <a:spcPct val="100000"/>
              </a:lnSpc>
            </a:pPr>
            <a:r>
              <a:rPr lang="en-US" sz="6000" dirty="0">
                <a:solidFill>
                  <a:srgbClr val="FFFFFF"/>
                </a:solidFill>
                <a:latin typeface="MiSans" pitchFamily="34" charset="-122"/>
                <a:ea typeface="MiSans" pitchFamily="34" charset="-122"/>
                <a:cs typeface="MiSans" pitchFamily="34" charset="-120"/>
              </a:rPr>
              <a:t>研究背景与问题</a:t>
            </a:r>
            <a:endParaRPr lang="en-US" sz="1600" dirty="0"/>
          </a:p>
        </p:txBody>
      </p:sp>
      <p:sp>
        <p:nvSpPr>
          <p:cNvPr id="8" name="Shape 5"/>
          <p:cNvSpPr/>
          <p:nvPr/>
        </p:nvSpPr>
        <p:spPr>
          <a:xfrm>
            <a:off x="3870960" y="2246630"/>
            <a:ext cx="0" cy="1938020"/>
          </a:xfrm>
          <a:prstGeom prst="line">
            <a:avLst/>
          </a:prstGeom>
          <a:noFill/>
          <a:ln w="19050">
            <a:solidFill>
              <a:srgbClr val="FFFFFF"/>
            </a:solidFill>
            <a:prstDash val="solid"/>
            <a:headEnd type="none"/>
            <a:tailEnd type="none"/>
          </a:ln>
        </p:spPr>
      </p:sp>
      <p:sp>
        <p:nvSpPr>
          <p:cNvPr id="9" name="Text 6"/>
          <p:cNvSpPr/>
          <p:nvPr/>
        </p:nvSpPr>
        <p:spPr>
          <a:xfrm>
            <a:off x="941705" y="2068830"/>
            <a:ext cx="2804160" cy="2221865"/>
          </a:xfrm>
          <a:prstGeom prst="rect">
            <a:avLst/>
          </a:prstGeom>
          <a:noFill/>
        </p:spPr>
        <p:txBody>
          <a:bodyPr wrap="square" lIns="91440" tIns="45720" rIns="91440" bIns="45720" rtlCol="0" anchor="t">
            <a:spAutoFit/>
          </a:bodyPr>
          <a:lstStyle/>
          <a:p>
            <a:pPr algn="r">
              <a:lnSpc>
                <a:spcPct val="100000"/>
              </a:lnSpc>
            </a:pPr>
            <a:r>
              <a:rPr lang="en-US" sz="13800" dirty="0">
                <a:solidFill>
                  <a:srgbClr val="FFFFFF"/>
                </a:solidFill>
                <a:latin typeface="MiSans" pitchFamily="34" charset="-122"/>
                <a:ea typeface="MiSans" pitchFamily="34" charset="-122"/>
                <a:cs typeface="MiSans" pitchFamily="34" charset="-120"/>
              </a:rPr>
              <a:t>01</a:t>
            </a:r>
            <a:endParaRPr lang="en-US" sz="1600" dirty="0"/>
          </a:p>
        </p:txBody>
      </p:sp>
      <p:sp>
        <p:nvSpPr>
          <p:cNvPr id="10" name="Shape 7"/>
          <p:cNvSpPr/>
          <p:nvPr/>
        </p:nvSpPr>
        <p:spPr>
          <a:xfrm rot="2100000">
            <a:off x="9042400" y="3636645"/>
            <a:ext cx="3905250" cy="3905250"/>
          </a:xfrm>
          <a:custGeom>
            <a:avLst/>
            <a:gdLst/>
            <a:ahLst/>
            <a:cxnLst/>
            <a:rect l="l" t="t" r="r" b="b"/>
            <a:pathLst>
              <a:path w="3905250" h="3905250">
                <a:moveTo>
                  <a:pt x="1430788" y="3837117"/>
                </a:moveTo>
                <a:cubicBezTo>
                  <a:pt x="1430788" y="3837117"/>
                  <a:pt x="1430788" y="3837117"/>
                  <a:pt x="2474458" y="3837117"/>
                </a:cubicBezTo>
                <a:cubicBezTo>
                  <a:pt x="2310071" y="3882540"/>
                  <a:pt x="2134213" y="3905250"/>
                  <a:pt x="1950712" y="3905250"/>
                </a:cubicBezTo>
                <a:cubicBezTo>
                  <a:pt x="1771033" y="3905250"/>
                  <a:pt x="1595175" y="3882540"/>
                  <a:pt x="1430788" y="3837117"/>
                </a:cubicBezTo>
                <a:close/>
                <a:moveTo>
                  <a:pt x="972440" y="3642011"/>
                </a:moveTo>
                <a:lnTo>
                  <a:pt x="2929711" y="3642011"/>
                </a:lnTo>
                <a:cubicBezTo>
                  <a:pt x="2849588" y="3687305"/>
                  <a:pt x="2769465" y="3728823"/>
                  <a:pt x="2681713" y="3762792"/>
                </a:cubicBezTo>
                <a:cubicBezTo>
                  <a:pt x="2681713" y="3762792"/>
                  <a:pt x="2681713" y="3762792"/>
                  <a:pt x="1216621" y="3762792"/>
                </a:cubicBezTo>
                <a:cubicBezTo>
                  <a:pt x="1132685" y="3728823"/>
                  <a:pt x="1048746" y="3687305"/>
                  <a:pt x="972440" y="3642011"/>
                </a:cubicBezTo>
                <a:close/>
                <a:moveTo>
                  <a:pt x="696812" y="3450000"/>
                </a:moveTo>
                <a:lnTo>
                  <a:pt x="3205340" y="3450000"/>
                </a:lnTo>
                <a:cubicBezTo>
                  <a:pt x="3151885" y="3491759"/>
                  <a:pt x="3098432" y="3529723"/>
                  <a:pt x="3044977" y="3567684"/>
                </a:cubicBezTo>
                <a:cubicBezTo>
                  <a:pt x="3044977" y="3567684"/>
                  <a:pt x="3044977" y="3567684"/>
                  <a:pt x="857175" y="3567684"/>
                </a:cubicBezTo>
                <a:cubicBezTo>
                  <a:pt x="799902" y="3529723"/>
                  <a:pt x="746447" y="3491759"/>
                  <a:pt x="696812" y="3450000"/>
                </a:cubicBezTo>
                <a:close/>
                <a:moveTo>
                  <a:pt x="498608" y="3254891"/>
                </a:moveTo>
                <a:lnTo>
                  <a:pt x="3403544" y="3254891"/>
                </a:lnTo>
                <a:cubicBezTo>
                  <a:pt x="3365373" y="3297474"/>
                  <a:pt x="3327199" y="3340057"/>
                  <a:pt x="3285209" y="3378769"/>
                </a:cubicBezTo>
                <a:cubicBezTo>
                  <a:pt x="3285209" y="3378769"/>
                  <a:pt x="3285209" y="3378769"/>
                  <a:pt x="616943" y="3378769"/>
                </a:cubicBezTo>
                <a:cubicBezTo>
                  <a:pt x="574953" y="3340057"/>
                  <a:pt x="532964" y="3297474"/>
                  <a:pt x="498608" y="3254891"/>
                </a:cubicBezTo>
                <a:close/>
                <a:moveTo>
                  <a:pt x="346856" y="3065979"/>
                </a:moveTo>
                <a:lnTo>
                  <a:pt x="3558390" y="3065979"/>
                </a:lnTo>
                <a:cubicBezTo>
                  <a:pt x="3527840" y="3107736"/>
                  <a:pt x="3501110" y="3145699"/>
                  <a:pt x="3466742" y="3183663"/>
                </a:cubicBezTo>
                <a:cubicBezTo>
                  <a:pt x="3466742" y="3183663"/>
                  <a:pt x="3466742" y="3183663"/>
                  <a:pt x="434687" y="3183663"/>
                </a:cubicBezTo>
                <a:cubicBezTo>
                  <a:pt x="404137" y="3145699"/>
                  <a:pt x="373587" y="3107736"/>
                  <a:pt x="346856" y="3065979"/>
                </a:cubicBezTo>
                <a:close/>
                <a:moveTo>
                  <a:pt x="229172" y="2870870"/>
                </a:moveTo>
                <a:lnTo>
                  <a:pt x="3676074" y="2870870"/>
                </a:lnTo>
                <a:cubicBezTo>
                  <a:pt x="3653171" y="2912388"/>
                  <a:pt x="3630268" y="2953907"/>
                  <a:pt x="3603548" y="2991652"/>
                </a:cubicBezTo>
                <a:cubicBezTo>
                  <a:pt x="3603548" y="2991652"/>
                  <a:pt x="3603548" y="2991652"/>
                  <a:pt x="297881" y="2991652"/>
                </a:cubicBezTo>
                <a:cubicBezTo>
                  <a:pt x="274978" y="2953907"/>
                  <a:pt x="252075" y="2912388"/>
                  <a:pt x="229172" y="2870870"/>
                </a:cubicBezTo>
                <a:close/>
                <a:moveTo>
                  <a:pt x="136264" y="2678859"/>
                </a:moveTo>
                <a:lnTo>
                  <a:pt x="3762788" y="2678859"/>
                </a:lnTo>
                <a:cubicBezTo>
                  <a:pt x="3747519" y="2716821"/>
                  <a:pt x="3728432" y="2758580"/>
                  <a:pt x="3709345" y="2796543"/>
                </a:cubicBezTo>
                <a:cubicBezTo>
                  <a:pt x="3709345" y="2796543"/>
                  <a:pt x="3709345" y="2796543"/>
                  <a:pt x="189707" y="2796543"/>
                </a:cubicBezTo>
                <a:cubicBezTo>
                  <a:pt x="170620" y="2758580"/>
                  <a:pt x="155351" y="2716821"/>
                  <a:pt x="136264" y="2678859"/>
                </a:cubicBezTo>
                <a:close/>
                <a:moveTo>
                  <a:pt x="71229" y="2483753"/>
                </a:moveTo>
                <a:lnTo>
                  <a:pt x="3830923" y="2483753"/>
                </a:lnTo>
                <a:cubicBezTo>
                  <a:pt x="3819472" y="2526335"/>
                  <a:pt x="3804205" y="2568918"/>
                  <a:pt x="3788937" y="2607631"/>
                </a:cubicBezTo>
                <a:cubicBezTo>
                  <a:pt x="3788937" y="2607631"/>
                  <a:pt x="3788937" y="2607631"/>
                  <a:pt x="109399" y="2607631"/>
                </a:cubicBezTo>
                <a:cubicBezTo>
                  <a:pt x="94130" y="2568918"/>
                  <a:pt x="82680" y="2526335"/>
                  <a:pt x="71229" y="2483753"/>
                </a:cubicBezTo>
                <a:close/>
                <a:moveTo>
                  <a:pt x="24774" y="2294838"/>
                </a:moveTo>
                <a:lnTo>
                  <a:pt x="3874279" y="2294838"/>
                </a:lnTo>
                <a:cubicBezTo>
                  <a:pt x="3866641" y="2332799"/>
                  <a:pt x="3859004" y="2374559"/>
                  <a:pt x="3851364" y="2412522"/>
                </a:cubicBezTo>
                <a:cubicBezTo>
                  <a:pt x="3851364" y="2412522"/>
                  <a:pt x="3851364" y="2412522"/>
                  <a:pt x="51506" y="2412522"/>
                </a:cubicBezTo>
                <a:cubicBezTo>
                  <a:pt x="43868" y="2374559"/>
                  <a:pt x="32411" y="2332799"/>
                  <a:pt x="24774" y="2294838"/>
                </a:cubicBezTo>
                <a:close/>
                <a:moveTo>
                  <a:pt x="3096" y="2099731"/>
                </a:moveTo>
                <a:lnTo>
                  <a:pt x="3902152" y="2099731"/>
                </a:lnTo>
                <a:cubicBezTo>
                  <a:pt x="3898334" y="2141249"/>
                  <a:pt x="3894515" y="2182769"/>
                  <a:pt x="3886877" y="2220513"/>
                </a:cubicBezTo>
                <a:cubicBezTo>
                  <a:pt x="3886877" y="2220513"/>
                  <a:pt x="3886877" y="2220513"/>
                  <a:pt x="18371" y="2220513"/>
                </a:cubicBezTo>
                <a:cubicBezTo>
                  <a:pt x="10733" y="2182769"/>
                  <a:pt x="6916" y="2141249"/>
                  <a:pt x="3096" y="2099731"/>
                </a:cubicBezTo>
                <a:close/>
                <a:moveTo>
                  <a:pt x="0" y="1907721"/>
                </a:moveTo>
                <a:cubicBezTo>
                  <a:pt x="0" y="1907721"/>
                  <a:pt x="0" y="1907721"/>
                  <a:pt x="3905250" y="1907721"/>
                </a:cubicBezTo>
                <a:cubicBezTo>
                  <a:pt x="3905250" y="1923204"/>
                  <a:pt x="3905250" y="1934818"/>
                  <a:pt x="3905250" y="1950304"/>
                </a:cubicBezTo>
                <a:cubicBezTo>
                  <a:pt x="3905250" y="1977403"/>
                  <a:pt x="3905250" y="2004500"/>
                  <a:pt x="3905250" y="2031599"/>
                </a:cubicBezTo>
                <a:cubicBezTo>
                  <a:pt x="3905250" y="2031599"/>
                  <a:pt x="3905250" y="2031599"/>
                  <a:pt x="0" y="2031599"/>
                </a:cubicBezTo>
                <a:cubicBezTo>
                  <a:pt x="0" y="2004500"/>
                  <a:pt x="0" y="1977403"/>
                  <a:pt x="0" y="1950304"/>
                </a:cubicBezTo>
                <a:cubicBezTo>
                  <a:pt x="0" y="1934818"/>
                  <a:pt x="0" y="1923204"/>
                  <a:pt x="0" y="1907721"/>
                </a:cubicBezTo>
                <a:close/>
                <a:moveTo>
                  <a:pt x="10733" y="1712612"/>
                </a:moveTo>
                <a:lnTo>
                  <a:pt x="3890695" y="1712612"/>
                </a:lnTo>
                <a:cubicBezTo>
                  <a:pt x="3898334" y="1755195"/>
                  <a:pt x="3898334" y="1793907"/>
                  <a:pt x="3902152" y="1836490"/>
                </a:cubicBezTo>
                <a:cubicBezTo>
                  <a:pt x="3902152" y="1836490"/>
                  <a:pt x="3902152" y="1836490"/>
                  <a:pt x="3096" y="1836490"/>
                </a:cubicBezTo>
                <a:cubicBezTo>
                  <a:pt x="3096" y="1793907"/>
                  <a:pt x="6916" y="1755195"/>
                  <a:pt x="10733" y="1712612"/>
                </a:cubicBezTo>
                <a:close/>
                <a:moveTo>
                  <a:pt x="44578" y="1523699"/>
                </a:moveTo>
                <a:lnTo>
                  <a:pt x="3857574" y="1523699"/>
                </a:lnTo>
                <a:cubicBezTo>
                  <a:pt x="3865207" y="1561444"/>
                  <a:pt x="3872841" y="1602962"/>
                  <a:pt x="3880474" y="1644481"/>
                </a:cubicBezTo>
                <a:cubicBezTo>
                  <a:pt x="3880474" y="1644481"/>
                  <a:pt x="3880474" y="1644481"/>
                  <a:pt x="21678" y="1644481"/>
                </a:cubicBezTo>
                <a:cubicBezTo>
                  <a:pt x="29311" y="1602962"/>
                  <a:pt x="36945" y="1561444"/>
                  <a:pt x="44578" y="1523699"/>
                </a:cubicBezTo>
                <a:close/>
                <a:moveTo>
                  <a:pt x="99389" y="1328591"/>
                </a:moveTo>
                <a:lnTo>
                  <a:pt x="3805859" y="1328591"/>
                </a:lnTo>
                <a:cubicBezTo>
                  <a:pt x="3817310" y="1370108"/>
                  <a:pt x="3828762" y="1407853"/>
                  <a:pt x="3840213" y="1449373"/>
                </a:cubicBezTo>
                <a:cubicBezTo>
                  <a:pt x="3840213" y="1449373"/>
                  <a:pt x="3840213" y="1449373"/>
                  <a:pt x="65035" y="1449373"/>
                </a:cubicBezTo>
                <a:cubicBezTo>
                  <a:pt x="72669" y="1407853"/>
                  <a:pt x="87938" y="1370108"/>
                  <a:pt x="99389" y="1328591"/>
                </a:cubicBezTo>
                <a:close/>
                <a:moveTo>
                  <a:pt x="173517" y="1136580"/>
                </a:moveTo>
                <a:lnTo>
                  <a:pt x="3724814" y="1136580"/>
                </a:lnTo>
                <a:cubicBezTo>
                  <a:pt x="3743906" y="1175293"/>
                  <a:pt x="3762999" y="1217875"/>
                  <a:pt x="3778274" y="1260458"/>
                </a:cubicBezTo>
                <a:cubicBezTo>
                  <a:pt x="3778274" y="1260458"/>
                  <a:pt x="3778274" y="1260458"/>
                  <a:pt x="123876" y="1260458"/>
                </a:cubicBezTo>
                <a:cubicBezTo>
                  <a:pt x="139151" y="1217875"/>
                  <a:pt x="154424" y="1175293"/>
                  <a:pt x="173517" y="1136580"/>
                </a:cubicBezTo>
                <a:close/>
                <a:moveTo>
                  <a:pt x="279293" y="941474"/>
                </a:moveTo>
                <a:lnTo>
                  <a:pt x="3626673" y="941474"/>
                </a:lnTo>
                <a:cubicBezTo>
                  <a:pt x="3649574" y="984056"/>
                  <a:pt x="3672475" y="1022769"/>
                  <a:pt x="3691560" y="1065351"/>
                </a:cubicBezTo>
                <a:cubicBezTo>
                  <a:pt x="3691560" y="1065351"/>
                  <a:pt x="3691560" y="1065351"/>
                  <a:pt x="210590" y="1065351"/>
                </a:cubicBezTo>
                <a:cubicBezTo>
                  <a:pt x="233491" y="1022769"/>
                  <a:pt x="256392" y="984056"/>
                  <a:pt x="279293" y="941474"/>
                </a:cubicBezTo>
                <a:close/>
                <a:moveTo>
                  <a:pt x="412943" y="752559"/>
                </a:moveTo>
                <a:lnTo>
                  <a:pt x="3492305" y="752559"/>
                </a:lnTo>
                <a:cubicBezTo>
                  <a:pt x="3522832" y="790304"/>
                  <a:pt x="3553359" y="831821"/>
                  <a:pt x="3580070" y="873341"/>
                </a:cubicBezTo>
                <a:cubicBezTo>
                  <a:pt x="3580070" y="873341"/>
                  <a:pt x="3580070" y="873341"/>
                  <a:pt x="325179" y="873341"/>
                </a:cubicBezTo>
                <a:cubicBezTo>
                  <a:pt x="351889" y="831821"/>
                  <a:pt x="382416" y="790304"/>
                  <a:pt x="412943" y="752559"/>
                </a:cubicBezTo>
                <a:close/>
                <a:moveTo>
                  <a:pt x="582189" y="560548"/>
                </a:moveTo>
                <a:cubicBezTo>
                  <a:pt x="582189" y="560548"/>
                  <a:pt x="582189" y="560548"/>
                  <a:pt x="3319963" y="560548"/>
                </a:cubicBezTo>
                <a:cubicBezTo>
                  <a:pt x="3358147" y="598509"/>
                  <a:pt x="3396330" y="636473"/>
                  <a:pt x="3434514" y="678232"/>
                </a:cubicBezTo>
                <a:cubicBezTo>
                  <a:pt x="3434514" y="678232"/>
                  <a:pt x="3434514" y="678232"/>
                  <a:pt x="467638" y="678232"/>
                </a:cubicBezTo>
                <a:cubicBezTo>
                  <a:pt x="502004" y="636473"/>
                  <a:pt x="540188" y="598509"/>
                  <a:pt x="582189" y="560548"/>
                </a:cubicBezTo>
                <a:close/>
                <a:moveTo>
                  <a:pt x="808618" y="365442"/>
                </a:moveTo>
                <a:lnTo>
                  <a:pt x="3092810" y="365442"/>
                </a:lnTo>
                <a:cubicBezTo>
                  <a:pt x="3146286" y="404154"/>
                  <a:pt x="3195943" y="446737"/>
                  <a:pt x="3245599" y="489319"/>
                </a:cubicBezTo>
                <a:cubicBezTo>
                  <a:pt x="3245599" y="489319"/>
                  <a:pt x="3245599" y="489319"/>
                  <a:pt x="659649" y="489319"/>
                </a:cubicBezTo>
                <a:cubicBezTo>
                  <a:pt x="705486" y="446737"/>
                  <a:pt x="758962" y="404154"/>
                  <a:pt x="808618" y="365442"/>
                </a:cubicBezTo>
                <a:close/>
                <a:moveTo>
                  <a:pt x="1141891" y="176527"/>
                </a:moveTo>
                <a:lnTo>
                  <a:pt x="2760259" y="176527"/>
                </a:lnTo>
                <a:cubicBezTo>
                  <a:pt x="2840413" y="210692"/>
                  <a:pt x="2912935" y="248655"/>
                  <a:pt x="2985456" y="294211"/>
                </a:cubicBezTo>
                <a:cubicBezTo>
                  <a:pt x="2985456" y="294211"/>
                  <a:pt x="2985456" y="294211"/>
                  <a:pt x="916695" y="294211"/>
                </a:cubicBezTo>
                <a:cubicBezTo>
                  <a:pt x="989215" y="248655"/>
                  <a:pt x="1065553" y="210692"/>
                  <a:pt x="1141891" y="176527"/>
                </a:cubicBezTo>
                <a:close/>
                <a:moveTo>
                  <a:pt x="1949526" y="0"/>
                </a:moveTo>
                <a:cubicBezTo>
                  <a:pt x="2171061" y="0"/>
                  <a:pt x="2381136" y="34067"/>
                  <a:pt x="2579754" y="102200"/>
                </a:cubicBezTo>
                <a:cubicBezTo>
                  <a:pt x="2579754" y="102200"/>
                  <a:pt x="2579754" y="102200"/>
                  <a:pt x="1319298" y="102200"/>
                </a:cubicBezTo>
                <a:cubicBezTo>
                  <a:pt x="1517916" y="34067"/>
                  <a:pt x="1731811" y="0"/>
                  <a:pt x="1949526" y="0"/>
                </a:cubicBezTo>
                <a:close/>
              </a:path>
            </a:pathLst>
          </a:cu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11" name="Shape 8"/>
          <p:cNvSpPr/>
          <p:nvPr/>
        </p:nvSpPr>
        <p:spPr>
          <a:xfrm rot="16680000">
            <a:off x="-121920" y="-71120"/>
            <a:ext cx="2160270" cy="1989455"/>
          </a:xfrm>
          <a:custGeom>
            <a:avLst/>
            <a:gdLst/>
            <a:ahLst/>
            <a:cxnLst/>
            <a:rect l="l" t="t" r="r" b="b"/>
            <a:pathLst>
              <a:path w="2160270" h="1989455">
                <a:moveTo>
                  <a:pt x="0" y="404000"/>
                </a:moveTo>
                <a:cubicBezTo>
                  <a:pt x="-4270" y="299551"/>
                  <a:pt x="25291" y="106748"/>
                  <a:pt x="30218" y="95252"/>
                </a:cubicBezTo>
                <a:lnTo>
                  <a:pt x="672683" y="0"/>
                </a:lnTo>
                <a:cubicBezTo>
                  <a:pt x="623742" y="90325"/>
                  <a:pt x="580057" y="311376"/>
                  <a:pt x="587283" y="404000"/>
                </a:cubicBezTo>
                <a:cubicBezTo>
                  <a:pt x="570204" y="964345"/>
                  <a:pt x="1083255" y="1415972"/>
                  <a:pt x="1585468" y="1402177"/>
                </a:cubicBezTo>
                <a:cubicBezTo>
                  <a:pt x="1754953" y="1415643"/>
                  <a:pt x="2006223" y="1319406"/>
                  <a:pt x="2070272" y="1276707"/>
                </a:cubicBezTo>
                <a:lnTo>
                  <a:pt x="2160270" y="1882050"/>
                </a:lnTo>
                <a:cubicBezTo>
                  <a:pt x="2022974" y="1946756"/>
                  <a:pt x="1709297" y="1997995"/>
                  <a:pt x="1585468" y="1989455"/>
                </a:cubicBezTo>
                <a:cubicBezTo>
                  <a:pt x="695675" y="2016717"/>
                  <a:pt x="-21678" y="1202147"/>
                  <a:pt x="0" y="404000"/>
                </a:cubicBezTo>
                <a:close/>
              </a:path>
            </a:pathLst>
          </a:custGeom>
          <a:gradFill flip="none" rotWithShape="1">
            <a:gsLst>
              <a:gs pos="0">
                <a:srgbClr val="00B0F0">
                  <a:alpha val="34000"/>
                </a:srgbClr>
              </a:gs>
              <a:gs pos="76000">
                <a:srgbClr val="00B0F0">
                  <a:alpha val="0"/>
                </a:srgbClr>
              </a:gs>
              <a:gs pos="100000">
                <a:srgbClr val="00B0F0">
                  <a:alpha val="0"/>
                </a:srgbClr>
              </a:gs>
            </a:gsLst>
            <a:lin ang="16200000" scaled="1"/>
          </a:gradFill>
        </p:spPr>
      </p:sp>
      <p:sp>
        <p:nvSpPr>
          <p:cNvPr id="12" name="Shape 9"/>
          <p:cNvSpPr/>
          <p:nvPr/>
        </p:nvSpPr>
        <p:spPr>
          <a:xfrm rot="17460000">
            <a:off x="10614660" y="325120"/>
            <a:ext cx="1136650" cy="1136650"/>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13" name="Shape 10"/>
          <p:cNvSpPr/>
          <p:nvPr/>
        </p:nvSpPr>
        <p:spPr>
          <a:xfrm rot="17460000" flipH="1" flipV="1">
            <a:off x="811530" y="5401945"/>
            <a:ext cx="3069590" cy="3069590"/>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sp>
        <p:nvSpPr>
          <p:cNvPr id="5" name="Shape 3"/>
          <p:cNvSpPr/>
          <p:nvPr/>
        </p:nvSpPr>
        <p:spPr>
          <a:xfrm>
            <a:off x="-14605" y="5470525"/>
            <a:ext cx="12221210" cy="1386840"/>
          </a:xfrm>
          <a:prstGeom prst="roundRect">
            <a:avLst>
              <a:gd name="adj" fmla="val 0"/>
            </a:avLst>
          </a:prstGeom>
          <a:solidFill>
            <a:srgbClr val="004CC0"/>
          </a:solidFill>
        </p:spPr>
      </p:sp>
      <p:sp>
        <p:nvSpPr>
          <p:cNvPr id="6" name="Shape 4"/>
          <p:cNvSpPr/>
          <p:nvPr>
            <p:custDataLst>
              <p:tags r:id="rId1"/>
            </p:custDataLst>
          </p:nvPr>
        </p:nvSpPr>
        <p:spPr>
          <a:xfrm>
            <a:off x="760730" y="1472565"/>
            <a:ext cx="3170555" cy="4673600"/>
          </a:xfrm>
          <a:prstGeom prst="roundRect">
            <a:avLst>
              <a:gd name="adj" fmla="val 5503"/>
            </a:avLst>
          </a:prstGeom>
          <a:solidFill>
            <a:srgbClr val="FFFFFF"/>
          </a:solidFill>
          <a:ln w="19050">
            <a:solidFill>
              <a:srgbClr val="004CC0"/>
            </a:solidFill>
            <a:prstDash val="solid"/>
          </a:ln>
        </p:spPr>
      </p:sp>
      <p:sp>
        <p:nvSpPr>
          <p:cNvPr id="7" name="Shape 5"/>
          <p:cNvSpPr/>
          <p:nvPr>
            <p:custDataLst>
              <p:tags r:id="rId2"/>
            </p:custDataLst>
          </p:nvPr>
        </p:nvSpPr>
        <p:spPr>
          <a:xfrm>
            <a:off x="1743075" y="1701800"/>
            <a:ext cx="1206543" cy="1192530"/>
          </a:xfrm>
          <a:prstGeom prst="ellipse">
            <a:avLst/>
          </a:prstGeom>
          <a:solidFill>
            <a:srgbClr val="004CC0"/>
          </a:solidFill>
        </p:spPr>
      </p:sp>
      <p:sp>
        <p:nvSpPr>
          <p:cNvPr id="9" name="Shape 6"/>
          <p:cNvSpPr/>
          <p:nvPr>
            <p:custDataLst>
              <p:tags r:id="rId3"/>
            </p:custDataLst>
          </p:nvPr>
        </p:nvSpPr>
        <p:spPr>
          <a:xfrm>
            <a:off x="4380230" y="1472565"/>
            <a:ext cx="3170555" cy="4673600"/>
          </a:xfrm>
          <a:prstGeom prst="roundRect">
            <a:avLst>
              <a:gd name="adj" fmla="val 5503"/>
            </a:avLst>
          </a:prstGeom>
          <a:solidFill>
            <a:srgbClr val="FFFFFF"/>
          </a:solidFill>
          <a:ln w="19050">
            <a:solidFill>
              <a:srgbClr val="004CC0"/>
            </a:solidFill>
            <a:prstDash val="solid"/>
          </a:ln>
        </p:spPr>
      </p:sp>
      <p:sp>
        <p:nvSpPr>
          <p:cNvPr id="10" name="Shape 7"/>
          <p:cNvSpPr/>
          <p:nvPr>
            <p:custDataLst>
              <p:tags r:id="rId4"/>
            </p:custDataLst>
          </p:nvPr>
        </p:nvSpPr>
        <p:spPr>
          <a:xfrm>
            <a:off x="5362575" y="1701800"/>
            <a:ext cx="1206500" cy="1192530"/>
          </a:xfrm>
          <a:prstGeom prst="ellipse">
            <a:avLst/>
          </a:prstGeom>
          <a:solidFill>
            <a:srgbClr val="004CC0"/>
          </a:solidFill>
        </p:spPr>
      </p:sp>
      <p:sp>
        <p:nvSpPr>
          <p:cNvPr id="12" name="Shape 8"/>
          <p:cNvSpPr/>
          <p:nvPr>
            <p:custDataLst>
              <p:tags r:id="rId5"/>
            </p:custDataLst>
          </p:nvPr>
        </p:nvSpPr>
        <p:spPr>
          <a:xfrm>
            <a:off x="8000365" y="1472565"/>
            <a:ext cx="3170555" cy="4673600"/>
          </a:xfrm>
          <a:prstGeom prst="roundRect">
            <a:avLst>
              <a:gd name="adj" fmla="val 5503"/>
            </a:avLst>
          </a:prstGeom>
          <a:solidFill>
            <a:srgbClr val="FFFFFF"/>
          </a:solidFill>
          <a:ln w="19050">
            <a:solidFill>
              <a:srgbClr val="004CC0"/>
            </a:solidFill>
            <a:prstDash val="solid"/>
          </a:ln>
        </p:spPr>
      </p:sp>
      <p:sp>
        <p:nvSpPr>
          <p:cNvPr id="13" name="Shape 9"/>
          <p:cNvSpPr/>
          <p:nvPr>
            <p:custDataLst>
              <p:tags r:id="rId6"/>
            </p:custDataLst>
          </p:nvPr>
        </p:nvSpPr>
        <p:spPr>
          <a:xfrm>
            <a:off x="8982710" y="1701800"/>
            <a:ext cx="1206500" cy="1192530"/>
          </a:xfrm>
          <a:prstGeom prst="ellipse">
            <a:avLst/>
          </a:prstGeom>
          <a:solidFill>
            <a:srgbClr val="004CC0"/>
          </a:solidFill>
        </p:spPr>
      </p:sp>
      <p:sp>
        <p:nvSpPr>
          <p:cNvPr id="15" name="Text 10"/>
          <p:cNvSpPr/>
          <p:nvPr/>
        </p:nvSpPr>
        <p:spPr>
          <a:xfrm>
            <a:off x="582930" y="211455"/>
            <a:ext cx="10151745" cy="5867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122"/>
                <a:ea typeface="MiSans" pitchFamily="34" charset="-122"/>
                <a:cs typeface="MiSans" pitchFamily="34" charset="-120"/>
              </a:rPr>
              <a:t>敏捷开发需求工程的现实困境</a:t>
            </a:r>
            <a:endParaRPr lang="en-US" sz="1600" dirty="0"/>
          </a:p>
        </p:txBody>
      </p:sp>
      <p:sp>
        <p:nvSpPr>
          <p:cNvPr id="16" name="Text 11"/>
          <p:cNvSpPr/>
          <p:nvPr>
            <p:custDataLst>
              <p:tags r:id="rId7"/>
            </p:custDataLst>
          </p:nvPr>
        </p:nvSpPr>
        <p:spPr>
          <a:xfrm>
            <a:off x="947420" y="3009265"/>
            <a:ext cx="2797175" cy="669925"/>
          </a:xfrm>
          <a:prstGeom prst="rect">
            <a:avLst/>
          </a:prstGeom>
          <a:noFill/>
        </p:spPr>
        <p:txBody>
          <a:bodyPr wrap="square" lIns="91440" tIns="45720" rIns="91440" bIns="45720" rtlCol="0" anchor="t"/>
          <a:lstStyle/>
          <a:p>
            <a:pPr algn="ctr">
              <a:lnSpc>
                <a:spcPct val="100000"/>
              </a:lnSpc>
            </a:pPr>
            <a:r>
              <a:rPr lang="en-US" sz="1800" dirty="0">
                <a:solidFill>
                  <a:srgbClr val="004CC0"/>
                </a:solidFill>
                <a:latin typeface="MiSans" pitchFamily="34" charset="-122"/>
                <a:ea typeface="MiSans" pitchFamily="34" charset="-122"/>
                <a:cs typeface="MiSans" pitchFamily="34" charset="-120"/>
              </a:rPr>
              <a:t>行业规模与敏捷普及</a:t>
            </a:r>
            <a:endParaRPr lang="en-US" sz="1600" dirty="0"/>
          </a:p>
        </p:txBody>
      </p:sp>
      <p:sp>
        <p:nvSpPr>
          <p:cNvPr id="17" name="Text 12"/>
          <p:cNvSpPr/>
          <p:nvPr>
            <p:custDataLst>
              <p:tags r:id="rId8"/>
            </p:custDataLst>
          </p:nvPr>
        </p:nvSpPr>
        <p:spPr>
          <a:xfrm>
            <a:off x="948055" y="3655060"/>
            <a:ext cx="2796540" cy="1124585"/>
          </a:xfrm>
          <a:prstGeom prst="rect">
            <a:avLst/>
          </a:prstGeom>
          <a:noFill/>
        </p:spPr>
        <p:txBody>
          <a:bodyPr wrap="square" lIns="91440" tIns="45720" rIns="91440" bIns="45720" rtlCol="0" anchor="t">
            <a:spAutoFit/>
          </a:bodyPr>
          <a:lstStyle/>
          <a:p>
            <a:pPr algn="just">
              <a:lnSpc>
                <a:spcPct val="120000"/>
              </a:lnSpc>
            </a:pPr>
            <a:r>
              <a:rPr lang="en-US" sz="1400" dirty="0">
                <a:solidFill>
                  <a:srgbClr val="000000"/>
                </a:solidFill>
                <a:latin typeface="黑体" panose="02010609060101010101" charset="-122"/>
                <a:ea typeface="黑体" panose="02010609060101010101" charset="-122"/>
                <a:cs typeface="黑体" panose="02010609060101010101" charset="-122"/>
              </a:rPr>
              <a:t>我国软件业务收入超13.5万亿元，年均复合增长率</a:t>
            </a:r>
            <a:r>
              <a:rPr lang="zh-CN" altLang="en-US" sz="1400" dirty="0">
                <a:solidFill>
                  <a:srgbClr val="000000"/>
                </a:solidFill>
                <a:latin typeface="黑体" panose="02010609060101010101" charset="-122"/>
                <a:ea typeface="黑体" panose="02010609060101010101" charset="-122"/>
                <a:cs typeface="黑体" panose="02010609060101010101" charset="-122"/>
              </a:rPr>
              <a:t>高</a:t>
            </a:r>
            <a:r>
              <a:rPr lang="en-US" sz="1400" dirty="0">
                <a:solidFill>
                  <a:srgbClr val="000000"/>
                </a:solidFill>
                <a:latin typeface="黑体" panose="02010609060101010101" charset="-122"/>
                <a:ea typeface="黑体" panose="02010609060101010101" charset="-122"/>
                <a:cs typeface="黑体" panose="02010609060101010101" charset="-122"/>
              </a:rPr>
              <a:t>，敏捷</a:t>
            </a:r>
            <a:r>
              <a:rPr lang="zh-CN" altLang="en-US" sz="1400" dirty="0">
                <a:solidFill>
                  <a:srgbClr val="000000"/>
                </a:solidFill>
                <a:latin typeface="黑体" panose="02010609060101010101" charset="-122"/>
                <a:ea typeface="黑体" panose="02010609060101010101" charset="-122"/>
                <a:cs typeface="黑体" panose="02010609060101010101" charset="-122"/>
              </a:rPr>
              <a:t>开发模式在软件工程领域得到广泛应用</a:t>
            </a:r>
            <a:r>
              <a:rPr lang="en-US" sz="1400" dirty="0">
                <a:solidFill>
                  <a:srgbClr val="000000"/>
                </a:solidFill>
                <a:latin typeface="黑体" panose="02010609060101010101" charset="-122"/>
                <a:ea typeface="黑体" panose="02010609060101010101" charset="-122"/>
                <a:cs typeface="黑体" panose="02010609060101010101" charset="-122"/>
              </a:rPr>
              <a:t>，</a:t>
            </a:r>
            <a:r>
              <a:rPr lang="zh-CN" altLang="en-US" sz="1400" dirty="0">
                <a:solidFill>
                  <a:srgbClr val="000000"/>
                </a:solidFill>
                <a:latin typeface="黑体" panose="02010609060101010101" charset="-122"/>
                <a:ea typeface="黑体" panose="02010609060101010101" charset="-122"/>
                <a:cs typeface="黑体" panose="02010609060101010101" charset="-122"/>
              </a:rPr>
              <a:t>但</a:t>
            </a:r>
            <a:r>
              <a:rPr lang="en-US" sz="1400" dirty="0">
                <a:solidFill>
                  <a:srgbClr val="000000"/>
                </a:solidFill>
                <a:latin typeface="黑体" panose="02010609060101010101" charset="-122"/>
                <a:ea typeface="黑体" panose="02010609060101010101" charset="-122"/>
                <a:cs typeface="黑体" panose="02010609060101010101" charset="-122"/>
              </a:rPr>
              <a:t>需求工程成为关键瓶颈。</a:t>
            </a:r>
            <a:endParaRPr lang="en-US" sz="1600" dirty="0">
              <a:latin typeface="黑体" panose="02010609060101010101" charset="-122"/>
              <a:ea typeface="黑体" panose="02010609060101010101" charset="-122"/>
              <a:cs typeface="黑体" panose="02010609060101010101" charset="-122"/>
            </a:endParaRPr>
          </a:p>
        </p:txBody>
      </p:sp>
      <p:sp>
        <p:nvSpPr>
          <p:cNvPr id="18" name="Text 13"/>
          <p:cNvSpPr/>
          <p:nvPr>
            <p:custDataLst>
              <p:tags r:id="rId9"/>
            </p:custDataLst>
          </p:nvPr>
        </p:nvSpPr>
        <p:spPr>
          <a:xfrm>
            <a:off x="4566920" y="3019425"/>
            <a:ext cx="2797175" cy="669925"/>
          </a:xfrm>
          <a:prstGeom prst="rect">
            <a:avLst/>
          </a:prstGeom>
          <a:noFill/>
        </p:spPr>
        <p:txBody>
          <a:bodyPr wrap="square" lIns="91440" tIns="45720" rIns="91440" bIns="45720" rtlCol="0" anchor="t"/>
          <a:lstStyle/>
          <a:p>
            <a:pPr algn="ctr">
              <a:lnSpc>
                <a:spcPct val="100000"/>
              </a:lnSpc>
            </a:pPr>
            <a:r>
              <a:rPr lang="en-US" sz="1800" dirty="0">
                <a:solidFill>
                  <a:srgbClr val="004CC0"/>
                </a:solidFill>
                <a:latin typeface="MiSans" pitchFamily="34" charset="-122"/>
                <a:ea typeface="MiSans" pitchFamily="34" charset="-122"/>
                <a:cs typeface="MiSans" pitchFamily="34" charset="-120"/>
              </a:rPr>
              <a:t>需求理解偏差严重</a:t>
            </a:r>
            <a:endParaRPr lang="en-US" sz="1600" dirty="0"/>
          </a:p>
        </p:txBody>
      </p:sp>
      <p:sp>
        <p:nvSpPr>
          <p:cNvPr id="19" name="Text 14"/>
          <p:cNvSpPr/>
          <p:nvPr>
            <p:custDataLst>
              <p:tags r:id="rId10"/>
            </p:custDataLst>
          </p:nvPr>
        </p:nvSpPr>
        <p:spPr>
          <a:xfrm>
            <a:off x="4567555" y="3665220"/>
            <a:ext cx="2796540" cy="866140"/>
          </a:xfrm>
          <a:prstGeom prst="rect">
            <a:avLst/>
          </a:prstGeom>
          <a:noFill/>
        </p:spPr>
        <p:txBody>
          <a:bodyPr wrap="square" lIns="91440" tIns="45720" rIns="91440" bIns="45720" rtlCol="0" anchor="t">
            <a:spAutoFit/>
          </a:bodyPr>
          <a:lstStyle/>
          <a:p>
            <a:pPr algn="just">
              <a:lnSpc>
                <a:spcPct val="120000"/>
              </a:lnSpc>
            </a:pPr>
            <a:r>
              <a:rPr lang="en-US" sz="1400" dirty="0">
                <a:solidFill>
                  <a:srgbClr val="000000"/>
                </a:solidFill>
                <a:latin typeface="黑体" panose="02010609060101010101" charset="-122"/>
                <a:ea typeface="黑体" panose="02010609060101010101" charset="-122"/>
                <a:cs typeface="黑体" panose="02010609060101010101" charset="-122"/>
              </a:rPr>
              <a:t>Gartner调查显示全球</a:t>
            </a:r>
            <a:r>
              <a:rPr lang="zh-CN" altLang="en-US" sz="1400" dirty="0">
                <a:solidFill>
                  <a:srgbClr val="000000"/>
                </a:solidFill>
                <a:latin typeface="黑体" panose="02010609060101010101" charset="-122"/>
                <a:ea typeface="黑体" panose="02010609060101010101" charset="-122"/>
                <a:cs typeface="黑体" panose="02010609060101010101" charset="-122"/>
              </a:rPr>
              <a:t>超过一半</a:t>
            </a:r>
            <a:r>
              <a:rPr lang="en-US" sz="1400" dirty="0">
                <a:solidFill>
                  <a:srgbClr val="000000"/>
                </a:solidFill>
                <a:latin typeface="黑体" panose="02010609060101010101" charset="-122"/>
                <a:ea typeface="黑体" panose="02010609060101010101" charset="-122"/>
                <a:cs typeface="黑体" panose="02010609060101010101" charset="-122"/>
              </a:rPr>
              <a:t>开发人员因需求理解不准确导致项目延期或返工</a:t>
            </a:r>
            <a:r>
              <a:rPr lang="zh-CN" altLang="en-US" sz="1400" dirty="0">
                <a:solidFill>
                  <a:srgbClr val="000000"/>
                </a:solidFill>
                <a:latin typeface="黑体" panose="02010609060101010101" charset="-122"/>
                <a:ea typeface="黑体" panose="02010609060101010101" charset="-122"/>
                <a:cs typeface="黑体" panose="02010609060101010101" charset="-122"/>
              </a:rPr>
              <a:t>。</a:t>
            </a:r>
            <a:endParaRPr lang="zh-CN" altLang="en-US" sz="1400" dirty="0">
              <a:solidFill>
                <a:srgbClr val="000000"/>
              </a:solidFill>
              <a:latin typeface="黑体" panose="02010609060101010101" charset="-122"/>
              <a:ea typeface="黑体" panose="02010609060101010101" charset="-122"/>
              <a:cs typeface="黑体" panose="02010609060101010101" charset="-122"/>
            </a:endParaRPr>
          </a:p>
        </p:txBody>
      </p:sp>
      <p:sp>
        <p:nvSpPr>
          <p:cNvPr id="20" name="Text 15"/>
          <p:cNvSpPr/>
          <p:nvPr>
            <p:custDataLst>
              <p:tags r:id="rId11"/>
            </p:custDataLst>
          </p:nvPr>
        </p:nvSpPr>
        <p:spPr>
          <a:xfrm>
            <a:off x="8187055" y="3019425"/>
            <a:ext cx="2797175" cy="669925"/>
          </a:xfrm>
          <a:prstGeom prst="rect">
            <a:avLst/>
          </a:prstGeom>
          <a:noFill/>
        </p:spPr>
        <p:txBody>
          <a:bodyPr wrap="square" lIns="91440" tIns="45720" rIns="91440" bIns="45720" rtlCol="0" anchor="t"/>
          <a:lstStyle/>
          <a:p>
            <a:pPr algn="ctr">
              <a:lnSpc>
                <a:spcPct val="100000"/>
              </a:lnSpc>
            </a:pPr>
            <a:r>
              <a:rPr lang="en-US" sz="1800" dirty="0">
                <a:solidFill>
                  <a:srgbClr val="004CC0"/>
                </a:solidFill>
                <a:latin typeface="MiSans" pitchFamily="34" charset="-122"/>
                <a:ea typeface="MiSans" pitchFamily="34" charset="-122"/>
                <a:cs typeface="MiSans" pitchFamily="34" charset="-120"/>
              </a:rPr>
              <a:t>传统人工编写弊端突出</a:t>
            </a:r>
            <a:endParaRPr lang="en-US" sz="1600" dirty="0"/>
          </a:p>
        </p:txBody>
      </p:sp>
      <p:sp>
        <p:nvSpPr>
          <p:cNvPr id="21" name="Text 16"/>
          <p:cNvSpPr/>
          <p:nvPr>
            <p:custDataLst>
              <p:tags r:id="rId12"/>
            </p:custDataLst>
          </p:nvPr>
        </p:nvSpPr>
        <p:spPr>
          <a:xfrm>
            <a:off x="8187690" y="3665220"/>
            <a:ext cx="2796540" cy="1124585"/>
          </a:xfrm>
          <a:prstGeom prst="rect">
            <a:avLst/>
          </a:prstGeom>
          <a:noFill/>
        </p:spPr>
        <p:txBody>
          <a:bodyPr wrap="square" lIns="91440" tIns="45720" rIns="91440" bIns="45720" rtlCol="0" anchor="t">
            <a:spAutoFit/>
          </a:bodyPr>
          <a:lstStyle/>
          <a:p>
            <a:pPr algn="just">
              <a:lnSpc>
                <a:spcPct val="120000"/>
              </a:lnSpc>
            </a:pPr>
            <a:r>
              <a:rPr lang="en-US" sz="1400" dirty="0">
                <a:solidFill>
                  <a:srgbClr val="000000"/>
                </a:solidFill>
                <a:latin typeface="黑体" panose="02010609060101010101" charset="-122"/>
                <a:ea typeface="黑体" panose="02010609060101010101" charset="-122"/>
                <a:cs typeface="MiSans" pitchFamily="34" charset="-120"/>
              </a:rPr>
              <a:t>人工编写用户故事效率低、语义不清、格式混乱、功能不全，近</a:t>
            </a:r>
            <a:r>
              <a:rPr lang="zh-CN" altLang="en-US" sz="1400" dirty="0">
                <a:solidFill>
                  <a:srgbClr val="000000"/>
                </a:solidFill>
                <a:latin typeface="黑体" panose="02010609060101010101" charset="-122"/>
                <a:ea typeface="黑体" panose="02010609060101010101" charset="-122"/>
                <a:cs typeface="MiSans" pitchFamily="34" charset="-120"/>
              </a:rPr>
              <a:t>一半的</a:t>
            </a:r>
            <a:r>
              <a:rPr lang="en-US" sz="1400" dirty="0">
                <a:solidFill>
                  <a:srgbClr val="000000"/>
                </a:solidFill>
                <a:latin typeface="黑体" panose="02010609060101010101" charset="-122"/>
                <a:ea typeface="黑体" panose="02010609060101010101" charset="-122"/>
                <a:cs typeface="MiSans" pitchFamily="34" charset="-120"/>
              </a:rPr>
              <a:t>需求返工源于最初理解不清，难以适应快速迭代。</a:t>
            </a:r>
            <a:endParaRPr lang="en-US" sz="1600" dirty="0">
              <a:latin typeface="黑体" panose="02010609060101010101" charset="-122"/>
              <a:ea typeface="黑体"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pic>
        <p:nvPicPr>
          <p:cNvPr id="5" name="Image 0" descr="https://kimi-img.moonshot.cn/pub/slides/slides_tmpl/image/25-09-04-15:50:51-d2sk9mu1bb2p4onbqecg.jpg"/>
          <p:cNvPicPr>
            <a:picLocks noChangeAspect="1"/>
          </p:cNvPicPr>
          <p:nvPr/>
        </p:nvPicPr>
        <p:blipFill>
          <a:blip r:embed="rId1"/>
          <a:stretch>
            <a:fillRect/>
          </a:stretch>
        </p:blipFill>
        <p:spPr>
          <a:xfrm>
            <a:off x="0" y="0"/>
            <a:ext cx="12203430" cy="6842760"/>
          </a:xfrm>
          <a:prstGeom prst="rect">
            <a:avLst/>
          </a:prstGeom>
        </p:spPr>
      </p:pic>
      <p:sp>
        <p:nvSpPr>
          <p:cNvPr id="6" name="Shape 3"/>
          <p:cNvSpPr/>
          <p:nvPr/>
        </p:nvSpPr>
        <p:spPr>
          <a:xfrm>
            <a:off x="-27940" y="-8890"/>
            <a:ext cx="12247880" cy="6875780"/>
          </a:xfrm>
          <a:prstGeom prst="rect">
            <a:avLst/>
          </a:prstGeom>
          <a:solidFill>
            <a:srgbClr val="1D3EBF">
              <a:alpha val="94902"/>
            </a:srgbClr>
          </a:solidFill>
        </p:spPr>
      </p:sp>
      <p:sp>
        <p:nvSpPr>
          <p:cNvPr id="7" name="Text 4"/>
          <p:cNvSpPr/>
          <p:nvPr/>
        </p:nvSpPr>
        <p:spPr>
          <a:xfrm>
            <a:off x="4060825" y="2246630"/>
            <a:ext cx="6873875" cy="1012190"/>
          </a:xfrm>
          <a:prstGeom prst="rect">
            <a:avLst/>
          </a:prstGeom>
          <a:noFill/>
        </p:spPr>
        <p:txBody>
          <a:bodyPr wrap="square" lIns="91440" tIns="45720" rIns="91440" bIns="45720" rtlCol="0" anchor="t">
            <a:spAutoFit/>
          </a:bodyPr>
          <a:lstStyle/>
          <a:p>
            <a:pPr>
              <a:lnSpc>
                <a:spcPct val="100000"/>
              </a:lnSpc>
            </a:pPr>
            <a:r>
              <a:rPr lang="en-US" sz="6000" dirty="0">
                <a:solidFill>
                  <a:srgbClr val="FFFFFF"/>
                </a:solidFill>
                <a:latin typeface="MiSans" pitchFamily="34" charset="-122"/>
                <a:ea typeface="MiSans" pitchFamily="34" charset="-122"/>
                <a:cs typeface="MiSans" pitchFamily="34" charset="-120"/>
              </a:rPr>
              <a:t>系统总体架构</a:t>
            </a:r>
            <a:endParaRPr lang="en-US" sz="1600" dirty="0"/>
          </a:p>
        </p:txBody>
      </p:sp>
      <p:sp>
        <p:nvSpPr>
          <p:cNvPr id="8" name="Shape 5"/>
          <p:cNvSpPr/>
          <p:nvPr/>
        </p:nvSpPr>
        <p:spPr>
          <a:xfrm>
            <a:off x="3870960" y="2246630"/>
            <a:ext cx="0" cy="1938020"/>
          </a:xfrm>
          <a:prstGeom prst="line">
            <a:avLst/>
          </a:prstGeom>
          <a:noFill/>
          <a:ln w="19050">
            <a:solidFill>
              <a:srgbClr val="FFFFFF"/>
            </a:solidFill>
            <a:prstDash val="solid"/>
            <a:headEnd type="none"/>
            <a:tailEnd type="none"/>
          </a:ln>
        </p:spPr>
      </p:sp>
      <p:sp>
        <p:nvSpPr>
          <p:cNvPr id="9" name="Text 6"/>
          <p:cNvSpPr/>
          <p:nvPr/>
        </p:nvSpPr>
        <p:spPr>
          <a:xfrm>
            <a:off x="941705" y="2068830"/>
            <a:ext cx="2804160" cy="2221865"/>
          </a:xfrm>
          <a:prstGeom prst="rect">
            <a:avLst/>
          </a:prstGeom>
          <a:noFill/>
        </p:spPr>
        <p:txBody>
          <a:bodyPr wrap="square" lIns="91440" tIns="45720" rIns="91440" bIns="45720" rtlCol="0" anchor="t">
            <a:spAutoFit/>
          </a:bodyPr>
          <a:lstStyle/>
          <a:p>
            <a:pPr algn="r">
              <a:lnSpc>
                <a:spcPct val="100000"/>
              </a:lnSpc>
            </a:pPr>
            <a:r>
              <a:rPr lang="en-US" sz="13800" dirty="0">
                <a:solidFill>
                  <a:srgbClr val="FFFFFF"/>
                </a:solidFill>
                <a:latin typeface="MiSans" pitchFamily="34" charset="-122"/>
                <a:ea typeface="MiSans" pitchFamily="34" charset="-122"/>
                <a:cs typeface="MiSans" pitchFamily="34" charset="-120"/>
              </a:rPr>
              <a:t>02</a:t>
            </a:r>
            <a:endParaRPr lang="en-US" sz="1600" dirty="0"/>
          </a:p>
        </p:txBody>
      </p:sp>
      <p:sp>
        <p:nvSpPr>
          <p:cNvPr id="10" name="Shape 7"/>
          <p:cNvSpPr/>
          <p:nvPr/>
        </p:nvSpPr>
        <p:spPr>
          <a:xfrm rot="2100000">
            <a:off x="9042400" y="3636645"/>
            <a:ext cx="3905250" cy="3905250"/>
          </a:xfrm>
          <a:custGeom>
            <a:avLst/>
            <a:gdLst/>
            <a:ahLst/>
            <a:cxnLst/>
            <a:rect l="l" t="t" r="r" b="b"/>
            <a:pathLst>
              <a:path w="3905250" h="3905250">
                <a:moveTo>
                  <a:pt x="1430788" y="3837117"/>
                </a:moveTo>
                <a:cubicBezTo>
                  <a:pt x="1430788" y="3837117"/>
                  <a:pt x="1430788" y="3837117"/>
                  <a:pt x="2474458" y="3837117"/>
                </a:cubicBezTo>
                <a:cubicBezTo>
                  <a:pt x="2310071" y="3882540"/>
                  <a:pt x="2134213" y="3905250"/>
                  <a:pt x="1950712" y="3905250"/>
                </a:cubicBezTo>
                <a:cubicBezTo>
                  <a:pt x="1771033" y="3905250"/>
                  <a:pt x="1595175" y="3882540"/>
                  <a:pt x="1430788" y="3837117"/>
                </a:cubicBezTo>
                <a:close/>
                <a:moveTo>
                  <a:pt x="972440" y="3642011"/>
                </a:moveTo>
                <a:lnTo>
                  <a:pt x="2929711" y="3642011"/>
                </a:lnTo>
                <a:cubicBezTo>
                  <a:pt x="2849588" y="3687305"/>
                  <a:pt x="2769465" y="3728823"/>
                  <a:pt x="2681713" y="3762792"/>
                </a:cubicBezTo>
                <a:cubicBezTo>
                  <a:pt x="2681713" y="3762792"/>
                  <a:pt x="2681713" y="3762792"/>
                  <a:pt x="1216621" y="3762792"/>
                </a:cubicBezTo>
                <a:cubicBezTo>
                  <a:pt x="1132685" y="3728823"/>
                  <a:pt x="1048746" y="3687305"/>
                  <a:pt x="972440" y="3642011"/>
                </a:cubicBezTo>
                <a:close/>
                <a:moveTo>
                  <a:pt x="696812" y="3450000"/>
                </a:moveTo>
                <a:lnTo>
                  <a:pt x="3205340" y="3450000"/>
                </a:lnTo>
                <a:cubicBezTo>
                  <a:pt x="3151885" y="3491759"/>
                  <a:pt x="3098432" y="3529723"/>
                  <a:pt x="3044977" y="3567684"/>
                </a:cubicBezTo>
                <a:cubicBezTo>
                  <a:pt x="3044977" y="3567684"/>
                  <a:pt x="3044977" y="3567684"/>
                  <a:pt x="857175" y="3567684"/>
                </a:cubicBezTo>
                <a:cubicBezTo>
                  <a:pt x="799902" y="3529723"/>
                  <a:pt x="746447" y="3491759"/>
                  <a:pt x="696812" y="3450000"/>
                </a:cubicBezTo>
                <a:close/>
                <a:moveTo>
                  <a:pt x="498608" y="3254891"/>
                </a:moveTo>
                <a:lnTo>
                  <a:pt x="3403544" y="3254891"/>
                </a:lnTo>
                <a:cubicBezTo>
                  <a:pt x="3365373" y="3297474"/>
                  <a:pt x="3327199" y="3340057"/>
                  <a:pt x="3285209" y="3378769"/>
                </a:cubicBezTo>
                <a:cubicBezTo>
                  <a:pt x="3285209" y="3378769"/>
                  <a:pt x="3285209" y="3378769"/>
                  <a:pt x="616943" y="3378769"/>
                </a:cubicBezTo>
                <a:cubicBezTo>
                  <a:pt x="574953" y="3340057"/>
                  <a:pt x="532964" y="3297474"/>
                  <a:pt x="498608" y="3254891"/>
                </a:cubicBezTo>
                <a:close/>
                <a:moveTo>
                  <a:pt x="346856" y="3065979"/>
                </a:moveTo>
                <a:lnTo>
                  <a:pt x="3558390" y="3065979"/>
                </a:lnTo>
                <a:cubicBezTo>
                  <a:pt x="3527840" y="3107736"/>
                  <a:pt x="3501110" y="3145699"/>
                  <a:pt x="3466742" y="3183663"/>
                </a:cubicBezTo>
                <a:cubicBezTo>
                  <a:pt x="3466742" y="3183663"/>
                  <a:pt x="3466742" y="3183663"/>
                  <a:pt x="434687" y="3183663"/>
                </a:cubicBezTo>
                <a:cubicBezTo>
                  <a:pt x="404137" y="3145699"/>
                  <a:pt x="373587" y="3107736"/>
                  <a:pt x="346856" y="3065979"/>
                </a:cubicBezTo>
                <a:close/>
                <a:moveTo>
                  <a:pt x="229172" y="2870870"/>
                </a:moveTo>
                <a:lnTo>
                  <a:pt x="3676074" y="2870870"/>
                </a:lnTo>
                <a:cubicBezTo>
                  <a:pt x="3653171" y="2912388"/>
                  <a:pt x="3630268" y="2953907"/>
                  <a:pt x="3603548" y="2991652"/>
                </a:cubicBezTo>
                <a:cubicBezTo>
                  <a:pt x="3603548" y="2991652"/>
                  <a:pt x="3603548" y="2991652"/>
                  <a:pt x="297881" y="2991652"/>
                </a:cubicBezTo>
                <a:cubicBezTo>
                  <a:pt x="274978" y="2953907"/>
                  <a:pt x="252075" y="2912388"/>
                  <a:pt x="229172" y="2870870"/>
                </a:cubicBezTo>
                <a:close/>
                <a:moveTo>
                  <a:pt x="136264" y="2678859"/>
                </a:moveTo>
                <a:lnTo>
                  <a:pt x="3762788" y="2678859"/>
                </a:lnTo>
                <a:cubicBezTo>
                  <a:pt x="3747519" y="2716821"/>
                  <a:pt x="3728432" y="2758580"/>
                  <a:pt x="3709345" y="2796543"/>
                </a:cubicBezTo>
                <a:cubicBezTo>
                  <a:pt x="3709345" y="2796543"/>
                  <a:pt x="3709345" y="2796543"/>
                  <a:pt x="189707" y="2796543"/>
                </a:cubicBezTo>
                <a:cubicBezTo>
                  <a:pt x="170620" y="2758580"/>
                  <a:pt x="155351" y="2716821"/>
                  <a:pt x="136264" y="2678859"/>
                </a:cubicBezTo>
                <a:close/>
                <a:moveTo>
                  <a:pt x="71229" y="2483753"/>
                </a:moveTo>
                <a:lnTo>
                  <a:pt x="3830923" y="2483753"/>
                </a:lnTo>
                <a:cubicBezTo>
                  <a:pt x="3819472" y="2526335"/>
                  <a:pt x="3804205" y="2568918"/>
                  <a:pt x="3788937" y="2607631"/>
                </a:cubicBezTo>
                <a:cubicBezTo>
                  <a:pt x="3788937" y="2607631"/>
                  <a:pt x="3788937" y="2607631"/>
                  <a:pt x="109399" y="2607631"/>
                </a:cubicBezTo>
                <a:cubicBezTo>
                  <a:pt x="94130" y="2568918"/>
                  <a:pt x="82680" y="2526335"/>
                  <a:pt x="71229" y="2483753"/>
                </a:cubicBezTo>
                <a:close/>
                <a:moveTo>
                  <a:pt x="24774" y="2294838"/>
                </a:moveTo>
                <a:lnTo>
                  <a:pt x="3874279" y="2294838"/>
                </a:lnTo>
                <a:cubicBezTo>
                  <a:pt x="3866641" y="2332799"/>
                  <a:pt x="3859004" y="2374559"/>
                  <a:pt x="3851364" y="2412522"/>
                </a:cubicBezTo>
                <a:cubicBezTo>
                  <a:pt x="3851364" y="2412522"/>
                  <a:pt x="3851364" y="2412522"/>
                  <a:pt x="51506" y="2412522"/>
                </a:cubicBezTo>
                <a:cubicBezTo>
                  <a:pt x="43868" y="2374559"/>
                  <a:pt x="32411" y="2332799"/>
                  <a:pt x="24774" y="2294838"/>
                </a:cubicBezTo>
                <a:close/>
                <a:moveTo>
                  <a:pt x="3096" y="2099731"/>
                </a:moveTo>
                <a:lnTo>
                  <a:pt x="3902152" y="2099731"/>
                </a:lnTo>
                <a:cubicBezTo>
                  <a:pt x="3898334" y="2141249"/>
                  <a:pt x="3894515" y="2182769"/>
                  <a:pt x="3886877" y="2220513"/>
                </a:cubicBezTo>
                <a:cubicBezTo>
                  <a:pt x="3886877" y="2220513"/>
                  <a:pt x="3886877" y="2220513"/>
                  <a:pt x="18371" y="2220513"/>
                </a:cubicBezTo>
                <a:cubicBezTo>
                  <a:pt x="10733" y="2182769"/>
                  <a:pt x="6916" y="2141249"/>
                  <a:pt x="3096" y="2099731"/>
                </a:cubicBezTo>
                <a:close/>
                <a:moveTo>
                  <a:pt x="0" y="1907721"/>
                </a:moveTo>
                <a:cubicBezTo>
                  <a:pt x="0" y="1907721"/>
                  <a:pt x="0" y="1907721"/>
                  <a:pt x="3905250" y="1907721"/>
                </a:cubicBezTo>
                <a:cubicBezTo>
                  <a:pt x="3905250" y="1923204"/>
                  <a:pt x="3905250" y="1934818"/>
                  <a:pt x="3905250" y="1950304"/>
                </a:cubicBezTo>
                <a:cubicBezTo>
                  <a:pt x="3905250" y="1977403"/>
                  <a:pt x="3905250" y="2004500"/>
                  <a:pt x="3905250" y="2031599"/>
                </a:cubicBezTo>
                <a:cubicBezTo>
                  <a:pt x="3905250" y="2031599"/>
                  <a:pt x="3905250" y="2031599"/>
                  <a:pt x="0" y="2031599"/>
                </a:cubicBezTo>
                <a:cubicBezTo>
                  <a:pt x="0" y="2004500"/>
                  <a:pt x="0" y="1977403"/>
                  <a:pt x="0" y="1950304"/>
                </a:cubicBezTo>
                <a:cubicBezTo>
                  <a:pt x="0" y="1934818"/>
                  <a:pt x="0" y="1923204"/>
                  <a:pt x="0" y="1907721"/>
                </a:cubicBezTo>
                <a:close/>
                <a:moveTo>
                  <a:pt x="10733" y="1712612"/>
                </a:moveTo>
                <a:lnTo>
                  <a:pt x="3890695" y="1712612"/>
                </a:lnTo>
                <a:cubicBezTo>
                  <a:pt x="3898334" y="1755195"/>
                  <a:pt x="3898334" y="1793907"/>
                  <a:pt x="3902152" y="1836490"/>
                </a:cubicBezTo>
                <a:cubicBezTo>
                  <a:pt x="3902152" y="1836490"/>
                  <a:pt x="3902152" y="1836490"/>
                  <a:pt x="3096" y="1836490"/>
                </a:cubicBezTo>
                <a:cubicBezTo>
                  <a:pt x="3096" y="1793907"/>
                  <a:pt x="6916" y="1755195"/>
                  <a:pt x="10733" y="1712612"/>
                </a:cubicBezTo>
                <a:close/>
                <a:moveTo>
                  <a:pt x="44578" y="1523699"/>
                </a:moveTo>
                <a:lnTo>
                  <a:pt x="3857574" y="1523699"/>
                </a:lnTo>
                <a:cubicBezTo>
                  <a:pt x="3865207" y="1561444"/>
                  <a:pt x="3872841" y="1602962"/>
                  <a:pt x="3880474" y="1644481"/>
                </a:cubicBezTo>
                <a:cubicBezTo>
                  <a:pt x="3880474" y="1644481"/>
                  <a:pt x="3880474" y="1644481"/>
                  <a:pt x="21678" y="1644481"/>
                </a:cubicBezTo>
                <a:cubicBezTo>
                  <a:pt x="29311" y="1602962"/>
                  <a:pt x="36945" y="1561444"/>
                  <a:pt x="44578" y="1523699"/>
                </a:cubicBezTo>
                <a:close/>
                <a:moveTo>
                  <a:pt x="99389" y="1328591"/>
                </a:moveTo>
                <a:lnTo>
                  <a:pt x="3805859" y="1328591"/>
                </a:lnTo>
                <a:cubicBezTo>
                  <a:pt x="3817310" y="1370108"/>
                  <a:pt x="3828762" y="1407853"/>
                  <a:pt x="3840213" y="1449373"/>
                </a:cubicBezTo>
                <a:cubicBezTo>
                  <a:pt x="3840213" y="1449373"/>
                  <a:pt x="3840213" y="1449373"/>
                  <a:pt x="65035" y="1449373"/>
                </a:cubicBezTo>
                <a:cubicBezTo>
                  <a:pt x="72669" y="1407853"/>
                  <a:pt x="87938" y="1370108"/>
                  <a:pt x="99389" y="1328591"/>
                </a:cubicBezTo>
                <a:close/>
                <a:moveTo>
                  <a:pt x="173517" y="1136580"/>
                </a:moveTo>
                <a:lnTo>
                  <a:pt x="3724814" y="1136580"/>
                </a:lnTo>
                <a:cubicBezTo>
                  <a:pt x="3743906" y="1175293"/>
                  <a:pt x="3762999" y="1217875"/>
                  <a:pt x="3778274" y="1260458"/>
                </a:cubicBezTo>
                <a:cubicBezTo>
                  <a:pt x="3778274" y="1260458"/>
                  <a:pt x="3778274" y="1260458"/>
                  <a:pt x="123876" y="1260458"/>
                </a:cubicBezTo>
                <a:cubicBezTo>
                  <a:pt x="139151" y="1217875"/>
                  <a:pt x="154424" y="1175293"/>
                  <a:pt x="173517" y="1136580"/>
                </a:cubicBezTo>
                <a:close/>
                <a:moveTo>
                  <a:pt x="279293" y="941474"/>
                </a:moveTo>
                <a:lnTo>
                  <a:pt x="3626673" y="941474"/>
                </a:lnTo>
                <a:cubicBezTo>
                  <a:pt x="3649574" y="984056"/>
                  <a:pt x="3672475" y="1022769"/>
                  <a:pt x="3691560" y="1065351"/>
                </a:cubicBezTo>
                <a:cubicBezTo>
                  <a:pt x="3691560" y="1065351"/>
                  <a:pt x="3691560" y="1065351"/>
                  <a:pt x="210590" y="1065351"/>
                </a:cubicBezTo>
                <a:cubicBezTo>
                  <a:pt x="233491" y="1022769"/>
                  <a:pt x="256392" y="984056"/>
                  <a:pt x="279293" y="941474"/>
                </a:cubicBezTo>
                <a:close/>
                <a:moveTo>
                  <a:pt x="412943" y="752559"/>
                </a:moveTo>
                <a:lnTo>
                  <a:pt x="3492305" y="752559"/>
                </a:lnTo>
                <a:cubicBezTo>
                  <a:pt x="3522832" y="790304"/>
                  <a:pt x="3553359" y="831821"/>
                  <a:pt x="3580070" y="873341"/>
                </a:cubicBezTo>
                <a:cubicBezTo>
                  <a:pt x="3580070" y="873341"/>
                  <a:pt x="3580070" y="873341"/>
                  <a:pt x="325179" y="873341"/>
                </a:cubicBezTo>
                <a:cubicBezTo>
                  <a:pt x="351889" y="831821"/>
                  <a:pt x="382416" y="790304"/>
                  <a:pt x="412943" y="752559"/>
                </a:cubicBezTo>
                <a:close/>
                <a:moveTo>
                  <a:pt x="582189" y="560548"/>
                </a:moveTo>
                <a:cubicBezTo>
                  <a:pt x="582189" y="560548"/>
                  <a:pt x="582189" y="560548"/>
                  <a:pt x="3319963" y="560548"/>
                </a:cubicBezTo>
                <a:cubicBezTo>
                  <a:pt x="3358147" y="598509"/>
                  <a:pt x="3396330" y="636473"/>
                  <a:pt x="3434514" y="678232"/>
                </a:cubicBezTo>
                <a:cubicBezTo>
                  <a:pt x="3434514" y="678232"/>
                  <a:pt x="3434514" y="678232"/>
                  <a:pt x="467638" y="678232"/>
                </a:cubicBezTo>
                <a:cubicBezTo>
                  <a:pt x="502004" y="636473"/>
                  <a:pt x="540188" y="598509"/>
                  <a:pt x="582189" y="560548"/>
                </a:cubicBezTo>
                <a:close/>
                <a:moveTo>
                  <a:pt x="808618" y="365442"/>
                </a:moveTo>
                <a:lnTo>
                  <a:pt x="3092810" y="365442"/>
                </a:lnTo>
                <a:cubicBezTo>
                  <a:pt x="3146286" y="404154"/>
                  <a:pt x="3195943" y="446737"/>
                  <a:pt x="3245599" y="489319"/>
                </a:cubicBezTo>
                <a:cubicBezTo>
                  <a:pt x="3245599" y="489319"/>
                  <a:pt x="3245599" y="489319"/>
                  <a:pt x="659649" y="489319"/>
                </a:cubicBezTo>
                <a:cubicBezTo>
                  <a:pt x="705486" y="446737"/>
                  <a:pt x="758962" y="404154"/>
                  <a:pt x="808618" y="365442"/>
                </a:cubicBezTo>
                <a:close/>
                <a:moveTo>
                  <a:pt x="1141891" y="176527"/>
                </a:moveTo>
                <a:lnTo>
                  <a:pt x="2760259" y="176527"/>
                </a:lnTo>
                <a:cubicBezTo>
                  <a:pt x="2840413" y="210692"/>
                  <a:pt x="2912935" y="248655"/>
                  <a:pt x="2985456" y="294211"/>
                </a:cubicBezTo>
                <a:cubicBezTo>
                  <a:pt x="2985456" y="294211"/>
                  <a:pt x="2985456" y="294211"/>
                  <a:pt x="916695" y="294211"/>
                </a:cubicBezTo>
                <a:cubicBezTo>
                  <a:pt x="989215" y="248655"/>
                  <a:pt x="1065553" y="210692"/>
                  <a:pt x="1141891" y="176527"/>
                </a:cubicBezTo>
                <a:close/>
                <a:moveTo>
                  <a:pt x="1949526" y="0"/>
                </a:moveTo>
                <a:cubicBezTo>
                  <a:pt x="2171061" y="0"/>
                  <a:pt x="2381136" y="34067"/>
                  <a:pt x="2579754" y="102200"/>
                </a:cubicBezTo>
                <a:cubicBezTo>
                  <a:pt x="2579754" y="102200"/>
                  <a:pt x="2579754" y="102200"/>
                  <a:pt x="1319298" y="102200"/>
                </a:cubicBezTo>
                <a:cubicBezTo>
                  <a:pt x="1517916" y="34067"/>
                  <a:pt x="1731811" y="0"/>
                  <a:pt x="1949526" y="0"/>
                </a:cubicBezTo>
                <a:close/>
              </a:path>
            </a:pathLst>
          </a:cu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11" name="Shape 8"/>
          <p:cNvSpPr/>
          <p:nvPr/>
        </p:nvSpPr>
        <p:spPr>
          <a:xfrm rot="16680000">
            <a:off x="-121920" y="-71120"/>
            <a:ext cx="2160270" cy="1989455"/>
          </a:xfrm>
          <a:custGeom>
            <a:avLst/>
            <a:gdLst/>
            <a:ahLst/>
            <a:cxnLst/>
            <a:rect l="l" t="t" r="r" b="b"/>
            <a:pathLst>
              <a:path w="2160270" h="1989455">
                <a:moveTo>
                  <a:pt x="0" y="404000"/>
                </a:moveTo>
                <a:cubicBezTo>
                  <a:pt x="-4270" y="299551"/>
                  <a:pt x="25291" y="106748"/>
                  <a:pt x="30218" y="95252"/>
                </a:cubicBezTo>
                <a:lnTo>
                  <a:pt x="672683" y="0"/>
                </a:lnTo>
                <a:cubicBezTo>
                  <a:pt x="623742" y="90325"/>
                  <a:pt x="580057" y="311376"/>
                  <a:pt x="587283" y="404000"/>
                </a:cubicBezTo>
                <a:cubicBezTo>
                  <a:pt x="570204" y="964345"/>
                  <a:pt x="1083255" y="1415972"/>
                  <a:pt x="1585468" y="1402177"/>
                </a:cubicBezTo>
                <a:cubicBezTo>
                  <a:pt x="1754953" y="1415643"/>
                  <a:pt x="2006223" y="1319406"/>
                  <a:pt x="2070272" y="1276707"/>
                </a:cubicBezTo>
                <a:lnTo>
                  <a:pt x="2160270" y="1882050"/>
                </a:lnTo>
                <a:cubicBezTo>
                  <a:pt x="2022974" y="1946756"/>
                  <a:pt x="1709297" y="1997995"/>
                  <a:pt x="1585468" y="1989455"/>
                </a:cubicBezTo>
                <a:cubicBezTo>
                  <a:pt x="695675" y="2016717"/>
                  <a:pt x="-21678" y="1202147"/>
                  <a:pt x="0" y="404000"/>
                </a:cubicBezTo>
                <a:close/>
              </a:path>
            </a:pathLst>
          </a:custGeom>
          <a:gradFill flip="none" rotWithShape="1">
            <a:gsLst>
              <a:gs pos="0">
                <a:srgbClr val="00B0F0">
                  <a:alpha val="34000"/>
                </a:srgbClr>
              </a:gs>
              <a:gs pos="76000">
                <a:srgbClr val="00B0F0">
                  <a:alpha val="0"/>
                </a:srgbClr>
              </a:gs>
              <a:gs pos="100000">
                <a:srgbClr val="00B0F0">
                  <a:alpha val="0"/>
                </a:srgbClr>
              </a:gs>
            </a:gsLst>
            <a:lin ang="16200000" scaled="1"/>
          </a:gradFill>
        </p:spPr>
      </p:sp>
      <p:sp>
        <p:nvSpPr>
          <p:cNvPr id="12" name="Shape 9"/>
          <p:cNvSpPr/>
          <p:nvPr/>
        </p:nvSpPr>
        <p:spPr>
          <a:xfrm rot="17460000">
            <a:off x="10614660" y="325120"/>
            <a:ext cx="1136650" cy="1136650"/>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13" name="Shape 10"/>
          <p:cNvSpPr/>
          <p:nvPr/>
        </p:nvSpPr>
        <p:spPr>
          <a:xfrm rot="17460000" flipH="1" flipV="1">
            <a:off x="811530" y="5401945"/>
            <a:ext cx="3069590" cy="3069590"/>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sp>
        <p:nvSpPr>
          <p:cNvPr id="5" name="Shape 3"/>
          <p:cNvSpPr/>
          <p:nvPr/>
        </p:nvSpPr>
        <p:spPr>
          <a:xfrm>
            <a:off x="848360" y="6346190"/>
            <a:ext cx="163338" cy="153035"/>
          </a:xfrm>
          <a:prstGeom prst="rect">
            <a:avLst/>
          </a:prstGeom>
          <a:solidFill>
            <a:srgbClr val="004CC0"/>
          </a:solidFill>
        </p:spPr>
      </p:sp>
      <p:sp>
        <p:nvSpPr>
          <p:cNvPr id="6" name="Shape 4"/>
          <p:cNvSpPr/>
          <p:nvPr/>
        </p:nvSpPr>
        <p:spPr>
          <a:xfrm>
            <a:off x="1122291" y="6346190"/>
            <a:ext cx="163338" cy="153035"/>
          </a:xfrm>
          <a:prstGeom prst="rect">
            <a:avLst/>
          </a:prstGeom>
          <a:solidFill>
            <a:srgbClr val="004CC0"/>
          </a:solidFill>
        </p:spPr>
      </p:sp>
      <p:sp>
        <p:nvSpPr>
          <p:cNvPr id="7" name="Shape 5"/>
          <p:cNvSpPr/>
          <p:nvPr/>
        </p:nvSpPr>
        <p:spPr>
          <a:xfrm>
            <a:off x="1396222" y="6346190"/>
            <a:ext cx="163338" cy="153035"/>
          </a:xfrm>
          <a:prstGeom prst="rect">
            <a:avLst/>
          </a:prstGeom>
          <a:solidFill>
            <a:srgbClr val="004CC0"/>
          </a:solidFill>
        </p:spPr>
      </p:sp>
      <p:sp>
        <p:nvSpPr>
          <p:cNvPr id="8" name="Text 6"/>
          <p:cNvSpPr/>
          <p:nvPr/>
        </p:nvSpPr>
        <p:spPr>
          <a:xfrm>
            <a:off x="582930" y="211455"/>
            <a:ext cx="10151745" cy="5867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122"/>
                <a:ea typeface="MiSans" pitchFamily="34" charset="-122"/>
                <a:cs typeface="MiSans" pitchFamily="34" charset="-120"/>
              </a:rPr>
              <a:t>四层功能架构与核心技术选型</a:t>
            </a:r>
            <a:endParaRPr lang="en-US" sz="1600" dirty="0"/>
          </a:p>
        </p:txBody>
      </p:sp>
      <p:sp>
        <p:nvSpPr>
          <p:cNvPr id="9" name="Shape 7"/>
          <p:cNvSpPr/>
          <p:nvPr>
            <p:custDataLst>
              <p:tags r:id="rId1"/>
            </p:custDataLst>
          </p:nvPr>
        </p:nvSpPr>
        <p:spPr>
          <a:xfrm>
            <a:off x="706755" y="1401445"/>
            <a:ext cx="2581910" cy="4603115"/>
          </a:xfrm>
          <a:prstGeom prst="rect">
            <a:avLst/>
          </a:prstGeom>
          <a:solidFill>
            <a:srgbClr val="FFFFFF">
              <a:alpha val="20000"/>
            </a:srgbClr>
          </a:solidFill>
          <a:ln w="3175">
            <a:solidFill>
              <a:srgbClr val="BFD8FF">
                <a:alpha val="45882"/>
              </a:srgbClr>
            </a:solidFill>
            <a:prstDash val="solid"/>
          </a:ln>
        </p:spPr>
      </p:sp>
      <p:pic>
        <p:nvPicPr>
          <p:cNvPr id="10" name="Image 0" descr="https://kimi-img.moonshot.cn/pub/slides/slides_tmpl/image/25-09-04-15:50:55-d2sk9nu1bb2p4onbqelg.png"/>
          <p:cNvPicPr>
            <a:picLocks noChangeAspect="1"/>
          </p:cNvPicPr>
          <p:nvPr>
            <p:custDataLst>
              <p:tags r:id="rId2"/>
            </p:custDataLst>
          </p:nvPr>
        </p:nvPicPr>
        <p:blipFill>
          <a:blip r:embed="rId3"/>
          <a:stretch>
            <a:fillRect/>
          </a:stretch>
        </p:blipFill>
        <p:spPr>
          <a:xfrm>
            <a:off x="880745" y="1174750"/>
            <a:ext cx="926465" cy="1115695"/>
          </a:xfrm>
          <a:prstGeom prst="rect">
            <a:avLst/>
          </a:prstGeom>
        </p:spPr>
      </p:pic>
      <p:sp>
        <p:nvSpPr>
          <p:cNvPr id="11" name="Shape 8"/>
          <p:cNvSpPr/>
          <p:nvPr>
            <p:custDataLst>
              <p:tags r:id="rId4"/>
            </p:custDataLst>
          </p:nvPr>
        </p:nvSpPr>
        <p:spPr>
          <a:xfrm>
            <a:off x="1325245" y="5937885"/>
            <a:ext cx="1344930" cy="67310"/>
          </a:xfrm>
          <a:prstGeom prst="roundRect">
            <a:avLst>
              <a:gd name="adj" fmla="val 16667"/>
            </a:avLst>
          </a:prstGeom>
          <a:gradFill flip="none" rotWithShape="1">
            <a:gsLst>
              <a:gs pos="0">
                <a:srgbClr val="408CFF"/>
              </a:gs>
              <a:gs pos="71000">
                <a:srgbClr val="004CC0"/>
              </a:gs>
              <a:gs pos="100000">
                <a:srgbClr val="004CC0"/>
              </a:gs>
            </a:gsLst>
            <a:lin ang="2700000" scaled="1"/>
          </a:gradFill>
        </p:spPr>
      </p:sp>
      <p:sp>
        <p:nvSpPr>
          <p:cNvPr id="12" name="Shape 9"/>
          <p:cNvSpPr/>
          <p:nvPr>
            <p:custDataLst>
              <p:tags r:id="rId5"/>
            </p:custDataLst>
          </p:nvPr>
        </p:nvSpPr>
        <p:spPr>
          <a:xfrm>
            <a:off x="8797290" y="1401445"/>
            <a:ext cx="2581910" cy="4603115"/>
          </a:xfrm>
          <a:prstGeom prst="rect">
            <a:avLst/>
          </a:prstGeom>
          <a:solidFill>
            <a:srgbClr val="FFFFFF">
              <a:alpha val="20000"/>
            </a:srgbClr>
          </a:solidFill>
          <a:ln w="3175">
            <a:solidFill>
              <a:srgbClr val="BFD8FF">
                <a:alpha val="45882"/>
              </a:srgbClr>
            </a:solidFill>
            <a:prstDash val="solid"/>
          </a:ln>
        </p:spPr>
      </p:sp>
      <p:pic>
        <p:nvPicPr>
          <p:cNvPr id="13" name="Image 1" descr="https://kimi-img.moonshot.cn/pub/slides/slides_tmpl/image/25-09-04-15:50:55-d2sk9nu1bb2p4onbqelg.png"/>
          <p:cNvPicPr>
            <a:picLocks noChangeAspect="1"/>
          </p:cNvPicPr>
          <p:nvPr>
            <p:custDataLst>
              <p:tags r:id="rId6"/>
            </p:custDataLst>
          </p:nvPr>
        </p:nvPicPr>
        <p:blipFill>
          <a:blip r:embed="rId3"/>
          <a:stretch>
            <a:fillRect/>
          </a:stretch>
        </p:blipFill>
        <p:spPr>
          <a:xfrm>
            <a:off x="8971280" y="1174750"/>
            <a:ext cx="926465" cy="1115695"/>
          </a:xfrm>
          <a:prstGeom prst="rect">
            <a:avLst/>
          </a:prstGeom>
        </p:spPr>
      </p:pic>
      <p:sp>
        <p:nvSpPr>
          <p:cNvPr id="14" name="Shape 10"/>
          <p:cNvSpPr/>
          <p:nvPr>
            <p:custDataLst>
              <p:tags r:id="rId7"/>
            </p:custDataLst>
          </p:nvPr>
        </p:nvSpPr>
        <p:spPr>
          <a:xfrm>
            <a:off x="9415780" y="5937885"/>
            <a:ext cx="1344930" cy="67310"/>
          </a:xfrm>
          <a:prstGeom prst="roundRect">
            <a:avLst>
              <a:gd name="adj" fmla="val 16667"/>
            </a:avLst>
          </a:prstGeom>
          <a:gradFill flip="none" rotWithShape="1">
            <a:gsLst>
              <a:gs pos="0">
                <a:srgbClr val="408CFF"/>
              </a:gs>
              <a:gs pos="71000">
                <a:srgbClr val="004CC0"/>
              </a:gs>
              <a:gs pos="100000">
                <a:srgbClr val="004CC0"/>
              </a:gs>
            </a:gsLst>
            <a:lin ang="2700000" scaled="1"/>
          </a:gradFill>
        </p:spPr>
      </p:sp>
      <p:sp>
        <p:nvSpPr>
          <p:cNvPr id="15" name="Shape 11"/>
          <p:cNvSpPr/>
          <p:nvPr>
            <p:custDataLst>
              <p:tags r:id="rId8"/>
            </p:custDataLst>
          </p:nvPr>
        </p:nvSpPr>
        <p:spPr>
          <a:xfrm>
            <a:off x="3403600" y="1401445"/>
            <a:ext cx="2581910" cy="4603115"/>
          </a:xfrm>
          <a:prstGeom prst="rect">
            <a:avLst/>
          </a:prstGeom>
          <a:solidFill>
            <a:srgbClr val="FFFFFF">
              <a:alpha val="20000"/>
            </a:srgbClr>
          </a:solidFill>
          <a:ln w="3175">
            <a:solidFill>
              <a:srgbClr val="BFD8FF">
                <a:alpha val="45882"/>
              </a:srgbClr>
            </a:solidFill>
            <a:prstDash val="solid"/>
          </a:ln>
        </p:spPr>
      </p:sp>
      <p:pic>
        <p:nvPicPr>
          <p:cNvPr id="16" name="Image 2" descr="https://kimi-img.moonshot.cn/pub/slides/slides_tmpl/image/25-09-04-15:50:55-d2sk9nu1bb2p4onbqelg.png"/>
          <p:cNvPicPr>
            <a:picLocks noChangeAspect="1"/>
          </p:cNvPicPr>
          <p:nvPr>
            <p:custDataLst>
              <p:tags r:id="rId9"/>
            </p:custDataLst>
          </p:nvPr>
        </p:nvPicPr>
        <p:blipFill>
          <a:blip r:embed="rId3"/>
          <a:stretch>
            <a:fillRect/>
          </a:stretch>
        </p:blipFill>
        <p:spPr>
          <a:xfrm>
            <a:off x="3577590" y="1174750"/>
            <a:ext cx="926465" cy="1115695"/>
          </a:xfrm>
          <a:prstGeom prst="rect">
            <a:avLst/>
          </a:prstGeom>
        </p:spPr>
      </p:pic>
      <p:sp>
        <p:nvSpPr>
          <p:cNvPr id="17" name="Shape 12"/>
          <p:cNvSpPr/>
          <p:nvPr>
            <p:custDataLst>
              <p:tags r:id="rId10"/>
            </p:custDataLst>
          </p:nvPr>
        </p:nvSpPr>
        <p:spPr>
          <a:xfrm>
            <a:off x="4022090" y="5937885"/>
            <a:ext cx="1344930" cy="67310"/>
          </a:xfrm>
          <a:prstGeom prst="roundRect">
            <a:avLst>
              <a:gd name="adj" fmla="val 16667"/>
            </a:avLst>
          </a:prstGeom>
          <a:gradFill flip="none" rotWithShape="1">
            <a:gsLst>
              <a:gs pos="0">
                <a:srgbClr val="408CFF"/>
              </a:gs>
              <a:gs pos="71000">
                <a:srgbClr val="004CC0"/>
              </a:gs>
              <a:gs pos="100000">
                <a:srgbClr val="004CC0"/>
              </a:gs>
            </a:gsLst>
            <a:lin ang="2700000" scaled="1"/>
          </a:gradFill>
        </p:spPr>
      </p:sp>
      <p:sp>
        <p:nvSpPr>
          <p:cNvPr id="18" name="Shape 13"/>
          <p:cNvSpPr/>
          <p:nvPr>
            <p:custDataLst>
              <p:tags r:id="rId11"/>
            </p:custDataLst>
          </p:nvPr>
        </p:nvSpPr>
        <p:spPr>
          <a:xfrm>
            <a:off x="6100445" y="1401445"/>
            <a:ext cx="2581910" cy="4603115"/>
          </a:xfrm>
          <a:prstGeom prst="rect">
            <a:avLst/>
          </a:prstGeom>
          <a:solidFill>
            <a:srgbClr val="FFFFFF">
              <a:alpha val="20000"/>
            </a:srgbClr>
          </a:solidFill>
          <a:ln w="3175">
            <a:solidFill>
              <a:srgbClr val="BFD8FF">
                <a:alpha val="45882"/>
              </a:srgbClr>
            </a:solidFill>
            <a:prstDash val="solid"/>
          </a:ln>
        </p:spPr>
      </p:sp>
      <p:pic>
        <p:nvPicPr>
          <p:cNvPr id="19" name="Image 3" descr="https://kimi-img.moonshot.cn/pub/slides/slides_tmpl/image/25-09-04-15:50:55-d2sk9nu1bb2p4onbqelg.png"/>
          <p:cNvPicPr>
            <a:picLocks noChangeAspect="1"/>
          </p:cNvPicPr>
          <p:nvPr>
            <p:custDataLst>
              <p:tags r:id="rId12"/>
            </p:custDataLst>
          </p:nvPr>
        </p:nvPicPr>
        <p:blipFill>
          <a:blip r:embed="rId3"/>
          <a:stretch>
            <a:fillRect/>
          </a:stretch>
        </p:blipFill>
        <p:spPr>
          <a:xfrm>
            <a:off x="6274435" y="1174750"/>
            <a:ext cx="926465" cy="1115695"/>
          </a:xfrm>
          <a:prstGeom prst="rect">
            <a:avLst/>
          </a:prstGeom>
        </p:spPr>
      </p:pic>
      <p:sp>
        <p:nvSpPr>
          <p:cNvPr id="20" name="Shape 14"/>
          <p:cNvSpPr/>
          <p:nvPr>
            <p:custDataLst>
              <p:tags r:id="rId13"/>
            </p:custDataLst>
          </p:nvPr>
        </p:nvSpPr>
        <p:spPr>
          <a:xfrm>
            <a:off x="6718935" y="5937885"/>
            <a:ext cx="1344930" cy="67310"/>
          </a:xfrm>
          <a:prstGeom prst="roundRect">
            <a:avLst>
              <a:gd name="adj" fmla="val 16667"/>
            </a:avLst>
          </a:prstGeom>
          <a:gradFill flip="none" rotWithShape="1">
            <a:gsLst>
              <a:gs pos="0">
                <a:srgbClr val="408CFF"/>
              </a:gs>
              <a:gs pos="71000">
                <a:srgbClr val="004CC0"/>
              </a:gs>
              <a:gs pos="100000">
                <a:srgbClr val="004CC0"/>
              </a:gs>
            </a:gsLst>
            <a:lin ang="2700000" scaled="1"/>
          </a:gradFill>
        </p:spPr>
      </p:sp>
      <p:sp>
        <p:nvSpPr>
          <p:cNvPr id="21" name="Text 15"/>
          <p:cNvSpPr/>
          <p:nvPr>
            <p:custDataLst>
              <p:tags r:id="rId14"/>
            </p:custDataLst>
          </p:nvPr>
        </p:nvSpPr>
        <p:spPr>
          <a:xfrm>
            <a:off x="850265" y="1528445"/>
            <a:ext cx="734060" cy="424815"/>
          </a:xfrm>
          <a:prstGeom prst="rect">
            <a:avLst/>
          </a:prstGeom>
          <a:noFill/>
        </p:spPr>
        <p:txBody>
          <a:bodyPr wrap="square" lIns="91440" tIns="45720" rIns="91440" bIns="45720" rtlCol="0" anchor="t">
            <a:spAutoFit/>
          </a:bodyPr>
          <a:lstStyle/>
          <a:p>
            <a:pPr algn="ctr">
              <a:lnSpc>
                <a:spcPct val="100000"/>
              </a:lnSpc>
            </a:pPr>
            <a:r>
              <a:rPr lang="en-US" sz="2200" b="1" dirty="0">
                <a:solidFill>
                  <a:srgbClr val="FFFFFF"/>
                </a:solidFill>
                <a:latin typeface="MiSans" pitchFamily="34" charset="-122"/>
                <a:ea typeface="MiSans" pitchFamily="34" charset="-122"/>
                <a:cs typeface="MiSans" pitchFamily="34" charset="-120"/>
              </a:rPr>
              <a:t>01</a:t>
            </a:r>
            <a:endParaRPr lang="en-US" sz="1600" dirty="0"/>
          </a:p>
        </p:txBody>
      </p:sp>
      <p:sp>
        <p:nvSpPr>
          <p:cNvPr id="22" name="Text 16"/>
          <p:cNvSpPr/>
          <p:nvPr>
            <p:custDataLst>
              <p:tags r:id="rId15"/>
            </p:custDataLst>
          </p:nvPr>
        </p:nvSpPr>
        <p:spPr>
          <a:xfrm>
            <a:off x="1770380" y="1606550"/>
            <a:ext cx="1249045" cy="667385"/>
          </a:xfrm>
          <a:prstGeom prst="rect">
            <a:avLst/>
          </a:prstGeom>
          <a:noFill/>
        </p:spPr>
        <p:txBody>
          <a:bodyPr wrap="square" lIns="0" tIns="0" rIns="0" bIns="0" rtlCol="0" anchor="ctr"/>
          <a:lstStyle/>
          <a:p>
            <a:pPr algn="just">
              <a:lnSpc>
                <a:spcPct val="100000"/>
              </a:lnSpc>
            </a:pPr>
            <a:r>
              <a:rPr lang="en-US" sz="1600" b="1" dirty="0">
                <a:solidFill>
                  <a:srgbClr val="004CC0"/>
                </a:solidFill>
                <a:latin typeface="MiSans" pitchFamily="34" charset="-122"/>
                <a:ea typeface="MiSans" pitchFamily="34" charset="-122"/>
                <a:cs typeface="MiSans" pitchFamily="34" charset="-120"/>
              </a:rPr>
              <a:t>需求解析层</a:t>
            </a:r>
            <a:endParaRPr lang="en-US" sz="1600" dirty="0"/>
          </a:p>
        </p:txBody>
      </p:sp>
      <p:sp>
        <p:nvSpPr>
          <p:cNvPr id="23" name="Text 17"/>
          <p:cNvSpPr/>
          <p:nvPr>
            <p:custDataLst>
              <p:tags r:id="rId16"/>
            </p:custDataLst>
          </p:nvPr>
        </p:nvSpPr>
        <p:spPr>
          <a:xfrm>
            <a:off x="1019810" y="2479675"/>
            <a:ext cx="1955800" cy="3156585"/>
          </a:xfrm>
          <a:prstGeom prst="rect">
            <a:avLst/>
          </a:prstGeom>
          <a:noFill/>
        </p:spPr>
        <p:txBody>
          <a:bodyPr wrap="square" lIns="0" tIns="0" rIns="0" bIns="0" rtlCol="0" anchor="t"/>
          <a:lstStyle/>
          <a:p>
            <a:pPr algn="just">
              <a:lnSpc>
                <a:spcPct val="130000"/>
              </a:lnSpc>
            </a:pPr>
            <a:r>
              <a:rPr lang="en-US" sz="1400" dirty="0">
                <a:solidFill>
                  <a:srgbClr val="000000"/>
                </a:solidFill>
                <a:latin typeface="MiSans" pitchFamily="34" charset="-122"/>
                <a:ea typeface="MiSans" pitchFamily="34" charset="-122"/>
                <a:cs typeface="MiSans" pitchFamily="34" charset="-120"/>
              </a:rPr>
              <a:t>对输入自然语言进行分句、命名实体识别和语义角色标注，提取谁-做什么-为什么基本要素。</a:t>
            </a:r>
            <a:endParaRPr lang="en-US" sz="1600" dirty="0"/>
          </a:p>
        </p:txBody>
      </p:sp>
      <p:sp>
        <p:nvSpPr>
          <p:cNvPr id="24" name="Text 18"/>
          <p:cNvSpPr/>
          <p:nvPr>
            <p:custDataLst>
              <p:tags r:id="rId17"/>
            </p:custDataLst>
          </p:nvPr>
        </p:nvSpPr>
        <p:spPr>
          <a:xfrm>
            <a:off x="3547110" y="1528445"/>
            <a:ext cx="734060" cy="424815"/>
          </a:xfrm>
          <a:prstGeom prst="rect">
            <a:avLst/>
          </a:prstGeom>
          <a:noFill/>
        </p:spPr>
        <p:txBody>
          <a:bodyPr wrap="square" lIns="91440" tIns="45720" rIns="91440" bIns="45720" rtlCol="0" anchor="t">
            <a:spAutoFit/>
          </a:bodyPr>
          <a:lstStyle/>
          <a:p>
            <a:pPr algn="ctr">
              <a:lnSpc>
                <a:spcPct val="100000"/>
              </a:lnSpc>
            </a:pPr>
            <a:r>
              <a:rPr lang="en-US" sz="2200" b="1" dirty="0">
                <a:solidFill>
                  <a:srgbClr val="FFFFFF"/>
                </a:solidFill>
                <a:latin typeface="MiSans" pitchFamily="34" charset="-122"/>
                <a:ea typeface="MiSans" pitchFamily="34" charset="-122"/>
                <a:cs typeface="MiSans" pitchFamily="34" charset="-120"/>
              </a:rPr>
              <a:t>02</a:t>
            </a:r>
            <a:endParaRPr lang="en-US" sz="1600" dirty="0"/>
          </a:p>
        </p:txBody>
      </p:sp>
      <p:sp>
        <p:nvSpPr>
          <p:cNvPr id="25" name="Text 19"/>
          <p:cNvSpPr/>
          <p:nvPr>
            <p:custDataLst>
              <p:tags r:id="rId18"/>
            </p:custDataLst>
          </p:nvPr>
        </p:nvSpPr>
        <p:spPr>
          <a:xfrm>
            <a:off x="4467225" y="1606550"/>
            <a:ext cx="1249045" cy="667385"/>
          </a:xfrm>
          <a:prstGeom prst="rect">
            <a:avLst/>
          </a:prstGeom>
          <a:noFill/>
        </p:spPr>
        <p:txBody>
          <a:bodyPr wrap="square" lIns="0" tIns="0" rIns="0" bIns="0" rtlCol="0" anchor="ctr"/>
          <a:lstStyle/>
          <a:p>
            <a:pPr algn="just">
              <a:lnSpc>
                <a:spcPct val="100000"/>
              </a:lnSpc>
            </a:pPr>
            <a:r>
              <a:rPr lang="en-US" sz="1600" b="1" dirty="0">
                <a:solidFill>
                  <a:srgbClr val="004CC0"/>
                </a:solidFill>
                <a:latin typeface="MiSans" pitchFamily="34" charset="-122"/>
                <a:ea typeface="MiSans" pitchFamily="34" charset="-122"/>
                <a:cs typeface="MiSans" pitchFamily="34" charset="-120"/>
              </a:rPr>
              <a:t>知识融合层</a:t>
            </a:r>
            <a:endParaRPr lang="en-US" sz="1600" dirty="0"/>
          </a:p>
        </p:txBody>
      </p:sp>
      <p:sp>
        <p:nvSpPr>
          <p:cNvPr id="26" name="Text 20"/>
          <p:cNvSpPr/>
          <p:nvPr>
            <p:custDataLst>
              <p:tags r:id="rId19"/>
            </p:custDataLst>
          </p:nvPr>
        </p:nvSpPr>
        <p:spPr>
          <a:xfrm>
            <a:off x="3716655" y="2479675"/>
            <a:ext cx="1955800" cy="3156585"/>
          </a:xfrm>
          <a:prstGeom prst="rect">
            <a:avLst/>
          </a:prstGeom>
          <a:noFill/>
        </p:spPr>
        <p:txBody>
          <a:bodyPr wrap="square" lIns="0" tIns="0" rIns="0" bIns="0" rtlCol="0" anchor="t"/>
          <a:lstStyle/>
          <a:p>
            <a:pPr algn="just">
              <a:lnSpc>
                <a:spcPct val="130000"/>
              </a:lnSpc>
            </a:pPr>
            <a:r>
              <a:rPr lang="en-US" sz="1400" dirty="0">
                <a:solidFill>
                  <a:srgbClr val="000000"/>
                </a:solidFill>
                <a:latin typeface="MiSans" pitchFamily="34" charset="-122"/>
                <a:ea typeface="MiSans" pitchFamily="34" charset="-122"/>
                <a:cs typeface="MiSans" pitchFamily="34" charset="-120"/>
              </a:rPr>
              <a:t>引入轻量级领域知识图谱，解决术语歧义、概念关联和缺失信息问题，实现标准化映射。</a:t>
            </a:r>
            <a:endParaRPr lang="en-US" sz="1600" dirty="0"/>
          </a:p>
        </p:txBody>
      </p:sp>
      <p:sp>
        <p:nvSpPr>
          <p:cNvPr id="27" name="Text 21"/>
          <p:cNvSpPr/>
          <p:nvPr>
            <p:custDataLst>
              <p:tags r:id="rId20"/>
            </p:custDataLst>
          </p:nvPr>
        </p:nvSpPr>
        <p:spPr>
          <a:xfrm>
            <a:off x="6243955" y="1528445"/>
            <a:ext cx="734060" cy="424815"/>
          </a:xfrm>
          <a:prstGeom prst="rect">
            <a:avLst/>
          </a:prstGeom>
          <a:noFill/>
        </p:spPr>
        <p:txBody>
          <a:bodyPr wrap="square" lIns="91440" tIns="45720" rIns="91440" bIns="45720" rtlCol="0" anchor="t">
            <a:spAutoFit/>
          </a:bodyPr>
          <a:lstStyle/>
          <a:p>
            <a:pPr algn="ctr">
              <a:lnSpc>
                <a:spcPct val="100000"/>
              </a:lnSpc>
            </a:pPr>
            <a:r>
              <a:rPr lang="en-US" sz="2200" b="1" dirty="0">
                <a:solidFill>
                  <a:srgbClr val="FFFFFF"/>
                </a:solidFill>
                <a:latin typeface="MiSans" pitchFamily="34" charset="-122"/>
                <a:ea typeface="MiSans" pitchFamily="34" charset="-122"/>
                <a:cs typeface="MiSans" pitchFamily="34" charset="-120"/>
              </a:rPr>
              <a:t>03</a:t>
            </a:r>
            <a:endParaRPr lang="en-US" sz="1600" dirty="0"/>
          </a:p>
        </p:txBody>
      </p:sp>
      <p:sp>
        <p:nvSpPr>
          <p:cNvPr id="28" name="Text 22"/>
          <p:cNvSpPr/>
          <p:nvPr>
            <p:custDataLst>
              <p:tags r:id="rId21"/>
            </p:custDataLst>
          </p:nvPr>
        </p:nvSpPr>
        <p:spPr>
          <a:xfrm>
            <a:off x="7164070" y="1606550"/>
            <a:ext cx="1249045" cy="667385"/>
          </a:xfrm>
          <a:prstGeom prst="rect">
            <a:avLst/>
          </a:prstGeom>
          <a:noFill/>
        </p:spPr>
        <p:txBody>
          <a:bodyPr wrap="square" lIns="0" tIns="0" rIns="0" bIns="0" rtlCol="0" anchor="ctr"/>
          <a:lstStyle/>
          <a:p>
            <a:pPr algn="just">
              <a:lnSpc>
                <a:spcPct val="100000"/>
              </a:lnSpc>
            </a:pPr>
            <a:r>
              <a:rPr lang="en-US" sz="1600" b="1" dirty="0">
                <a:solidFill>
                  <a:srgbClr val="004CC0"/>
                </a:solidFill>
                <a:latin typeface="MiSans" pitchFamily="34" charset="-122"/>
                <a:ea typeface="MiSans" pitchFamily="34" charset="-122"/>
                <a:cs typeface="MiSans" pitchFamily="34" charset="-120"/>
              </a:rPr>
              <a:t>故事生成与任务推理层</a:t>
            </a:r>
            <a:endParaRPr lang="en-US" sz="1600" dirty="0"/>
          </a:p>
        </p:txBody>
      </p:sp>
      <p:sp>
        <p:nvSpPr>
          <p:cNvPr id="29" name="Text 23"/>
          <p:cNvSpPr/>
          <p:nvPr>
            <p:custDataLst>
              <p:tags r:id="rId22"/>
            </p:custDataLst>
          </p:nvPr>
        </p:nvSpPr>
        <p:spPr>
          <a:xfrm>
            <a:off x="6413500" y="2479675"/>
            <a:ext cx="1955800" cy="3156585"/>
          </a:xfrm>
          <a:prstGeom prst="rect">
            <a:avLst/>
          </a:prstGeom>
          <a:noFill/>
        </p:spPr>
        <p:txBody>
          <a:bodyPr wrap="square" lIns="0" tIns="0" rIns="0" bIns="0" rtlCol="0" anchor="t"/>
          <a:lstStyle/>
          <a:p>
            <a:pPr algn="just">
              <a:lnSpc>
                <a:spcPct val="130000"/>
              </a:lnSpc>
            </a:pPr>
            <a:r>
              <a:rPr lang="en-US" sz="1400" dirty="0">
                <a:solidFill>
                  <a:srgbClr val="000000"/>
                </a:solidFill>
                <a:latin typeface="MiSans" pitchFamily="34" charset="-122"/>
                <a:ea typeface="MiSans" pitchFamily="34" charset="-122"/>
                <a:cs typeface="MiSans" pitchFamily="34" charset="-120"/>
              </a:rPr>
              <a:t>基于敏捷模板自动生成用户故事，结合任务模式拆解为子任务，建立依赖与异常路径。</a:t>
            </a:r>
            <a:endParaRPr lang="en-US" sz="1600" dirty="0"/>
          </a:p>
        </p:txBody>
      </p:sp>
      <p:sp>
        <p:nvSpPr>
          <p:cNvPr id="30" name="Text 24"/>
          <p:cNvSpPr/>
          <p:nvPr>
            <p:custDataLst>
              <p:tags r:id="rId23"/>
            </p:custDataLst>
          </p:nvPr>
        </p:nvSpPr>
        <p:spPr>
          <a:xfrm>
            <a:off x="8940800" y="1528445"/>
            <a:ext cx="734060" cy="424815"/>
          </a:xfrm>
          <a:prstGeom prst="rect">
            <a:avLst/>
          </a:prstGeom>
          <a:noFill/>
        </p:spPr>
        <p:txBody>
          <a:bodyPr wrap="square" lIns="91440" tIns="45720" rIns="91440" bIns="45720" rtlCol="0" anchor="t">
            <a:spAutoFit/>
          </a:bodyPr>
          <a:lstStyle/>
          <a:p>
            <a:pPr algn="ctr">
              <a:lnSpc>
                <a:spcPct val="100000"/>
              </a:lnSpc>
            </a:pPr>
            <a:r>
              <a:rPr lang="en-US" sz="2200" b="1" dirty="0">
                <a:solidFill>
                  <a:srgbClr val="FFFFFF"/>
                </a:solidFill>
                <a:latin typeface="MiSans" pitchFamily="34" charset="-122"/>
                <a:ea typeface="MiSans" pitchFamily="34" charset="-122"/>
                <a:cs typeface="MiSans" pitchFamily="34" charset="-120"/>
              </a:rPr>
              <a:t>04</a:t>
            </a:r>
            <a:endParaRPr lang="en-US" sz="1600" dirty="0"/>
          </a:p>
        </p:txBody>
      </p:sp>
      <p:sp>
        <p:nvSpPr>
          <p:cNvPr id="31" name="Text 25"/>
          <p:cNvSpPr/>
          <p:nvPr>
            <p:custDataLst>
              <p:tags r:id="rId24"/>
            </p:custDataLst>
          </p:nvPr>
        </p:nvSpPr>
        <p:spPr>
          <a:xfrm>
            <a:off x="9860915" y="1606550"/>
            <a:ext cx="1249045" cy="667385"/>
          </a:xfrm>
          <a:prstGeom prst="rect">
            <a:avLst/>
          </a:prstGeom>
          <a:noFill/>
        </p:spPr>
        <p:txBody>
          <a:bodyPr wrap="square" lIns="0" tIns="0" rIns="0" bIns="0" rtlCol="0" anchor="ctr"/>
          <a:lstStyle/>
          <a:p>
            <a:pPr algn="just">
              <a:lnSpc>
                <a:spcPct val="100000"/>
              </a:lnSpc>
            </a:pPr>
            <a:r>
              <a:rPr lang="en-US" sz="1600" b="1" dirty="0">
                <a:solidFill>
                  <a:srgbClr val="004CC0"/>
                </a:solidFill>
                <a:latin typeface="MiSans" pitchFamily="34" charset="-122"/>
                <a:ea typeface="MiSans" pitchFamily="34" charset="-122"/>
                <a:cs typeface="MiSans" pitchFamily="34" charset="-120"/>
              </a:rPr>
              <a:t>可视化交互层</a:t>
            </a:r>
            <a:endParaRPr lang="en-US" sz="1600" dirty="0"/>
          </a:p>
        </p:txBody>
      </p:sp>
      <p:sp>
        <p:nvSpPr>
          <p:cNvPr id="32" name="Text 26"/>
          <p:cNvSpPr/>
          <p:nvPr>
            <p:custDataLst>
              <p:tags r:id="rId25"/>
            </p:custDataLst>
          </p:nvPr>
        </p:nvSpPr>
        <p:spPr>
          <a:xfrm>
            <a:off x="9110345" y="2479675"/>
            <a:ext cx="1955800" cy="3156585"/>
          </a:xfrm>
          <a:prstGeom prst="rect">
            <a:avLst/>
          </a:prstGeom>
          <a:noFill/>
        </p:spPr>
        <p:txBody>
          <a:bodyPr wrap="square" lIns="0" tIns="0" rIns="0" bIns="0" rtlCol="0" anchor="t"/>
          <a:lstStyle/>
          <a:p>
            <a:pPr algn="just">
              <a:lnSpc>
                <a:spcPct val="130000"/>
              </a:lnSpc>
            </a:pPr>
            <a:r>
              <a:rPr lang="en-US" sz="1400" dirty="0">
                <a:solidFill>
                  <a:srgbClr val="000000"/>
                </a:solidFill>
                <a:latin typeface="MiSans" pitchFamily="34" charset="-122"/>
                <a:ea typeface="MiSans" pitchFamily="34" charset="-122"/>
                <a:cs typeface="MiSans" pitchFamily="34" charset="-120"/>
              </a:rPr>
              <a:t>提供故事卡片、任务清单和依赖关系图谱，支持查看、修改及导出。</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sp>
        <p:nvSpPr>
          <p:cNvPr id="5" name="Shape 3"/>
          <p:cNvSpPr/>
          <p:nvPr/>
        </p:nvSpPr>
        <p:spPr>
          <a:xfrm flipV="1">
            <a:off x="-1905" y="0"/>
            <a:ext cx="7306945" cy="6858000"/>
          </a:xfrm>
          <a:prstGeom prst="round1Rect">
            <a:avLst>
              <a:gd name="adj" fmla="val 16667"/>
            </a:avLst>
          </a:prstGeom>
          <a:solidFill>
            <a:srgbClr val="000000">
              <a:alpha val="0"/>
            </a:srgbClr>
          </a:solidFill>
        </p:spPr>
      </p:sp>
      <p:sp>
        <p:nvSpPr>
          <p:cNvPr id="6" name="Shape 4"/>
          <p:cNvSpPr/>
          <p:nvPr/>
        </p:nvSpPr>
        <p:spPr>
          <a:xfrm>
            <a:off x="848360" y="6346190"/>
            <a:ext cx="163338" cy="153035"/>
          </a:xfrm>
          <a:prstGeom prst="rect">
            <a:avLst/>
          </a:prstGeom>
          <a:solidFill>
            <a:srgbClr val="004CC0"/>
          </a:solidFill>
        </p:spPr>
      </p:sp>
      <p:sp>
        <p:nvSpPr>
          <p:cNvPr id="7" name="Shape 5"/>
          <p:cNvSpPr/>
          <p:nvPr/>
        </p:nvSpPr>
        <p:spPr>
          <a:xfrm>
            <a:off x="1122291" y="6346190"/>
            <a:ext cx="163338" cy="153035"/>
          </a:xfrm>
          <a:prstGeom prst="rect">
            <a:avLst/>
          </a:prstGeom>
          <a:solidFill>
            <a:srgbClr val="004CC0"/>
          </a:solidFill>
        </p:spPr>
      </p:sp>
      <p:sp>
        <p:nvSpPr>
          <p:cNvPr id="8" name="Shape 6"/>
          <p:cNvSpPr/>
          <p:nvPr/>
        </p:nvSpPr>
        <p:spPr>
          <a:xfrm>
            <a:off x="1396222" y="6346190"/>
            <a:ext cx="163338" cy="153035"/>
          </a:xfrm>
          <a:prstGeom prst="rect">
            <a:avLst/>
          </a:prstGeom>
          <a:solidFill>
            <a:srgbClr val="004CC0"/>
          </a:solidFill>
        </p:spPr>
      </p:sp>
      <p:sp>
        <p:nvSpPr>
          <p:cNvPr id="9" name="Text 7"/>
          <p:cNvSpPr/>
          <p:nvPr/>
        </p:nvSpPr>
        <p:spPr>
          <a:xfrm>
            <a:off x="582930" y="211455"/>
            <a:ext cx="10151745" cy="5867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122"/>
                <a:ea typeface="MiSans" pitchFamily="34" charset="-122"/>
                <a:cs typeface="MiSans" pitchFamily="34" charset="-120"/>
              </a:rPr>
              <a:t>轻量级领域知识库的构建策略</a:t>
            </a:r>
            <a:endParaRPr lang="en-US" sz="1600" dirty="0"/>
          </a:p>
        </p:txBody>
      </p:sp>
      <p:sp>
        <p:nvSpPr>
          <p:cNvPr id="10" name="Shape 8"/>
          <p:cNvSpPr/>
          <p:nvPr/>
        </p:nvSpPr>
        <p:spPr>
          <a:xfrm flipH="1">
            <a:off x="6159661" y="5695950"/>
            <a:ext cx="2279328" cy="1162050"/>
          </a:xfrm>
          <a:custGeom>
            <a:avLst/>
            <a:gdLst/>
            <a:ahLst/>
            <a:cxnLst/>
            <a:rect l="l" t="t" r="r" b="b"/>
            <a:pathLst>
              <a:path w="2279328" h="1162050">
                <a:moveTo>
                  <a:pt x="2279328" y="1150620"/>
                </a:moveTo>
                <a:cubicBezTo>
                  <a:pt x="1688697" y="1161415"/>
                  <a:pt x="1119024" y="480060"/>
                  <a:pt x="1139982" y="0"/>
                </a:cubicBezTo>
                <a:cubicBezTo>
                  <a:pt x="1150143" y="607060"/>
                  <a:pt x="506800" y="1145540"/>
                  <a:pt x="0" y="1150620"/>
                </a:cubicBezTo>
                <a:cubicBezTo>
                  <a:pt x="49537" y="1149985"/>
                  <a:pt x="99074" y="1153795"/>
                  <a:pt x="147975" y="1162050"/>
                </a:cubicBezTo>
                <a:lnTo>
                  <a:pt x="2161837" y="1162050"/>
                </a:lnTo>
                <a:cubicBezTo>
                  <a:pt x="2201847" y="1155065"/>
                  <a:pt x="2241223" y="1151255"/>
                  <a:pt x="2279328" y="1150620"/>
                </a:cubicBezTo>
                <a:close/>
              </a:path>
            </a:pathLst>
          </a:custGeom>
          <a:solidFill>
            <a:srgbClr val="004CC0"/>
          </a:solidFill>
        </p:spPr>
      </p:sp>
      <p:sp>
        <p:nvSpPr>
          <p:cNvPr id="11" name="Shape 9"/>
          <p:cNvSpPr/>
          <p:nvPr/>
        </p:nvSpPr>
        <p:spPr>
          <a:xfrm flipH="1">
            <a:off x="11388725" y="422910"/>
            <a:ext cx="614680" cy="575310"/>
          </a:xfrm>
          <a:custGeom>
            <a:avLst/>
            <a:gdLst/>
            <a:ahLst/>
            <a:cxnLst/>
            <a:rect l="l" t="t" r="r" b="b"/>
            <a:pathLst>
              <a:path w="614680" h="575310">
                <a:moveTo>
                  <a:pt x="614680" y="287655"/>
                </a:moveTo>
                <a:lnTo>
                  <a:pt x="606766" y="287655"/>
                </a:lnTo>
                <a:lnTo>
                  <a:pt x="598851" y="287655"/>
                </a:lnTo>
                <a:lnTo>
                  <a:pt x="592256" y="287655"/>
                </a:lnTo>
                <a:lnTo>
                  <a:pt x="592256" y="287655"/>
                </a:lnTo>
                <a:lnTo>
                  <a:pt x="600170" y="287655"/>
                </a:lnTo>
                <a:lnTo>
                  <a:pt x="606766" y="287655"/>
                </a:lnTo>
                <a:lnTo>
                  <a:pt x="614680" y="287655"/>
                </a:lnTo>
                <a:close/>
                <a:moveTo>
                  <a:pt x="592256" y="287655"/>
                </a:moveTo>
                <a:cubicBezTo>
                  <a:pt x="444522" y="290294"/>
                  <a:pt x="302064" y="120076"/>
                  <a:pt x="307340" y="0"/>
                </a:cubicBezTo>
                <a:cubicBezTo>
                  <a:pt x="309978" y="151745"/>
                  <a:pt x="149053" y="286335"/>
                  <a:pt x="22424" y="287655"/>
                </a:cubicBezTo>
                <a:cubicBezTo>
                  <a:pt x="170158" y="285016"/>
                  <a:pt x="312616" y="455234"/>
                  <a:pt x="307340" y="575310"/>
                </a:cubicBezTo>
                <a:cubicBezTo>
                  <a:pt x="304702" y="424885"/>
                  <a:pt x="465627" y="290294"/>
                  <a:pt x="592256" y="287655"/>
                </a:cubicBezTo>
                <a:close/>
                <a:moveTo>
                  <a:pt x="22424" y="287655"/>
                </a:moveTo>
                <a:lnTo>
                  <a:pt x="21105" y="287655"/>
                </a:lnTo>
                <a:lnTo>
                  <a:pt x="14510" y="287655"/>
                </a:lnTo>
                <a:lnTo>
                  <a:pt x="6595" y="287655"/>
                </a:lnTo>
                <a:lnTo>
                  <a:pt x="0" y="287655"/>
                </a:lnTo>
                <a:lnTo>
                  <a:pt x="7914" y="287655"/>
                </a:lnTo>
                <a:lnTo>
                  <a:pt x="15829" y="287655"/>
                </a:lnTo>
                <a:lnTo>
                  <a:pt x="22424" y="287655"/>
                </a:lnTo>
                <a:close/>
              </a:path>
            </a:pathLst>
          </a:custGeom>
          <a:solidFill>
            <a:srgbClr val="FFFFFF"/>
          </a:solidFill>
        </p:spPr>
      </p:sp>
      <p:sp>
        <p:nvSpPr>
          <p:cNvPr id="12" name="Shape 10"/>
          <p:cNvSpPr/>
          <p:nvPr/>
        </p:nvSpPr>
        <p:spPr>
          <a:xfrm flipH="1">
            <a:off x="11549380" y="5598160"/>
            <a:ext cx="293370" cy="274955"/>
          </a:xfrm>
          <a:custGeom>
            <a:avLst/>
            <a:gdLst/>
            <a:ahLst/>
            <a:cxnLst/>
            <a:rect l="l" t="t" r="r" b="b"/>
            <a:pathLst>
              <a:path w="293370" h="274955">
                <a:moveTo>
                  <a:pt x="293370" y="137478"/>
                </a:moveTo>
                <a:lnTo>
                  <a:pt x="289593" y="137478"/>
                </a:lnTo>
                <a:lnTo>
                  <a:pt x="285815" y="137478"/>
                </a:lnTo>
                <a:lnTo>
                  <a:pt x="282668" y="137478"/>
                </a:lnTo>
                <a:lnTo>
                  <a:pt x="282668" y="137478"/>
                </a:lnTo>
                <a:lnTo>
                  <a:pt x="286445" y="137478"/>
                </a:lnTo>
                <a:lnTo>
                  <a:pt x="289593" y="137478"/>
                </a:lnTo>
                <a:lnTo>
                  <a:pt x="293370" y="137478"/>
                </a:lnTo>
                <a:close/>
                <a:moveTo>
                  <a:pt x="282668" y="137478"/>
                </a:moveTo>
                <a:cubicBezTo>
                  <a:pt x="212158" y="138739"/>
                  <a:pt x="144167" y="57387"/>
                  <a:pt x="146685" y="0"/>
                </a:cubicBezTo>
                <a:cubicBezTo>
                  <a:pt x="147944" y="72523"/>
                  <a:pt x="71139" y="136847"/>
                  <a:pt x="10702" y="137478"/>
                </a:cubicBezTo>
                <a:cubicBezTo>
                  <a:pt x="81212" y="136216"/>
                  <a:pt x="149203" y="217568"/>
                  <a:pt x="146685" y="274955"/>
                </a:cubicBezTo>
                <a:cubicBezTo>
                  <a:pt x="145426" y="203063"/>
                  <a:pt x="222231" y="138739"/>
                  <a:pt x="282668" y="137478"/>
                </a:cubicBezTo>
                <a:close/>
                <a:moveTo>
                  <a:pt x="10702" y="137478"/>
                </a:moveTo>
                <a:lnTo>
                  <a:pt x="10073" y="137478"/>
                </a:lnTo>
                <a:lnTo>
                  <a:pt x="6925" y="137478"/>
                </a:lnTo>
                <a:lnTo>
                  <a:pt x="3148" y="137478"/>
                </a:lnTo>
                <a:lnTo>
                  <a:pt x="0" y="137478"/>
                </a:lnTo>
                <a:lnTo>
                  <a:pt x="3777" y="137478"/>
                </a:lnTo>
                <a:lnTo>
                  <a:pt x="7555" y="137478"/>
                </a:lnTo>
                <a:lnTo>
                  <a:pt x="10702" y="137478"/>
                </a:lnTo>
                <a:close/>
              </a:path>
            </a:pathLst>
          </a:custGeom>
          <a:solidFill>
            <a:srgbClr val="FFFFFF"/>
          </a:solidFill>
        </p:spPr>
      </p:sp>
      <p:sp>
        <p:nvSpPr>
          <p:cNvPr id="13" name="Shape 11"/>
          <p:cNvSpPr/>
          <p:nvPr/>
        </p:nvSpPr>
        <p:spPr>
          <a:xfrm flipH="1">
            <a:off x="11549380" y="6125210"/>
            <a:ext cx="293370" cy="274955"/>
          </a:xfrm>
          <a:custGeom>
            <a:avLst/>
            <a:gdLst/>
            <a:ahLst/>
            <a:cxnLst/>
            <a:rect l="l" t="t" r="r" b="b"/>
            <a:pathLst>
              <a:path w="293370" h="274955">
                <a:moveTo>
                  <a:pt x="293370" y="137478"/>
                </a:moveTo>
                <a:lnTo>
                  <a:pt x="289593" y="137478"/>
                </a:lnTo>
                <a:lnTo>
                  <a:pt x="285815" y="137478"/>
                </a:lnTo>
                <a:lnTo>
                  <a:pt x="282668" y="137478"/>
                </a:lnTo>
                <a:lnTo>
                  <a:pt x="282668" y="137478"/>
                </a:lnTo>
                <a:lnTo>
                  <a:pt x="286445" y="137478"/>
                </a:lnTo>
                <a:lnTo>
                  <a:pt x="289593" y="137478"/>
                </a:lnTo>
                <a:lnTo>
                  <a:pt x="293370" y="137478"/>
                </a:lnTo>
                <a:close/>
                <a:moveTo>
                  <a:pt x="282668" y="137478"/>
                </a:moveTo>
                <a:cubicBezTo>
                  <a:pt x="212158" y="138739"/>
                  <a:pt x="144167" y="57387"/>
                  <a:pt x="146685" y="0"/>
                </a:cubicBezTo>
                <a:cubicBezTo>
                  <a:pt x="147944" y="72523"/>
                  <a:pt x="71139" y="136847"/>
                  <a:pt x="10702" y="137478"/>
                </a:cubicBezTo>
                <a:cubicBezTo>
                  <a:pt x="81212" y="136216"/>
                  <a:pt x="149203" y="217568"/>
                  <a:pt x="146685" y="274955"/>
                </a:cubicBezTo>
                <a:cubicBezTo>
                  <a:pt x="145426" y="203063"/>
                  <a:pt x="222231" y="138739"/>
                  <a:pt x="282668" y="137478"/>
                </a:cubicBezTo>
                <a:close/>
                <a:moveTo>
                  <a:pt x="10702" y="137478"/>
                </a:moveTo>
                <a:lnTo>
                  <a:pt x="10073" y="137478"/>
                </a:lnTo>
                <a:lnTo>
                  <a:pt x="6925" y="137478"/>
                </a:lnTo>
                <a:lnTo>
                  <a:pt x="3148" y="137478"/>
                </a:lnTo>
                <a:lnTo>
                  <a:pt x="0" y="137478"/>
                </a:lnTo>
                <a:lnTo>
                  <a:pt x="3777" y="137478"/>
                </a:lnTo>
                <a:lnTo>
                  <a:pt x="7555" y="137478"/>
                </a:lnTo>
                <a:lnTo>
                  <a:pt x="10702" y="137478"/>
                </a:lnTo>
                <a:close/>
              </a:path>
            </a:pathLst>
          </a:custGeom>
          <a:solidFill>
            <a:srgbClr val="FFFFFF"/>
          </a:solidFill>
        </p:spPr>
      </p:sp>
      <p:sp>
        <p:nvSpPr>
          <p:cNvPr id="14" name="Shape 12"/>
          <p:cNvSpPr/>
          <p:nvPr/>
        </p:nvSpPr>
        <p:spPr>
          <a:xfrm flipH="1">
            <a:off x="11549380" y="5071110"/>
            <a:ext cx="293370" cy="274955"/>
          </a:xfrm>
          <a:custGeom>
            <a:avLst/>
            <a:gdLst/>
            <a:ahLst/>
            <a:cxnLst/>
            <a:rect l="l" t="t" r="r" b="b"/>
            <a:pathLst>
              <a:path w="293370" h="274955">
                <a:moveTo>
                  <a:pt x="293370" y="137478"/>
                </a:moveTo>
                <a:lnTo>
                  <a:pt x="289593" y="137478"/>
                </a:lnTo>
                <a:lnTo>
                  <a:pt x="285815" y="137478"/>
                </a:lnTo>
                <a:lnTo>
                  <a:pt x="282668" y="137478"/>
                </a:lnTo>
                <a:lnTo>
                  <a:pt x="282668" y="137478"/>
                </a:lnTo>
                <a:lnTo>
                  <a:pt x="286445" y="137478"/>
                </a:lnTo>
                <a:lnTo>
                  <a:pt x="289593" y="137478"/>
                </a:lnTo>
                <a:lnTo>
                  <a:pt x="293370" y="137478"/>
                </a:lnTo>
                <a:close/>
                <a:moveTo>
                  <a:pt x="282668" y="137478"/>
                </a:moveTo>
                <a:cubicBezTo>
                  <a:pt x="212158" y="138739"/>
                  <a:pt x="144167" y="57387"/>
                  <a:pt x="146685" y="0"/>
                </a:cubicBezTo>
                <a:cubicBezTo>
                  <a:pt x="147944" y="72523"/>
                  <a:pt x="71139" y="136847"/>
                  <a:pt x="10702" y="137478"/>
                </a:cubicBezTo>
                <a:cubicBezTo>
                  <a:pt x="81212" y="136216"/>
                  <a:pt x="149203" y="217568"/>
                  <a:pt x="146685" y="274955"/>
                </a:cubicBezTo>
                <a:cubicBezTo>
                  <a:pt x="145426" y="203063"/>
                  <a:pt x="222231" y="138739"/>
                  <a:pt x="282668" y="137478"/>
                </a:cubicBezTo>
                <a:close/>
                <a:moveTo>
                  <a:pt x="10702" y="137478"/>
                </a:moveTo>
                <a:lnTo>
                  <a:pt x="10073" y="137478"/>
                </a:lnTo>
                <a:lnTo>
                  <a:pt x="6925" y="137478"/>
                </a:lnTo>
                <a:lnTo>
                  <a:pt x="3148" y="137478"/>
                </a:lnTo>
                <a:lnTo>
                  <a:pt x="0" y="137478"/>
                </a:lnTo>
                <a:lnTo>
                  <a:pt x="3777" y="137478"/>
                </a:lnTo>
                <a:lnTo>
                  <a:pt x="7555" y="137478"/>
                </a:lnTo>
                <a:lnTo>
                  <a:pt x="10702" y="137478"/>
                </a:lnTo>
                <a:close/>
              </a:path>
            </a:pathLst>
          </a:custGeom>
          <a:solidFill>
            <a:srgbClr val="FFFFFF"/>
          </a:solidFill>
        </p:spPr>
      </p:sp>
      <p:sp>
        <p:nvSpPr>
          <p:cNvPr id="15" name="Shape 13"/>
          <p:cNvSpPr/>
          <p:nvPr/>
        </p:nvSpPr>
        <p:spPr>
          <a:xfrm>
            <a:off x="11696065" y="1156335"/>
            <a:ext cx="0" cy="3600000"/>
          </a:xfrm>
          <a:prstGeom prst="line">
            <a:avLst/>
          </a:prstGeom>
          <a:noFill/>
          <a:ln w="19050">
            <a:solidFill>
              <a:srgbClr val="FFFFFF"/>
            </a:solidFill>
            <a:prstDash val="solid"/>
            <a:headEnd type="none"/>
            <a:tailEnd type="none"/>
          </a:ln>
        </p:spPr>
      </p:sp>
      <p:pic>
        <p:nvPicPr>
          <p:cNvPr id="16" name="Image 0" descr="https://kimi-img.moonshot.cn/pub/slides/slides_tmpl/image/25-09-04-15:50:52-d2sk9n61bb2p4onbqeeg.png"/>
          <p:cNvPicPr>
            <a:picLocks noChangeAspect="1"/>
          </p:cNvPicPr>
          <p:nvPr>
            <p:custDataLst>
              <p:tags r:id="rId1"/>
            </p:custDataLst>
          </p:nvPr>
        </p:nvPicPr>
        <p:blipFill>
          <a:blip r:embed="rId2"/>
          <a:srcRect/>
          <a:stretch>
            <a:fillRect/>
          </a:stretch>
        </p:blipFill>
        <p:spPr>
          <a:xfrm>
            <a:off x="684530" y="1392059"/>
            <a:ext cx="6019800" cy="546100"/>
          </a:xfrm>
          <a:prstGeom prst="rect">
            <a:avLst/>
          </a:prstGeom>
        </p:spPr>
      </p:pic>
      <p:pic>
        <p:nvPicPr>
          <p:cNvPr id="17" name="Image 1" descr="https://kimi-img.moonshot.cn/pub/slides/slides_tmpl/image/25-09-04-15:50:52-d2sk9n61bb2p4onbqef0.png"/>
          <p:cNvPicPr>
            <a:picLocks noChangeAspect="1"/>
          </p:cNvPicPr>
          <p:nvPr>
            <p:custDataLst>
              <p:tags r:id="rId3"/>
            </p:custDataLst>
          </p:nvPr>
        </p:nvPicPr>
        <p:blipFill>
          <a:blip r:embed="rId4"/>
          <a:srcRect/>
          <a:stretch>
            <a:fillRect/>
          </a:stretch>
        </p:blipFill>
        <p:spPr>
          <a:xfrm>
            <a:off x="779146" y="3830954"/>
            <a:ext cx="6032500" cy="546100"/>
          </a:xfrm>
          <a:prstGeom prst="rect">
            <a:avLst/>
          </a:prstGeom>
        </p:spPr>
      </p:pic>
      <p:sp>
        <p:nvSpPr>
          <p:cNvPr id="18" name="Shape 14"/>
          <p:cNvSpPr/>
          <p:nvPr/>
        </p:nvSpPr>
        <p:spPr>
          <a:xfrm flipH="1" flipV="1">
            <a:off x="11056781" y="0"/>
            <a:ext cx="1135219" cy="1058229"/>
          </a:xfrm>
          <a:custGeom>
            <a:avLst/>
            <a:gdLst/>
            <a:ahLst/>
            <a:cxnLst/>
            <a:rect l="l" t="t" r="r" b="b"/>
            <a:pathLst>
              <a:path w="1135219" h="1058229">
                <a:moveTo>
                  <a:pt x="1135219" y="1046802"/>
                </a:moveTo>
                <a:cubicBezTo>
                  <a:pt x="586022" y="1056325"/>
                  <a:pt x="55237" y="468490"/>
                  <a:pt x="0" y="0"/>
                </a:cubicBezTo>
                <a:lnTo>
                  <a:pt x="0" y="1058229"/>
                </a:lnTo>
                <a:lnTo>
                  <a:pt x="1017761" y="1058229"/>
                </a:lnTo>
                <a:cubicBezTo>
                  <a:pt x="1057760" y="1051246"/>
                  <a:pt x="1097124" y="1047437"/>
                  <a:pt x="1135219" y="1046802"/>
                </a:cubicBezTo>
                <a:close/>
              </a:path>
            </a:pathLst>
          </a:custGeom>
          <a:solidFill>
            <a:srgbClr val="004CC0"/>
          </a:solidFill>
        </p:spPr>
      </p:sp>
      <p:sp>
        <p:nvSpPr>
          <p:cNvPr id="19" name="Text 15"/>
          <p:cNvSpPr/>
          <p:nvPr>
            <p:custDataLst>
              <p:tags r:id="rId5"/>
            </p:custDataLst>
          </p:nvPr>
        </p:nvSpPr>
        <p:spPr>
          <a:xfrm>
            <a:off x="684530" y="1417320"/>
            <a:ext cx="5901055" cy="402590"/>
          </a:xfrm>
          <a:prstGeom prst="rect">
            <a:avLst/>
          </a:prstGeom>
          <a:noFill/>
        </p:spPr>
        <p:txBody>
          <a:bodyPr wrap="square" lIns="91440" tIns="45720" rIns="91440" bIns="45720" rtlCol="0" anchor="t">
            <a:spAutoFit/>
          </a:bodyPr>
          <a:lstStyle/>
          <a:p>
            <a:pPr algn="ctr">
              <a:lnSpc>
                <a:spcPct val="100000"/>
              </a:lnSpc>
            </a:pPr>
            <a:r>
              <a:rPr lang="en-US" sz="2000" dirty="0">
                <a:solidFill>
                  <a:srgbClr val="FFFFFF"/>
                </a:solidFill>
                <a:latin typeface="MiSans" pitchFamily="34" charset="-122"/>
                <a:ea typeface="MiSans" pitchFamily="34" charset="-122"/>
                <a:cs typeface="MiSans" pitchFamily="34" charset="-120"/>
              </a:rPr>
              <a:t>存储方案升级</a:t>
            </a:r>
            <a:endParaRPr lang="en-US" sz="1600" dirty="0"/>
          </a:p>
        </p:txBody>
      </p:sp>
      <p:sp>
        <p:nvSpPr>
          <p:cNvPr id="20" name="Text 16"/>
          <p:cNvSpPr/>
          <p:nvPr>
            <p:custDataLst>
              <p:tags r:id="rId6"/>
            </p:custDataLst>
          </p:nvPr>
        </p:nvSpPr>
        <p:spPr>
          <a:xfrm>
            <a:off x="684530" y="1990090"/>
            <a:ext cx="6149975" cy="1042154"/>
          </a:xfrm>
          <a:prstGeom prst="rect">
            <a:avLst/>
          </a:prstGeom>
          <a:noFill/>
        </p:spPr>
        <p:txBody>
          <a:bodyPr wrap="square" lIns="91440" tIns="45720" rIns="91440" bIns="45720" rtlCol="0" anchor="t">
            <a:spAutoFit/>
          </a:bodyPr>
          <a:lstStyle/>
          <a:p>
            <a:pPr algn="just">
              <a:lnSpc>
                <a:spcPct val="130000"/>
              </a:lnSpc>
            </a:pPr>
            <a:r>
              <a:rPr lang="en-US" sz="1600" dirty="0">
                <a:solidFill>
                  <a:srgbClr val="000000"/>
                </a:solidFill>
                <a:latin typeface="MiSans" pitchFamily="34" charset="-122"/>
                <a:ea typeface="MiSans" pitchFamily="34" charset="-122"/>
                <a:cs typeface="MiSans" pitchFamily="34" charset="-120"/>
              </a:rPr>
              <a:t>采用SQLite+SQLAlchemy ORM替代早期JSON文件，解决手动编辑困难、不支持条件查询、无法记录更新时间等问题，保留可插拔设计，缺少数据库文件时自动降级为纯大模型模式。</a:t>
            </a:r>
            <a:endParaRPr lang="en-US" sz="1600" dirty="0"/>
          </a:p>
        </p:txBody>
      </p:sp>
      <p:sp>
        <p:nvSpPr>
          <p:cNvPr id="21" name="Text 17"/>
          <p:cNvSpPr/>
          <p:nvPr>
            <p:custDataLst>
              <p:tags r:id="rId7"/>
            </p:custDataLst>
          </p:nvPr>
        </p:nvSpPr>
        <p:spPr>
          <a:xfrm>
            <a:off x="781050" y="3860800"/>
            <a:ext cx="5901055" cy="402590"/>
          </a:xfrm>
          <a:prstGeom prst="rect">
            <a:avLst/>
          </a:prstGeom>
          <a:noFill/>
        </p:spPr>
        <p:txBody>
          <a:bodyPr wrap="square" lIns="91440" tIns="45720" rIns="91440" bIns="45720" rtlCol="0" anchor="t">
            <a:spAutoFit/>
          </a:bodyPr>
          <a:lstStyle/>
          <a:p>
            <a:pPr algn="ctr">
              <a:lnSpc>
                <a:spcPct val="100000"/>
              </a:lnSpc>
            </a:pPr>
            <a:r>
              <a:rPr lang="en-US" sz="2000" dirty="0">
                <a:solidFill>
                  <a:srgbClr val="FFFFFF"/>
                </a:solidFill>
                <a:latin typeface="MiSans" pitchFamily="34" charset="-122"/>
                <a:ea typeface="MiSans" pitchFamily="34" charset="-122"/>
                <a:cs typeface="MiSans" pitchFamily="34" charset="-120"/>
              </a:rPr>
              <a:t>知识库结构设计</a:t>
            </a:r>
            <a:endParaRPr lang="en-US" sz="1600" dirty="0"/>
          </a:p>
        </p:txBody>
      </p:sp>
      <p:sp>
        <p:nvSpPr>
          <p:cNvPr id="22" name="Text 18"/>
          <p:cNvSpPr/>
          <p:nvPr>
            <p:custDataLst>
              <p:tags r:id="rId8"/>
            </p:custDataLst>
          </p:nvPr>
        </p:nvSpPr>
        <p:spPr>
          <a:xfrm>
            <a:off x="781050" y="4433570"/>
            <a:ext cx="6149975" cy="1359059"/>
          </a:xfrm>
          <a:prstGeom prst="rect">
            <a:avLst/>
          </a:prstGeom>
          <a:noFill/>
        </p:spPr>
        <p:txBody>
          <a:bodyPr wrap="square" lIns="91440" tIns="45720" rIns="91440" bIns="45720" rtlCol="0" anchor="t">
            <a:spAutoFit/>
          </a:bodyPr>
          <a:lstStyle/>
          <a:p>
            <a:pPr algn="just">
              <a:lnSpc>
                <a:spcPct val="130000"/>
              </a:lnSpc>
            </a:pPr>
            <a:r>
              <a:rPr lang="en-US" sz="1600" dirty="0">
                <a:solidFill>
                  <a:srgbClr val="000000"/>
                </a:solidFill>
                <a:latin typeface="MiSans" pitchFamily="34" charset="-122"/>
                <a:ea typeface="MiSans" pitchFamily="34" charset="-122"/>
                <a:cs typeface="MiSans" pitchFamily="34" charset="-120"/>
              </a:rPr>
              <a:t>单一knowledge_module表存储业务模块知识，字段包括模块别名、必选要素、前置条件、异常场景、典型任务和安全约束。内置42个通用模块，覆盖安全认证、电商交易、后台管理等7大类场景。</a:t>
            </a:r>
            <a:endParaRPr lang="en-US" sz="1600" dirty="0"/>
          </a:p>
        </p:txBody>
      </p:sp>
      <p:pic>
        <p:nvPicPr>
          <p:cNvPr id="23" name="图片 22"/>
          <p:cNvPicPr>
            <a:picLocks noChangeAspect="1"/>
          </p:cNvPicPr>
          <p:nvPr/>
        </p:nvPicPr>
        <p:blipFill>
          <a:blip r:embed="rId9"/>
          <a:stretch>
            <a:fillRect/>
          </a:stretch>
        </p:blipFill>
        <p:spPr>
          <a:xfrm>
            <a:off x="6931025" y="1562735"/>
            <a:ext cx="4916805" cy="41332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pic>
        <p:nvPicPr>
          <p:cNvPr id="5" name="Image 0" descr="https://kimi-img.moonshot.cn/pub/slides/slides_tmpl/image/25-09-04-15:50:51-d2sk9mu1bb2p4onbqecg.jpg"/>
          <p:cNvPicPr>
            <a:picLocks noChangeAspect="1"/>
          </p:cNvPicPr>
          <p:nvPr/>
        </p:nvPicPr>
        <p:blipFill>
          <a:blip r:embed="rId1"/>
          <a:stretch>
            <a:fillRect/>
          </a:stretch>
        </p:blipFill>
        <p:spPr>
          <a:xfrm>
            <a:off x="0" y="0"/>
            <a:ext cx="12203430" cy="6842760"/>
          </a:xfrm>
          <a:prstGeom prst="rect">
            <a:avLst/>
          </a:prstGeom>
        </p:spPr>
      </p:pic>
      <p:sp>
        <p:nvSpPr>
          <p:cNvPr id="6" name="Shape 3"/>
          <p:cNvSpPr/>
          <p:nvPr/>
        </p:nvSpPr>
        <p:spPr>
          <a:xfrm>
            <a:off x="-27940" y="-8890"/>
            <a:ext cx="12247880" cy="6875780"/>
          </a:xfrm>
          <a:prstGeom prst="rect">
            <a:avLst/>
          </a:prstGeom>
          <a:solidFill>
            <a:srgbClr val="1D3EBF">
              <a:alpha val="94902"/>
            </a:srgbClr>
          </a:solidFill>
        </p:spPr>
      </p:sp>
      <p:sp>
        <p:nvSpPr>
          <p:cNvPr id="7" name="Text 4"/>
          <p:cNvSpPr/>
          <p:nvPr/>
        </p:nvSpPr>
        <p:spPr>
          <a:xfrm>
            <a:off x="4060825" y="2246630"/>
            <a:ext cx="6873875" cy="1012190"/>
          </a:xfrm>
          <a:prstGeom prst="rect">
            <a:avLst/>
          </a:prstGeom>
          <a:noFill/>
        </p:spPr>
        <p:txBody>
          <a:bodyPr wrap="square" lIns="91440" tIns="45720" rIns="91440" bIns="45720" rtlCol="0" anchor="t">
            <a:spAutoFit/>
          </a:bodyPr>
          <a:lstStyle/>
          <a:p>
            <a:pPr>
              <a:lnSpc>
                <a:spcPct val="100000"/>
              </a:lnSpc>
            </a:pPr>
            <a:r>
              <a:rPr lang="en-US" sz="6000" dirty="0">
                <a:solidFill>
                  <a:srgbClr val="FFFFFF"/>
                </a:solidFill>
                <a:latin typeface="MiSans" pitchFamily="34" charset="-122"/>
                <a:ea typeface="MiSans" pitchFamily="34" charset="-122"/>
                <a:cs typeface="MiSans" pitchFamily="34" charset="-120"/>
              </a:rPr>
              <a:t>核心流程设计</a:t>
            </a:r>
            <a:endParaRPr lang="en-US" sz="1600" dirty="0"/>
          </a:p>
        </p:txBody>
      </p:sp>
      <p:sp>
        <p:nvSpPr>
          <p:cNvPr id="8" name="Shape 5"/>
          <p:cNvSpPr/>
          <p:nvPr/>
        </p:nvSpPr>
        <p:spPr>
          <a:xfrm>
            <a:off x="3870960" y="2246630"/>
            <a:ext cx="0" cy="1938020"/>
          </a:xfrm>
          <a:prstGeom prst="line">
            <a:avLst/>
          </a:prstGeom>
          <a:noFill/>
          <a:ln w="19050">
            <a:solidFill>
              <a:srgbClr val="FFFFFF"/>
            </a:solidFill>
            <a:prstDash val="solid"/>
            <a:headEnd type="none"/>
            <a:tailEnd type="none"/>
          </a:ln>
        </p:spPr>
      </p:sp>
      <p:sp>
        <p:nvSpPr>
          <p:cNvPr id="9" name="Text 6"/>
          <p:cNvSpPr/>
          <p:nvPr/>
        </p:nvSpPr>
        <p:spPr>
          <a:xfrm>
            <a:off x="941705" y="2068830"/>
            <a:ext cx="2804160" cy="2221865"/>
          </a:xfrm>
          <a:prstGeom prst="rect">
            <a:avLst/>
          </a:prstGeom>
          <a:noFill/>
        </p:spPr>
        <p:txBody>
          <a:bodyPr wrap="square" lIns="91440" tIns="45720" rIns="91440" bIns="45720" rtlCol="0" anchor="t">
            <a:spAutoFit/>
          </a:bodyPr>
          <a:lstStyle/>
          <a:p>
            <a:pPr algn="r">
              <a:lnSpc>
                <a:spcPct val="100000"/>
              </a:lnSpc>
            </a:pPr>
            <a:r>
              <a:rPr lang="en-US" sz="13800" dirty="0">
                <a:solidFill>
                  <a:srgbClr val="FFFFFF"/>
                </a:solidFill>
                <a:latin typeface="MiSans" pitchFamily="34" charset="-122"/>
                <a:ea typeface="MiSans" pitchFamily="34" charset="-122"/>
                <a:cs typeface="MiSans" pitchFamily="34" charset="-120"/>
              </a:rPr>
              <a:t>03</a:t>
            </a:r>
            <a:endParaRPr lang="en-US" sz="1600" dirty="0"/>
          </a:p>
        </p:txBody>
      </p:sp>
      <p:sp>
        <p:nvSpPr>
          <p:cNvPr id="10" name="Shape 7"/>
          <p:cNvSpPr/>
          <p:nvPr/>
        </p:nvSpPr>
        <p:spPr>
          <a:xfrm rot="2100000">
            <a:off x="9042400" y="3636645"/>
            <a:ext cx="3905250" cy="3905250"/>
          </a:xfrm>
          <a:custGeom>
            <a:avLst/>
            <a:gdLst/>
            <a:ahLst/>
            <a:cxnLst/>
            <a:rect l="l" t="t" r="r" b="b"/>
            <a:pathLst>
              <a:path w="3905250" h="3905250">
                <a:moveTo>
                  <a:pt x="1430788" y="3837117"/>
                </a:moveTo>
                <a:cubicBezTo>
                  <a:pt x="1430788" y="3837117"/>
                  <a:pt x="1430788" y="3837117"/>
                  <a:pt x="2474458" y="3837117"/>
                </a:cubicBezTo>
                <a:cubicBezTo>
                  <a:pt x="2310071" y="3882540"/>
                  <a:pt x="2134213" y="3905250"/>
                  <a:pt x="1950712" y="3905250"/>
                </a:cubicBezTo>
                <a:cubicBezTo>
                  <a:pt x="1771033" y="3905250"/>
                  <a:pt x="1595175" y="3882540"/>
                  <a:pt x="1430788" y="3837117"/>
                </a:cubicBezTo>
                <a:close/>
                <a:moveTo>
                  <a:pt x="972440" y="3642011"/>
                </a:moveTo>
                <a:lnTo>
                  <a:pt x="2929711" y="3642011"/>
                </a:lnTo>
                <a:cubicBezTo>
                  <a:pt x="2849588" y="3687305"/>
                  <a:pt x="2769465" y="3728823"/>
                  <a:pt x="2681713" y="3762792"/>
                </a:cubicBezTo>
                <a:cubicBezTo>
                  <a:pt x="2681713" y="3762792"/>
                  <a:pt x="2681713" y="3762792"/>
                  <a:pt x="1216621" y="3762792"/>
                </a:cubicBezTo>
                <a:cubicBezTo>
                  <a:pt x="1132685" y="3728823"/>
                  <a:pt x="1048746" y="3687305"/>
                  <a:pt x="972440" y="3642011"/>
                </a:cubicBezTo>
                <a:close/>
                <a:moveTo>
                  <a:pt x="696812" y="3450000"/>
                </a:moveTo>
                <a:lnTo>
                  <a:pt x="3205340" y="3450000"/>
                </a:lnTo>
                <a:cubicBezTo>
                  <a:pt x="3151885" y="3491759"/>
                  <a:pt x="3098432" y="3529723"/>
                  <a:pt x="3044977" y="3567684"/>
                </a:cubicBezTo>
                <a:cubicBezTo>
                  <a:pt x="3044977" y="3567684"/>
                  <a:pt x="3044977" y="3567684"/>
                  <a:pt x="857175" y="3567684"/>
                </a:cubicBezTo>
                <a:cubicBezTo>
                  <a:pt x="799902" y="3529723"/>
                  <a:pt x="746447" y="3491759"/>
                  <a:pt x="696812" y="3450000"/>
                </a:cubicBezTo>
                <a:close/>
                <a:moveTo>
                  <a:pt x="498608" y="3254891"/>
                </a:moveTo>
                <a:lnTo>
                  <a:pt x="3403544" y="3254891"/>
                </a:lnTo>
                <a:cubicBezTo>
                  <a:pt x="3365373" y="3297474"/>
                  <a:pt x="3327199" y="3340057"/>
                  <a:pt x="3285209" y="3378769"/>
                </a:cubicBezTo>
                <a:cubicBezTo>
                  <a:pt x="3285209" y="3378769"/>
                  <a:pt x="3285209" y="3378769"/>
                  <a:pt x="616943" y="3378769"/>
                </a:cubicBezTo>
                <a:cubicBezTo>
                  <a:pt x="574953" y="3340057"/>
                  <a:pt x="532964" y="3297474"/>
                  <a:pt x="498608" y="3254891"/>
                </a:cubicBezTo>
                <a:close/>
                <a:moveTo>
                  <a:pt x="346856" y="3065979"/>
                </a:moveTo>
                <a:lnTo>
                  <a:pt x="3558390" y="3065979"/>
                </a:lnTo>
                <a:cubicBezTo>
                  <a:pt x="3527840" y="3107736"/>
                  <a:pt x="3501110" y="3145699"/>
                  <a:pt x="3466742" y="3183663"/>
                </a:cubicBezTo>
                <a:cubicBezTo>
                  <a:pt x="3466742" y="3183663"/>
                  <a:pt x="3466742" y="3183663"/>
                  <a:pt x="434687" y="3183663"/>
                </a:cubicBezTo>
                <a:cubicBezTo>
                  <a:pt x="404137" y="3145699"/>
                  <a:pt x="373587" y="3107736"/>
                  <a:pt x="346856" y="3065979"/>
                </a:cubicBezTo>
                <a:close/>
                <a:moveTo>
                  <a:pt x="229172" y="2870870"/>
                </a:moveTo>
                <a:lnTo>
                  <a:pt x="3676074" y="2870870"/>
                </a:lnTo>
                <a:cubicBezTo>
                  <a:pt x="3653171" y="2912388"/>
                  <a:pt x="3630268" y="2953907"/>
                  <a:pt x="3603548" y="2991652"/>
                </a:cubicBezTo>
                <a:cubicBezTo>
                  <a:pt x="3603548" y="2991652"/>
                  <a:pt x="3603548" y="2991652"/>
                  <a:pt x="297881" y="2991652"/>
                </a:cubicBezTo>
                <a:cubicBezTo>
                  <a:pt x="274978" y="2953907"/>
                  <a:pt x="252075" y="2912388"/>
                  <a:pt x="229172" y="2870870"/>
                </a:cubicBezTo>
                <a:close/>
                <a:moveTo>
                  <a:pt x="136264" y="2678859"/>
                </a:moveTo>
                <a:lnTo>
                  <a:pt x="3762788" y="2678859"/>
                </a:lnTo>
                <a:cubicBezTo>
                  <a:pt x="3747519" y="2716821"/>
                  <a:pt x="3728432" y="2758580"/>
                  <a:pt x="3709345" y="2796543"/>
                </a:cubicBezTo>
                <a:cubicBezTo>
                  <a:pt x="3709345" y="2796543"/>
                  <a:pt x="3709345" y="2796543"/>
                  <a:pt x="189707" y="2796543"/>
                </a:cubicBezTo>
                <a:cubicBezTo>
                  <a:pt x="170620" y="2758580"/>
                  <a:pt x="155351" y="2716821"/>
                  <a:pt x="136264" y="2678859"/>
                </a:cubicBezTo>
                <a:close/>
                <a:moveTo>
                  <a:pt x="71229" y="2483753"/>
                </a:moveTo>
                <a:lnTo>
                  <a:pt x="3830923" y="2483753"/>
                </a:lnTo>
                <a:cubicBezTo>
                  <a:pt x="3819472" y="2526335"/>
                  <a:pt x="3804205" y="2568918"/>
                  <a:pt x="3788937" y="2607631"/>
                </a:cubicBezTo>
                <a:cubicBezTo>
                  <a:pt x="3788937" y="2607631"/>
                  <a:pt x="3788937" y="2607631"/>
                  <a:pt x="109399" y="2607631"/>
                </a:cubicBezTo>
                <a:cubicBezTo>
                  <a:pt x="94130" y="2568918"/>
                  <a:pt x="82680" y="2526335"/>
                  <a:pt x="71229" y="2483753"/>
                </a:cubicBezTo>
                <a:close/>
                <a:moveTo>
                  <a:pt x="24774" y="2294838"/>
                </a:moveTo>
                <a:lnTo>
                  <a:pt x="3874279" y="2294838"/>
                </a:lnTo>
                <a:cubicBezTo>
                  <a:pt x="3866641" y="2332799"/>
                  <a:pt x="3859004" y="2374559"/>
                  <a:pt x="3851364" y="2412522"/>
                </a:cubicBezTo>
                <a:cubicBezTo>
                  <a:pt x="3851364" y="2412522"/>
                  <a:pt x="3851364" y="2412522"/>
                  <a:pt x="51506" y="2412522"/>
                </a:cubicBezTo>
                <a:cubicBezTo>
                  <a:pt x="43868" y="2374559"/>
                  <a:pt x="32411" y="2332799"/>
                  <a:pt x="24774" y="2294838"/>
                </a:cubicBezTo>
                <a:close/>
                <a:moveTo>
                  <a:pt x="3096" y="2099731"/>
                </a:moveTo>
                <a:lnTo>
                  <a:pt x="3902152" y="2099731"/>
                </a:lnTo>
                <a:cubicBezTo>
                  <a:pt x="3898334" y="2141249"/>
                  <a:pt x="3894515" y="2182769"/>
                  <a:pt x="3886877" y="2220513"/>
                </a:cubicBezTo>
                <a:cubicBezTo>
                  <a:pt x="3886877" y="2220513"/>
                  <a:pt x="3886877" y="2220513"/>
                  <a:pt x="18371" y="2220513"/>
                </a:cubicBezTo>
                <a:cubicBezTo>
                  <a:pt x="10733" y="2182769"/>
                  <a:pt x="6916" y="2141249"/>
                  <a:pt x="3096" y="2099731"/>
                </a:cubicBezTo>
                <a:close/>
                <a:moveTo>
                  <a:pt x="0" y="1907721"/>
                </a:moveTo>
                <a:cubicBezTo>
                  <a:pt x="0" y="1907721"/>
                  <a:pt x="0" y="1907721"/>
                  <a:pt x="3905250" y="1907721"/>
                </a:cubicBezTo>
                <a:cubicBezTo>
                  <a:pt x="3905250" y="1923204"/>
                  <a:pt x="3905250" y="1934818"/>
                  <a:pt x="3905250" y="1950304"/>
                </a:cubicBezTo>
                <a:cubicBezTo>
                  <a:pt x="3905250" y="1977403"/>
                  <a:pt x="3905250" y="2004500"/>
                  <a:pt x="3905250" y="2031599"/>
                </a:cubicBezTo>
                <a:cubicBezTo>
                  <a:pt x="3905250" y="2031599"/>
                  <a:pt x="3905250" y="2031599"/>
                  <a:pt x="0" y="2031599"/>
                </a:cubicBezTo>
                <a:cubicBezTo>
                  <a:pt x="0" y="2004500"/>
                  <a:pt x="0" y="1977403"/>
                  <a:pt x="0" y="1950304"/>
                </a:cubicBezTo>
                <a:cubicBezTo>
                  <a:pt x="0" y="1934818"/>
                  <a:pt x="0" y="1923204"/>
                  <a:pt x="0" y="1907721"/>
                </a:cubicBezTo>
                <a:close/>
                <a:moveTo>
                  <a:pt x="10733" y="1712612"/>
                </a:moveTo>
                <a:lnTo>
                  <a:pt x="3890695" y="1712612"/>
                </a:lnTo>
                <a:cubicBezTo>
                  <a:pt x="3898334" y="1755195"/>
                  <a:pt x="3898334" y="1793907"/>
                  <a:pt x="3902152" y="1836490"/>
                </a:cubicBezTo>
                <a:cubicBezTo>
                  <a:pt x="3902152" y="1836490"/>
                  <a:pt x="3902152" y="1836490"/>
                  <a:pt x="3096" y="1836490"/>
                </a:cubicBezTo>
                <a:cubicBezTo>
                  <a:pt x="3096" y="1793907"/>
                  <a:pt x="6916" y="1755195"/>
                  <a:pt x="10733" y="1712612"/>
                </a:cubicBezTo>
                <a:close/>
                <a:moveTo>
                  <a:pt x="44578" y="1523699"/>
                </a:moveTo>
                <a:lnTo>
                  <a:pt x="3857574" y="1523699"/>
                </a:lnTo>
                <a:cubicBezTo>
                  <a:pt x="3865207" y="1561444"/>
                  <a:pt x="3872841" y="1602962"/>
                  <a:pt x="3880474" y="1644481"/>
                </a:cubicBezTo>
                <a:cubicBezTo>
                  <a:pt x="3880474" y="1644481"/>
                  <a:pt x="3880474" y="1644481"/>
                  <a:pt x="21678" y="1644481"/>
                </a:cubicBezTo>
                <a:cubicBezTo>
                  <a:pt x="29311" y="1602962"/>
                  <a:pt x="36945" y="1561444"/>
                  <a:pt x="44578" y="1523699"/>
                </a:cubicBezTo>
                <a:close/>
                <a:moveTo>
                  <a:pt x="99389" y="1328591"/>
                </a:moveTo>
                <a:lnTo>
                  <a:pt x="3805859" y="1328591"/>
                </a:lnTo>
                <a:cubicBezTo>
                  <a:pt x="3817310" y="1370108"/>
                  <a:pt x="3828762" y="1407853"/>
                  <a:pt x="3840213" y="1449373"/>
                </a:cubicBezTo>
                <a:cubicBezTo>
                  <a:pt x="3840213" y="1449373"/>
                  <a:pt x="3840213" y="1449373"/>
                  <a:pt x="65035" y="1449373"/>
                </a:cubicBezTo>
                <a:cubicBezTo>
                  <a:pt x="72669" y="1407853"/>
                  <a:pt x="87938" y="1370108"/>
                  <a:pt x="99389" y="1328591"/>
                </a:cubicBezTo>
                <a:close/>
                <a:moveTo>
                  <a:pt x="173517" y="1136580"/>
                </a:moveTo>
                <a:lnTo>
                  <a:pt x="3724814" y="1136580"/>
                </a:lnTo>
                <a:cubicBezTo>
                  <a:pt x="3743906" y="1175293"/>
                  <a:pt x="3762999" y="1217875"/>
                  <a:pt x="3778274" y="1260458"/>
                </a:cubicBezTo>
                <a:cubicBezTo>
                  <a:pt x="3778274" y="1260458"/>
                  <a:pt x="3778274" y="1260458"/>
                  <a:pt x="123876" y="1260458"/>
                </a:cubicBezTo>
                <a:cubicBezTo>
                  <a:pt x="139151" y="1217875"/>
                  <a:pt x="154424" y="1175293"/>
                  <a:pt x="173517" y="1136580"/>
                </a:cubicBezTo>
                <a:close/>
                <a:moveTo>
                  <a:pt x="279293" y="941474"/>
                </a:moveTo>
                <a:lnTo>
                  <a:pt x="3626673" y="941474"/>
                </a:lnTo>
                <a:cubicBezTo>
                  <a:pt x="3649574" y="984056"/>
                  <a:pt x="3672475" y="1022769"/>
                  <a:pt x="3691560" y="1065351"/>
                </a:cubicBezTo>
                <a:cubicBezTo>
                  <a:pt x="3691560" y="1065351"/>
                  <a:pt x="3691560" y="1065351"/>
                  <a:pt x="210590" y="1065351"/>
                </a:cubicBezTo>
                <a:cubicBezTo>
                  <a:pt x="233491" y="1022769"/>
                  <a:pt x="256392" y="984056"/>
                  <a:pt x="279293" y="941474"/>
                </a:cubicBezTo>
                <a:close/>
                <a:moveTo>
                  <a:pt x="412943" y="752559"/>
                </a:moveTo>
                <a:lnTo>
                  <a:pt x="3492305" y="752559"/>
                </a:lnTo>
                <a:cubicBezTo>
                  <a:pt x="3522832" y="790304"/>
                  <a:pt x="3553359" y="831821"/>
                  <a:pt x="3580070" y="873341"/>
                </a:cubicBezTo>
                <a:cubicBezTo>
                  <a:pt x="3580070" y="873341"/>
                  <a:pt x="3580070" y="873341"/>
                  <a:pt x="325179" y="873341"/>
                </a:cubicBezTo>
                <a:cubicBezTo>
                  <a:pt x="351889" y="831821"/>
                  <a:pt x="382416" y="790304"/>
                  <a:pt x="412943" y="752559"/>
                </a:cubicBezTo>
                <a:close/>
                <a:moveTo>
                  <a:pt x="582189" y="560548"/>
                </a:moveTo>
                <a:cubicBezTo>
                  <a:pt x="582189" y="560548"/>
                  <a:pt x="582189" y="560548"/>
                  <a:pt x="3319963" y="560548"/>
                </a:cubicBezTo>
                <a:cubicBezTo>
                  <a:pt x="3358147" y="598509"/>
                  <a:pt x="3396330" y="636473"/>
                  <a:pt x="3434514" y="678232"/>
                </a:cubicBezTo>
                <a:cubicBezTo>
                  <a:pt x="3434514" y="678232"/>
                  <a:pt x="3434514" y="678232"/>
                  <a:pt x="467638" y="678232"/>
                </a:cubicBezTo>
                <a:cubicBezTo>
                  <a:pt x="502004" y="636473"/>
                  <a:pt x="540188" y="598509"/>
                  <a:pt x="582189" y="560548"/>
                </a:cubicBezTo>
                <a:close/>
                <a:moveTo>
                  <a:pt x="808618" y="365442"/>
                </a:moveTo>
                <a:lnTo>
                  <a:pt x="3092810" y="365442"/>
                </a:lnTo>
                <a:cubicBezTo>
                  <a:pt x="3146286" y="404154"/>
                  <a:pt x="3195943" y="446737"/>
                  <a:pt x="3245599" y="489319"/>
                </a:cubicBezTo>
                <a:cubicBezTo>
                  <a:pt x="3245599" y="489319"/>
                  <a:pt x="3245599" y="489319"/>
                  <a:pt x="659649" y="489319"/>
                </a:cubicBezTo>
                <a:cubicBezTo>
                  <a:pt x="705486" y="446737"/>
                  <a:pt x="758962" y="404154"/>
                  <a:pt x="808618" y="365442"/>
                </a:cubicBezTo>
                <a:close/>
                <a:moveTo>
                  <a:pt x="1141891" y="176527"/>
                </a:moveTo>
                <a:lnTo>
                  <a:pt x="2760259" y="176527"/>
                </a:lnTo>
                <a:cubicBezTo>
                  <a:pt x="2840413" y="210692"/>
                  <a:pt x="2912935" y="248655"/>
                  <a:pt x="2985456" y="294211"/>
                </a:cubicBezTo>
                <a:cubicBezTo>
                  <a:pt x="2985456" y="294211"/>
                  <a:pt x="2985456" y="294211"/>
                  <a:pt x="916695" y="294211"/>
                </a:cubicBezTo>
                <a:cubicBezTo>
                  <a:pt x="989215" y="248655"/>
                  <a:pt x="1065553" y="210692"/>
                  <a:pt x="1141891" y="176527"/>
                </a:cubicBezTo>
                <a:close/>
                <a:moveTo>
                  <a:pt x="1949526" y="0"/>
                </a:moveTo>
                <a:cubicBezTo>
                  <a:pt x="2171061" y="0"/>
                  <a:pt x="2381136" y="34067"/>
                  <a:pt x="2579754" y="102200"/>
                </a:cubicBezTo>
                <a:cubicBezTo>
                  <a:pt x="2579754" y="102200"/>
                  <a:pt x="2579754" y="102200"/>
                  <a:pt x="1319298" y="102200"/>
                </a:cubicBezTo>
                <a:cubicBezTo>
                  <a:pt x="1517916" y="34067"/>
                  <a:pt x="1731811" y="0"/>
                  <a:pt x="1949526" y="0"/>
                </a:cubicBezTo>
                <a:close/>
              </a:path>
            </a:pathLst>
          </a:cu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11" name="Shape 8"/>
          <p:cNvSpPr/>
          <p:nvPr/>
        </p:nvSpPr>
        <p:spPr>
          <a:xfrm rot="16680000">
            <a:off x="-121920" y="-71120"/>
            <a:ext cx="2160270" cy="1989455"/>
          </a:xfrm>
          <a:custGeom>
            <a:avLst/>
            <a:gdLst/>
            <a:ahLst/>
            <a:cxnLst/>
            <a:rect l="l" t="t" r="r" b="b"/>
            <a:pathLst>
              <a:path w="2160270" h="1989455">
                <a:moveTo>
                  <a:pt x="0" y="404000"/>
                </a:moveTo>
                <a:cubicBezTo>
                  <a:pt x="-4270" y="299551"/>
                  <a:pt x="25291" y="106748"/>
                  <a:pt x="30218" y="95252"/>
                </a:cubicBezTo>
                <a:lnTo>
                  <a:pt x="672683" y="0"/>
                </a:lnTo>
                <a:cubicBezTo>
                  <a:pt x="623742" y="90325"/>
                  <a:pt x="580057" y="311376"/>
                  <a:pt x="587283" y="404000"/>
                </a:cubicBezTo>
                <a:cubicBezTo>
                  <a:pt x="570204" y="964345"/>
                  <a:pt x="1083255" y="1415972"/>
                  <a:pt x="1585468" y="1402177"/>
                </a:cubicBezTo>
                <a:cubicBezTo>
                  <a:pt x="1754953" y="1415643"/>
                  <a:pt x="2006223" y="1319406"/>
                  <a:pt x="2070272" y="1276707"/>
                </a:cubicBezTo>
                <a:lnTo>
                  <a:pt x="2160270" y="1882050"/>
                </a:lnTo>
                <a:cubicBezTo>
                  <a:pt x="2022974" y="1946756"/>
                  <a:pt x="1709297" y="1997995"/>
                  <a:pt x="1585468" y="1989455"/>
                </a:cubicBezTo>
                <a:cubicBezTo>
                  <a:pt x="695675" y="2016717"/>
                  <a:pt x="-21678" y="1202147"/>
                  <a:pt x="0" y="404000"/>
                </a:cubicBezTo>
                <a:close/>
              </a:path>
            </a:pathLst>
          </a:custGeom>
          <a:gradFill flip="none" rotWithShape="1">
            <a:gsLst>
              <a:gs pos="0">
                <a:srgbClr val="00B0F0">
                  <a:alpha val="34000"/>
                </a:srgbClr>
              </a:gs>
              <a:gs pos="76000">
                <a:srgbClr val="00B0F0">
                  <a:alpha val="0"/>
                </a:srgbClr>
              </a:gs>
              <a:gs pos="100000">
                <a:srgbClr val="00B0F0">
                  <a:alpha val="0"/>
                </a:srgbClr>
              </a:gs>
            </a:gsLst>
            <a:lin ang="16200000" scaled="1"/>
          </a:gradFill>
        </p:spPr>
      </p:sp>
      <p:sp>
        <p:nvSpPr>
          <p:cNvPr id="12" name="Shape 9"/>
          <p:cNvSpPr/>
          <p:nvPr/>
        </p:nvSpPr>
        <p:spPr>
          <a:xfrm rot="17460000">
            <a:off x="10614660" y="325120"/>
            <a:ext cx="1136650" cy="1136650"/>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13" name="Shape 10"/>
          <p:cNvSpPr/>
          <p:nvPr/>
        </p:nvSpPr>
        <p:spPr>
          <a:xfrm rot="17460000" flipH="1" flipV="1">
            <a:off x="811530" y="5401945"/>
            <a:ext cx="3069590" cy="3069590"/>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sp>
        <p:nvSpPr>
          <p:cNvPr id="5" name="Shape 3"/>
          <p:cNvSpPr/>
          <p:nvPr/>
        </p:nvSpPr>
        <p:spPr>
          <a:xfrm flipH="1">
            <a:off x="6098239" y="0"/>
            <a:ext cx="6087733" cy="1800860"/>
          </a:xfrm>
          <a:prstGeom prst="round1Rect">
            <a:avLst>
              <a:gd name="adj" fmla="val 27449"/>
            </a:avLst>
          </a:prstGeom>
          <a:solidFill>
            <a:srgbClr val="004CC0"/>
          </a:solidFill>
          <a:ln w="19050">
            <a:solidFill>
              <a:srgbClr val="004CC0"/>
            </a:solidFill>
            <a:prstDash val="solid"/>
          </a:ln>
        </p:spPr>
      </p:sp>
      <p:sp>
        <p:nvSpPr>
          <p:cNvPr id="6" name="Shape 4"/>
          <p:cNvSpPr/>
          <p:nvPr/>
        </p:nvSpPr>
        <p:spPr>
          <a:xfrm>
            <a:off x="6668" y="0"/>
            <a:ext cx="6087733" cy="1800860"/>
          </a:xfrm>
          <a:prstGeom prst="round1Rect">
            <a:avLst>
              <a:gd name="adj" fmla="val 27414"/>
            </a:avLst>
          </a:prstGeom>
          <a:solidFill>
            <a:srgbClr val="004CC0"/>
          </a:solidFill>
          <a:ln w="19050">
            <a:solidFill>
              <a:srgbClr val="004CC0"/>
            </a:solidFill>
            <a:prstDash val="solid"/>
          </a:ln>
        </p:spPr>
      </p:sp>
      <p:pic>
        <p:nvPicPr>
          <p:cNvPr id="7" name="Image 0" descr="https://kimi-img.moonshot.cn/pub/slides/slides_tmpl/image/25-09-04-15:50:53-d2sk9ne1bb2p4onbqegg.png"/>
          <p:cNvPicPr>
            <a:picLocks noChangeAspect="1"/>
          </p:cNvPicPr>
          <p:nvPr/>
        </p:nvPicPr>
        <p:blipFill>
          <a:blip r:embed="rId1"/>
          <a:stretch>
            <a:fillRect/>
          </a:stretch>
        </p:blipFill>
        <p:spPr>
          <a:xfrm>
            <a:off x="606425" y="293370"/>
            <a:ext cx="1395730" cy="450850"/>
          </a:xfrm>
          <a:prstGeom prst="rect">
            <a:avLst/>
          </a:prstGeom>
        </p:spPr>
      </p:pic>
      <p:sp>
        <p:nvSpPr>
          <p:cNvPr id="8" name="Shape 5"/>
          <p:cNvSpPr/>
          <p:nvPr/>
        </p:nvSpPr>
        <p:spPr>
          <a:xfrm>
            <a:off x="848360" y="6346190"/>
            <a:ext cx="163338" cy="153035"/>
          </a:xfrm>
          <a:prstGeom prst="rect">
            <a:avLst/>
          </a:prstGeom>
          <a:solidFill>
            <a:srgbClr val="004CC0"/>
          </a:solidFill>
        </p:spPr>
      </p:sp>
      <p:sp>
        <p:nvSpPr>
          <p:cNvPr id="9" name="Shape 6"/>
          <p:cNvSpPr/>
          <p:nvPr/>
        </p:nvSpPr>
        <p:spPr>
          <a:xfrm>
            <a:off x="1122291" y="6346190"/>
            <a:ext cx="163338" cy="153035"/>
          </a:xfrm>
          <a:prstGeom prst="rect">
            <a:avLst/>
          </a:prstGeom>
          <a:solidFill>
            <a:srgbClr val="004CC0"/>
          </a:solidFill>
        </p:spPr>
      </p:sp>
      <p:sp>
        <p:nvSpPr>
          <p:cNvPr id="10" name="Shape 7"/>
          <p:cNvSpPr/>
          <p:nvPr/>
        </p:nvSpPr>
        <p:spPr>
          <a:xfrm>
            <a:off x="1396222" y="6346190"/>
            <a:ext cx="163338" cy="153035"/>
          </a:xfrm>
          <a:prstGeom prst="rect">
            <a:avLst/>
          </a:prstGeom>
          <a:solidFill>
            <a:srgbClr val="004CC0"/>
          </a:solidFill>
        </p:spPr>
      </p:sp>
      <p:sp>
        <p:nvSpPr>
          <p:cNvPr id="11" name="Text 8"/>
          <p:cNvSpPr/>
          <p:nvPr/>
        </p:nvSpPr>
        <p:spPr>
          <a:xfrm>
            <a:off x="443865" y="756920"/>
            <a:ext cx="9567545" cy="586740"/>
          </a:xfrm>
          <a:prstGeom prst="rect">
            <a:avLst/>
          </a:prstGeom>
          <a:noFill/>
        </p:spPr>
        <p:txBody>
          <a:bodyPr wrap="square" lIns="91440" tIns="45720" rIns="91440" bIns="45720" rtlCol="0" anchor="t">
            <a:spAutoFit/>
          </a:bodyPr>
          <a:lstStyle/>
          <a:p>
            <a:pPr>
              <a:lnSpc>
                <a:spcPct val="100000"/>
              </a:lnSpc>
            </a:pPr>
            <a:r>
              <a:rPr lang="en-US" sz="3200" b="1" dirty="0">
                <a:solidFill>
                  <a:srgbClr val="FFFFFF"/>
                </a:solidFill>
                <a:latin typeface="MiSans" pitchFamily="34" charset="-122"/>
                <a:ea typeface="MiSans" pitchFamily="34" charset="-122"/>
                <a:cs typeface="MiSans" pitchFamily="34" charset="-120"/>
              </a:rPr>
              <a:t>自然语言需求预处理与结构化表示</a:t>
            </a:r>
            <a:endParaRPr lang="en-US" sz="1600" dirty="0"/>
          </a:p>
        </p:txBody>
      </p:sp>
      <p:sp>
        <p:nvSpPr>
          <p:cNvPr id="12" name="Shape 9"/>
          <p:cNvSpPr/>
          <p:nvPr/>
        </p:nvSpPr>
        <p:spPr>
          <a:xfrm>
            <a:off x="351790" y="191770"/>
            <a:ext cx="76200" cy="1282065"/>
          </a:xfrm>
          <a:prstGeom prst="rect">
            <a:avLst/>
          </a:prstGeom>
          <a:solidFill>
            <a:srgbClr val="FFFFFF"/>
          </a:solidFill>
        </p:spPr>
      </p:sp>
      <p:sp>
        <p:nvSpPr>
          <p:cNvPr id="13" name="Shape 10"/>
          <p:cNvSpPr/>
          <p:nvPr/>
        </p:nvSpPr>
        <p:spPr>
          <a:xfrm>
            <a:off x="915670" y="2287905"/>
            <a:ext cx="10361295" cy="3719830"/>
          </a:xfrm>
          <a:prstGeom prst="roundRect">
            <a:avLst>
              <a:gd name="adj" fmla="val 6943"/>
            </a:avLst>
          </a:prstGeom>
          <a:solidFill>
            <a:srgbClr val="004CC0"/>
          </a:solidFill>
        </p:spPr>
      </p:sp>
      <p:sp>
        <p:nvSpPr>
          <p:cNvPr id="14" name="Shape 11"/>
          <p:cNvSpPr/>
          <p:nvPr/>
        </p:nvSpPr>
        <p:spPr>
          <a:xfrm>
            <a:off x="4453255" y="2034540"/>
            <a:ext cx="3286760" cy="4281170"/>
          </a:xfrm>
          <a:prstGeom prst="roundRect">
            <a:avLst>
              <a:gd name="adj" fmla="val 6943"/>
            </a:avLst>
          </a:prstGeom>
          <a:solidFill>
            <a:srgbClr val="FFFFFF"/>
          </a:solidFill>
          <a:ln w="19050">
            <a:solidFill>
              <a:srgbClr val="004CC0"/>
            </a:solidFill>
            <a:prstDash val="solid"/>
          </a:ln>
        </p:spPr>
      </p:sp>
      <p:sp>
        <p:nvSpPr>
          <p:cNvPr id="15" name="Text 12"/>
          <p:cNvSpPr/>
          <p:nvPr/>
        </p:nvSpPr>
        <p:spPr>
          <a:xfrm>
            <a:off x="1224280" y="2650490"/>
            <a:ext cx="2782570" cy="402590"/>
          </a:xfrm>
          <a:prstGeom prst="rect">
            <a:avLst/>
          </a:prstGeom>
          <a:noFill/>
        </p:spPr>
        <p:txBody>
          <a:bodyPr wrap="square" lIns="91440" tIns="45720" rIns="91440" bIns="45720" rtlCol="0" anchor="t">
            <a:spAutoFit/>
          </a:bodyPr>
          <a:lstStyle/>
          <a:p>
            <a:pPr algn="just">
              <a:lnSpc>
                <a:spcPct val="100000"/>
              </a:lnSpc>
            </a:pPr>
            <a:r>
              <a:rPr lang="en-US" sz="2000" dirty="0">
                <a:solidFill>
                  <a:srgbClr val="FFFFFF"/>
                </a:solidFill>
                <a:latin typeface="MiSans" pitchFamily="34" charset="-122"/>
                <a:ea typeface="MiSans" pitchFamily="34" charset="-122"/>
                <a:cs typeface="MiSans" pitchFamily="34" charset="-120"/>
              </a:rPr>
              <a:t>分句清洗</a:t>
            </a:r>
            <a:endParaRPr lang="en-US" sz="1600" dirty="0"/>
          </a:p>
        </p:txBody>
      </p:sp>
      <p:sp>
        <p:nvSpPr>
          <p:cNvPr id="16" name="Text 13"/>
          <p:cNvSpPr/>
          <p:nvPr/>
        </p:nvSpPr>
        <p:spPr>
          <a:xfrm>
            <a:off x="1224280" y="3368675"/>
            <a:ext cx="2781300" cy="1251902"/>
          </a:xfrm>
          <a:prstGeom prst="rect">
            <a:avLst/>
          </a:prstGeom>
          <a:noFill/>
        </p:spPr>
        <p:txBody>
          <a:bodyPr wrap="square" lIns="91440" tIns="45720" rIns="91440" bIns="45720" rtlCol="0" anchor="t">
            <a:spAutoFit/>
          </a:bodyPr>
          <a:lstStyle/>
          <a:p>
            <a:pPr algn="just">
              <a:lnSpc>
                <a:spcPct val="130000"/>
              </a:lnSpc>
            </a:pPr>
            <a:r>
              <a:rPr lang="en-US" sz="1400" dirty="0">
                <a:solidFill>
                  <a:srgbClr val="FFFFFF"/>
                </a:solidFill>
                <a:latin typeface="MiSans" pitchFamily="34" charset="-122"/>
                <a:ea typeface="MiSans" pitchFamily="34" charset="-122"/>
                <a:cs typeface="MiSans" pitchFamily="34" charset="-120"/>
              </a:rPr>
              <a:t>基于标点符号和语义边界进行上下文感知分句，去除噪声、统一术语，将同义词归一到标准表述。</a:t>
            </a:r>
            <a:endParaRPr lang="en-US" sz="1600" dirty="0"/>
          </a:p>
        </p:txBody>
      </p:sp>
      <p:sp>
        <p:nvSpPr>
          <p:cNvPr id="17" name="Text 14"/>
          <p:cNvSpPr/>
          <p:nvPr/>
        </p:nvSpPr>
        <p:spPr>
          <a:xfrm>
            <a:off x="4716780" y="2294890"/>
            <a:ext cx="2782570" cy="402590"/>
          </a:xfrm>
          <a:prstGeom prst="rect">
            <a:avLst/>
          </a:prstGeom>
          <a:noFill/>
        </p:spPr>
        <p:txBody>
          <a:bodyPr wrap="square" lIns="91440" tIns="45720" rIns="91440" bIns="45720" rtlCol="0" anchor="t">
            <a:spAutoFit/>
          </a:bodyPr>
          <a:lstStyle/>
          <a:p>
            <a:pPr algn="just">
              <a:lnSpc>
                <a:spcPct val="100000"/>
              </a:lnSpc>
            </a:pPr>
            <a:r>
              <a:rPr lang="en-US" sz="2000" dirty="0">
                <a:solidFill>
                  <a:srgbClr val="000000"/>
                </a:solidFill>
                <a:latin typeface="MiSans" pitchFamily="34" charset="-122"/>
                <a:ea typeface="MiSans" pitchFamily="34" charset="-122"/>
                <a:cs typeface="MiSans" pitchFamily="34" charset="-120"/>
              </a:rPr>
              <a:t>角色识别与意图抽取</a:t>
            </a:r>
            <a:endParaRPr lang="en-US" sz="1600" dirty="0"/>
          </a:p>
        </p:txBody>
      </p:sp>
      <p:sp>
        <p:nvSpPr>
          <p:cNvPr id="18" name="Text 15"/>
          <p:cNvSpPr/>
          <p:nvPr/>
        </p:nvSpPr>
        <p:spPr>
          <a:xfrm>
            <a:off x="4716780" y="3013075"/>
            <a:ext cx="2781300" cy="961787"/>
          </a:xfrm>
          <a:prstGeom prst="rect">
            <a:avLst/>
          </a:prstGeom>
          <a:noFill/>
        </p:spPr>
        <p:txBody>
          <a:bodyPr wrap="square" lIns="91440" tIns="45720" rIns="91440" bIns="45720" rtlCol="0" anchor="t">
            <a:spAutoFit/>
          </a:bodyPr>
          <a:lstStyle/>
          <a:p>
            <a:pPr algn="just">
              <a:lnSpc>
                <a:spcPct val="130000"/>
              </a:lnSpc>
            </a:pPr>
            <a:r>
              <a:rPr lang="en-US" sz="1400" dirty="0">
                <a:solidFill>
                  <a:srgbClr val="000000"/>
                </a:solidFill>
                <a:latin typeface="MiSans" pitchFamily="34" charset="-122"/>
                <a:ea typeface="MiSans" pitchFamily="34" charset="-122"/>
                <a:cs typeface="MiSans" pitchFamily="34" charset="-120"/>
              </a:rPr>
              <a:t>利用LLM主语分析找出动作发出者，结合知识库角色本体校验，区分主次意图并标准化映射。</a:t>
            </a:r>
            <a:endParaRPr lang="en-US" sz="1600" dirty="0"/>
          </a:p>
        </p:txBody>
      </p:sp>
      <p:sp>
        <p:nvSpPr>
          <p:cNvPr id="19" name="Text 16"/>
          <p:cNvSpPr/>
          <p:nvPr/>
        </p:nvSpPr>
        <p:spPr>
          <a:xfrm>
            <a:off x="8158480" y="2650490"/>
            <a:ext cx="2782570" cy="402590"/>
          </a:xfrm>
          <a:prstGeom prst="rect">
            <a:avLst/>
          </a:prstGeom>
          <a:noFill/>
        </p:spPr>
        <p:txBody>
          <a:bodyPr wrap="square" lIns="91440" tIns="45720" rIns="91440" bIns="45720" rtlCol="0" anchor="t">
            <a:spAutoFit/>
          </a:bodyPr>
          <a:lstStyle/>
          <a:p>
            <a:pPr algn="just">
              <a:lnSpc>
                <a:spcPct val="100000"/>
              </a:lnSpc>
            </a:pPr>
            <a:r>
              <a:rPr lang="en-US" sz="2000" dirty="0">
                <a:solidFill>
                  <a:srgbClr val="FFFFFF"/>
                </a:solidFill>
                <a:latin typeface="MiSans" pitchFamily="34" charset="-122"/>
                <a:ea typeface="MiSans" pitchFamily="34" charset="-122"/>
                <a:cs typeface="MiSans" pitchFamily="34" charset="-120"/>
              </a:rPr>
              <a:t>五元组结构化</a:t>
            </a:r>
            <a:endParaRPr lang="en-US" sz="1600" dirty="0"/>
          </a:p>
        </p:txBody>
      </p:sp>
      <p:sp>
        <p:nvSpPr>
          <p:cNvPr id="20" name="Text 17"/>
          <p:cNvSpPr/>
          <p:nvPr/>
        </p:nvSpPr>
        <p:spPr>
          <a:xfrm>
            <a:off x="8158480" y="3368675"/>
            <a:ext cx="2781300" cy="961787"/>
          </a:xfrm>
          <a:prstGeom prst="rect">
            <a:avLst/>
          </a:prstGeom>
          <a:noFill/>
        </p:spPr>
        <p:txBody>
          <a:bodyPr wrap="square" lIns="91440" tIns="45720" rIns="91440" bIns="45720" rtlCol="0" anchor="t">
            <a:spAutoFit/>
          </a:bodyPr>
          <a:lstStyle/>
          <a:p>
            <a:pPr algn="just">
              <a:lnSpc>
                <a:spcPct val="130000"/>
              </a:lnSpc>
            </a:pPr>
            <a:r>
              <a:rPr lang="en-US" sz="1400" dirty="0">
                <a:solidFill>
                  <a:srgbClr val="FFFFFF"/>
                </a:solidFill>
                <a:latin typeface="MiSans" pitchFamily="34" charset="-122"/>
                <a:ea typeface="MiSans" pitchFamily="34" charset="-122"/>
                <a:cs typeface="MiSans" pitchFamily="34" charset="-120"/>
              </a:rPr>
              <a:t>转换为角色-动作-对象-条件-目标五元组，进行实体链接和类型标注，形成JSON中间表示。</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pic>
        <p:nvPicPr>
          <p:cNvPr id="5" name="Image 0" descr="https://kimi-img.moonshot.cn/pub/slides/slides_tmpl/image/25-09-04-15:50:54-d2sk9nm1bb2p4onbqekg.png"/>
          <p:cNvPicPr>
            <a:picLocks noChangeAspect="1"/>
          </p:cNvPicPr>
          <p:nvPr/>
        </p:nvPicPr>
        <p:blipFill>
          <a:blip r:embed="rId1"/>
          <a:stretch>
            <a:fillRect/>
          </a:stretch>
        </p:blipFill>
        <p:spPr>
          <a:xfrm>
            <a:off x="0" y="1542415"/>
            <a:ext cx="12192000" cy="5315585"/>
          </a:xfrm>
          <a:prstGeom prst="rect">
            <a:avLst/>
          </a:prstGeom>
        </p:spPr>
      </p:pic>
      <p:sp>
        <p:nvSpPr>
          <p:cNvPr id="6" name="Shape 3"/>
          <p:cNvSpPr/>
          <p:nvPr/>
        </p:nvSpPr>
        <p:spPr>
          <a:xfrm>
            <a:off x="6291731" y="8722360"/>
            <a:ext cx="287989" cy="6985"/>
          </a:xfrm>
          <a:custGeom>
            <a:avLst/>
            <a:gdLst/>
            <a:ahLst/>
            <a:cxnLst/>
            <a:rect l="l" t="t" r="r" b="b"/>
            <a:pathLst>
              <a:path w="287989" h="6985">
                <a:moveTo>
                  <a:pt x="287989" y="0"/>
                </a:moveTo>
                <a:lnTo>
                  <a:pt x="260078" y="2540"/>
                </a:lnTo>
                <a:lnTo>
                  <a:pt x="221384" y="5080"/>
                </a:lnTo>
                <a:lnTo>
                  <a:pt x="182689" y="6350"/>
                </a:lnTo>
                <a:lnTo>
                  <a:pt x="143995" y="6985"/>
                </a:lnTo>
                <a:lnTo>
                  <a:pt x="104666" y="6350"/>
                </a:lnTo>
                <a:lnTo>
                  <a:pt x="65971" y="5080"/>
                </a:lnTo>
                <a:lnTo>
                  <a:pt x="27911" y="2540"/>
                </a:lnTo>
                <a:lnTo>
                  <a:pt x="0" y="0"/>
                </a:lnTo>
                <a:lnTo>
                  <a:pt x="287989" y="0"/>
                </a:lnTo>
                <a:close/>
              </a:path>
            </a:pathLst>
          </a:custGeom>
          <a:solidFill>
            <a:srgbClr val="FFFFFF"/>
          </a:solidFill>
        </p:spPr>
      </p:sp>
      <p:sp>
        <p:nvSpPr>
          <p:cNvPr id="7" name="Text 4"/>
          <p:cNvSpPr/>
          <p:nvPr/>
        </p:nvSpPr>
        <p:spPr>
          <a:xfrm>
            <a:off x="582930" y="211455"/>
            <a:ext cx="10151745" cy="5867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122"/>
                <a:ea typeface="MiSans" pitchFamily="34" charset="-122"/>
                <a:cs typeface="MiSans" pitchFamily="34" charset="-120"/>
              </a:rPr>
              <a:t>知识增强与语义推理融合机制</a:t>
            </a:r>
            <a:endParaRPr lang="en-US" sz="1600" dirty="0"/>
          </a:p>
        </p:txBody>
      </p:sp>
      <p:sp>
        <p:nvSpPr>
          <p:cNvPr id="8" name="Text 5"/>
          <p:cNvSpPr/>
          <p:nvPr>
            <p:custDataLst>
              <p:tags r:id="rId2"/>
            </p:custDataLst>
          </p:nvPr>
        </p:nvSpPr>
        <p:spPr>
          <a:xfrm>
            <a:off x="1679598" y="2715638"/>
            <a:ext cx="1148388" cy="475441"/>
          </a:xfrm>
          <a:prstGeom prst="rect">
            <a:avLst/>
          </a:prstGeom>
          <a:noFill/>
        </p:spPr>
        <p:txBody>
          <a:bodyPr wrap="square" lIns="0" tIns="0" rIns="0" bIns="0" rtlCol="0" anchor="t"/>
          <a:lstStyle/>
          <a:p>
            <a:pPr algn="ctr">
              <a:lnSpc>
                <a:spcPct val="100000"/>
              </a:lnSpc>
            </a:pPr>
            <a:r>
              <a:rPr lang="en-US" sz="2700" b="1" dirty="0">
                <a:solidFill>
                  <a:srgbClr val="FFFFFF"/>
                </a:solidFill>
                <a:latin typeface="MiSans" pitchFamily="34" charset="-122"/>
                <a:ea typeface="MiSans" pitchFamily="34" charset="-122"/>
                <a:cs typeface="MiSans" pitchFamily="34" charset="-120"/>
              </a:rPr>
              <a:t>01</a:t>
            </a:r>
            <a:endParaRPr lang="en-US" sz="1600" dirty="0"/>
          </a:p>
        </p:txBody>
      </p:sp>
      <p:sp>
        <p:nvSpPr>
          <p:cNvPr id="9" name="Text 6"/>
          <p:cNvSpPr/>
          <p:nvPr>
            <p:custDataLst>
              <p:tags r:id="rId3"/>
            </p:custDataLst>
          </p:nvPr>
        </p:nvSpPr>
        <p:spPr>
          <a:xfrm>
            <a:off x="966118" y="3329501"/>
            <a:ext cx="2576661" cy="375672"/>
          </a:xfrm>
          <a:prstGeom prst="rect">
            <a:avLst/>
          </a:prstGeom>
          <a:noFill/>
        </p:spPr>
        <p:txBody>
          <a:bodyPr wrap="square" lIns="0" tIns="0" rIns="0" bIns="0" rtlCol="0" anchor="ctr"/>
          <a:lstStyle/>
          <a:p>
            <a:pPr algn="just">
              <a:lnSpc>
                <a:spcPct val="100000"/>
              </a:lnSpc>
            </a:pPr>
            <a:r>
              <a:rPr lang="en-US" sz="1800" b="1" dirty="0">
                <a:solidFill>
                  <a:srgbClr val="FFFFFF"/>
                </a:solidFill>
                <a:latin typeface="MiSans" pitchFamily="34" charset="-122"/>
                <a:ea typeface="MiSans" pitchFamily="34" charset="-122"/>
                <a:cs typeface="MiSans" pitchFamily="34" charset="-120"/>
              </a:rPr>
              <a:t>两阶段融合流程</a:t>
            </a:r>
            <a:endParaRPr lang="en-US" sz="1600" dirty="0"/>
          </a:p>
        </p:txBody>
      </p:sp>
      <p:sp>
        <p:nvSpPr>
          <p:cNvPr id="10" name="Shape 7"/>
          <p:cNvSpPr/>
          <p:nvPr>
            <p:custDataLst>
              <p:tags r:id="rId4"/>
            </p:custDataLst>
          </p:nvPr>
        </p:nvSpPr>
        <p:spPr>
          <a:xfrm>
            <a:off x="966118" y="3845586"/>
            <a:ext cx="2575045" cy="2495876"/>
          </a:xfrm>
          <a:prstGeom prst="rect">
            <a:avLst/>
          </a:prstGeom>
          <a:solidFill>
            <a:srgbClr val="000000">
              <a:alpha val="0"/>
            </a:srgbClr>
          </a:solidFill>
        </p:spPr>
      </p:sp>
      <p:sp>
        <p:nvSpPr>
          <p:cNvPr id="11" name="Text 8"/>
          <p:cNvSpPr/>
          <p:nvPr>
            <p:custDataLst>
              <p:tags r:id="rId5"/>
            </p:custDataLst>
          </p:nvPr>
        </p:nvSpPr>
        <p:spPr>
          <a:xfrm>
            <a:off x="966118" y="3845586"/>
            <a:ext cx="2575045" cy="2495876"/>
          </a:xfrm>
          <a:prstGeom prst="rect">
            <a:avLst/>
          </a:prstGeom>
          <a:noFill/>
        </p:spPr>
        <p:txBody>
          <a:bodyPr wrap="square" lIns="0" tIns="0" rIns="0" bIns="0" rtlCol="0" anchor="t"/>
          <a:lstStyle/>
          <a:p>
            <a:pPr algn="just">
              <a:lnSpc>
                <a:spcPct val="130000"/>
              </a:lnSpc>
            </a:pPr>
            <a:r>
              <a:rPr lang="en-US" sz="1400" dirty="0">
                <a:solidFill>
                  <a:srgbClr val="FFFFFF"/>
                </a:solidFill>
                <a:latin typeface="MiSans" pitchFamily="34" charset="-122"/>
                <a:ea typeface="MiSans" pitchFamily="34" charset="-122"/>
                <a:cs typeface="MiSans" pitchFamily="34" charset="-120"/>
              </a:rPr>
              <a:t>先调用LLM进行分句、角色识别和意图提取，再将关键实体与知识库中领域本体匹配，完成术语消歧。</a:t>
            </a:r>
            <a:endParaRPr lang="en-US" sz="1600" dirty="0"/>
          </a:p>
        </p:txBody>
      </p:sp>
      <p:sp>
        <p:nvSpPr>
          <p:cNvPr id="12" name="Text 9"/>
          <p:cNvSpPr/>
          <p:nvPr>
            <p:custDataLst>
              <p:tags r:id="rId6"/>
            </p:custDataLst>
          </p:nvPr>
        </p:nvSpPr>
        <p:spPr>
          <a:xfrm>
            <a:off x="5545973" y="2707386"/>
            <a:ext cx="1148388" cy="475441"/>
          </a:xfrm>
          <a:prstGeom prst="rect">
            <a:avLst/>
          </a:prstGeom>
          <a:noFill/>
        </p:spPr>
        <p:txBody>
          <a:bodyPr wrap="square" lIns="0" tIns="0" rIns="0" bIns="0" rtlCol="0" anchor="t"/>
          <a:lstStyle/>
          <a:p>
            <a:pPr algn="ctr">
              <a:lnSpc>
                <a:spcPct val="100000"/>
              </a:lnSpc>
            </a:pPr>
            <a:r>
              <a:rPr lang="en-US" sz="2700" b="1" dirty="0">
                <a:solidFill>
                  <a:srgbClr val="FFFFFF"/>
                </a:solidFill>
                <a:latin typeface="MiSans" pitchFamily="34" charset="-122"/>
                <a:ea typeface="MiSans" pitchFamily="34" charset="-122"/>
                <a:cs typeface="MiSans" pitchFamily="34" charset="-120"/>
              </a:rPr>
              <a:t>02</a:t>
            </a:r>
            <a:endParaRPr lang="en-US" sz="1600" dirty="0"/>
          </a:p>
        </p:txBody>
      </p:sp>
      <p:sp>
        <p:nvSpPr>
          <p:cNvPr id="13" name="Text 10"/>
          <p:cNvSpPr/>
          <p:nvPr>
            <p:custDataLst>
              <p:tags r:id="rId7"/>
            </p:custDataLst>
          </p:nvPr>
        </p:nvSpPr>
        <p:spPr>
          <a:xfrm>
            <a:off x="4833128" y="3329501"/>
            <a:ext cx="2576661" cy="375672"/>
          </a:xfrm>
          <a:prstGeom prst="rect">
            <a:avLst/>
          </a:prstGeom>
          <a:noFill/>
        </p:spPr>
        <p:txBody>
          <a:bodyPr wrap="square" lIns="0" tIns="0" rIns="0" bIns="0" rtlCol="0" anchor="ctr"/>
          <a:lstStyle/>
          <a:p>
            <a:pPr algn="just">
              <a:lnSpc>
                <a:spcPct val="100000"/>
              </a:lnSpc>
            </a:pPr>
            <a:r>
              <a:rPr lang="en-US" sz="1800" b="1" dirty="0">
                <a:solidFill>
                  <a:srgbClr val="FFFFFF"/>
                </a:solidFill>
                <a:latin typeface="MiSans" pitchFamily="34" charset="-122"/>
                <a:ea typeface="MiSans" pitchFamily="34" charset="-122"/>
                <a:cs typeface="MiSans" pitchFamily="34" charset="-120"/>
              </a:rPr>
              <a:t>多轮迭代推理</a:t>
            </a:r>
            <a:endParaRPr lang="en-US" sz="1600" dirty="0"/>
          </a:p>
        </p:txBody>
      </p:sp>
      <p:sp>
        <p:nvSpPr>
          <p:cNvPr id="14" name="Shape 11"/>
          <p:cNvSpPr/>
          <p:nvPr>
            <p:custDataLst>
              <p:tags r:id="rId8"/>
            </p:custDataLst>
          </p:nvPr>
        </p:nvSpPr>
        <p:spPr>
          <a:xfrm>
            <a:off x="4833128" y="3837334"/>
            <a:ext cx="2575045" cy="2495876"/>
          </a:xfrm>
          <a:prstGeom prst="rect">
            <a:avLst/>
          </a:prstGeom>
          <a:solidFill>
            <a:srgbClr val="000000">
              <a:alpha val="0"/>
            </a:srgbClr>
          </a:solidFill>
        </p:spPr>
      </p:sp>
      <p:sp>
        <p:nvSpPr>
          <p:cNvPr id="15" name="Text 12"/>
          <p:cNvSpPr/>
          <p:nvPr>
            <p:custDataLst>
              <p:tags r:id="rId9"/>
            </p:custDataLst>
          </p:nvPr>
        </p:nvSpPr>
        <p:spPr>
          <a:xfrm>
            <a:off x="4833128" y="3837334"/>
            <a:ext cx="2575045" cy="2495876"/>
          </a:xfrm>
          <a:prstGeom prst="rect">
            <a:avLst/>
          </a:prstGeom>
          <a:noFill/>
        </p:spPr>
        <p:txBody>
          <a:bodyPr wrap="square" lIns="0" tIns="0" rIns="0" bIns="0" rtlCol="0" anchor="t"/>
          <a:lstStyle/>
          <a:p>
            <a:pPr algn="just">
              <a:lnSpc>
                <a:spcPct val="130000"/>
              </a:lnSpc>
            </a:pPr>
            <a:r>
              <a:rPr lang="en-US" sz="1400" dirty="0">
                <a:solidFill>
                  <a:srgbClr val="FFFFFF"/>
                </a:solidFill>
                <a:latin typeface="MiSans" pitchFamily="34" charset="-122"/>
                <a:ea typeface="MiSans" pitchFamily="34" charset="-122"/>
                <a:cs typeface="MiSans" pitchFamily="34" charset="-120"/>
              </a:rPr>
              <a:t>第一轮补全显性缺失，第二轮推断隐含业务规则，第三轮进行置信度评估，低置信度结果标记待确认。</a:t>
            </a:r>
            <a:endParaRPr lang="en-US" sz="1600" dirty="0"/>
          </a:p>
        </p:txBody>
      </p:sp>
      <p:sp>
        <p:nvSpPr>
          <p:cNvPr id="16" name="Text 13"/>
          <p:cNvSpPr/>
          <p:nvPr>
            <p:custDataLst>
              <p:tags r:id="rId10"/>
            </p:custDataLst>
          </p:nvPr>
        </p:nvSpPr>
        <p:spPr>
          <a:xfrm>
            <a:off x="9412983" y="2707386"/>
            <a:ext cx="1148389" cy="475441"/>
          </a:xfrm>
          <a:prstGeom prst="rect">
            <a:avLst/>
          </a:prstGeom>
          <a:noFill/>
        </p:spPr>
        <p:txBody>
          <a:bodyPr wrap="square" lIns="0" tIns="0" rIns="0" bIns="0" rtlCol="0" anchor="t"/>
          <a:lstStyle/>
          <a:p>
            <a:pPr algn="ctr">
              <a:lnSpc>
                <a:spcPct val="100000"/>
              </a:lnSpc>
            </a:pPr>
            <a:r>
              <a:rPr lang="en-US" sz="2700" b="1" dirty="0">
                <a:solidFill>
                  <a:srgbClr val="FFFFFF"/>
                </a:solidFill>
                <a:latin typeface="MiSans" pitchFamily="34" charset="-122"/>
                <a:ea typeface="MiSans" pitchFamily="34" charset="-122"/>
                <a:cs typeface="MiSans" pitchFamily="34" charset="-120"/>
              </a:rPr>
              <a:t>03</a:t>
            </a:r>
            <a:endParaRPr lang="en-US" sz="1600" dirty="0"/>
          </a:p>
        </p:txBody>
      </p:sp>
      <p:sp>
        <p:nvSpPr>
          <p:cNvPr id="17" name="Text 14"/>
          <p:cNvSpPr/>
          <p:nvPr>
            <p:custDataLst>
              <p:tags r:id="rId11"/>
            </p:custDataLst>
          </p:nvPr>
        </p:nvSpPr>
        <p:spPr>
          <a:xfrm>
            <a:off x="8699503" y="3329501"/>
            <a:ext cx="2576661" cy="375672"/>
          </a:xfrm>
          <a:prstGeom prst="rect">
            <a:avLst/>
          </a:prstGeom>
          <a:noFill/>
        </p:spPr>
        <p:txBody>
          <a:bodyPr wrap="square" lIns="0" tIns="0" rIns="0" bIns="0" rtlCol="0" anchor="ctr"/>
          <a:lstStyle/>
          <a:p>
            <a:pPr algn="just">
              <a:lnSpc>
                <a:spcPct val="100000"/>
              </a:lnSpc>
            </a:pPr>
            <a:r>
              <a:rPr lang="en-US" sz="1800" b="1" dirty="0">
                <a:solidFill>
                  <a:srgbClr val="FFFFFF"/>
                </a:solidFill>
                <a:latin typeface="MiSans" pitchFamily="34" charset="-122"/>
                <a:ea typeface="MiSans" pitchFamily="34" charset="-122"/>
                <a:cs typeface="MiSans" pitchFamily="34" charset="-120"/>
              </a:rPr>
              <a:t>实际效果验证</a:t>
            </a:r>
            <a:endParaRPr lang="en-US" sz="1600" dirty="0"/>
          </a:p>
        </p:txBody>
      </p:sp>
      <p:sp>
        <p:nvSpPr>
          <p:cNvPr id="18" name="Shape 15"/>
          <p:cNvSpPr/>
          <p:nvPr>
            <p:custDataLst>
              <p:tags r:id="rId12"/>
            </p:custDataLst>
          </p:nvPr>
        </p:nvSpPr>
        <p:spPr>
          <a:xfrm>
            <a:off x="8699503" y="3837334"/>
            <a:ext cx="2575045" cy="2495876"/>
          </a:xfrm>
          <a:prstGeom prst="rect">
            <a:avLst/>
          </a:prstGeom>
          <a:solidFill>
            <a:srgbClr val="000000">
              <a:alpha val="0"/>
            </a:srgbClr>
          </a:solidFill>
        </p:spPr>
      </p:sp>
      <p:sp>
        <p:nvSpPr>
          <p:cNvPr id="19" name="Text 16"/>
          <p:cNvSpPr/>
          <p:nvPr>
            <p:custDataLst>
              <p:tags r:id="rId13"/>
            </p:custDataLst>
          </p:nvPr>
        </p:nvSpPr>
        <p:spPr>
          <a:xfrm>
            <a:off x="8699503" y="3837334"/>
            <a:ext cx="2575045" cy="2495876"/>
          </a:xfrm>
          <a:prstGeom prst="rect">
            <a:avLst/>
          </a:prstGeom>
          <a:noFill/>
        </p:spPr>
        <p:txBody>
          <a:bodyPr wrap="square" lIns="0" tIns="0" rIns="0" bIns="0" rtlCol="0" anchor="t"/>
          <a:lstStyle/>
          <a:p>
            <a:pPr algn="just">
              <a:lnSpc>
                <a:spcPct val="130000"/>
              </a:lnSpc>
            </a:pPr>
            <a:r>
              <a:rPr lang="en-US" sz="1400" dirty="0">
                <a:solidFill>
                  <a:srgbClr val="FFFFFF"/>
                </a:solidFill>
                <a:latin typeface="MiSans" pitchFamily="34" charset="-122"/>
                <a:ea typeface="MiSans" pitchFamily="34" charset="-122"/>
                <a:cs typeface="MiSans" pitchFamily="34" charset="-120"/>
              </a:rPr>
              <a:t>以登录注册类为例，系统可将模糊需求转化为含前提条件、操作步骤的标准化描述，需求完整性</a:t>
            </a:r>
            <a:r>
              <a:rPr lang="zh-CN" altLang="en-US" sz="1400" dirty="0">
                <a:solidFill>
                  <a:srgbClr val="FFFFFF"/>
                </a:solidFill>
                <a:latin typeface="MiSans" pitchFamily="34" charset="-122"/>
                <a:ea typeface="MiSans" pitchFamily="34" charset="-122"/>
                <a:cs typeface="MiSans" pitchFamily="34" charset="-120"/>
              </a:rPr>
              <a:t>得到显著</a:t>
            </a:r>
            <a:r>
              <a:rPr lang="en-US" sz="1400" dirty="0">
                <a:solidFill>
                  <a:srgbClr val="FFFFFF"/>
                </a:solidFill>
                <a:latin typeface="MiSans" pitchFamily="34" charset="-122"/>
                <a:ea typeface="MiSans" pitchFamily="34" charset="-122"/>
                <a:cs typeface="MiSans" pitchFamily="34" charset="-120"/>
              </a:rPr>
              <a:t>提高。</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sp>
        <p:nvSpPr>
          <p:cNvPr id="5" name="Shape 3"/>
          <p:cNvSpPr/>
          <p:nvPr/>
        </p:nvSpPr>
        <p:spPr>
          <a:xfrm>
            <a:off x="848360" y="6346190"/>
            <a:ext cx="163338" cy="153035"/>
          </a:xfrm>
          <a:prstGeom prst="rect">
            <a:avLst/>
          </a:prstGeom>
          <a:solidFill>
            <a:srgbClr val="004CC0"/>
          </a:solidFill>
        </p:spPr>
      </p:sp>
      <p:sp>
        <p:nvSpPr>
          <p:cNvPr id="6" name="Shape 4"/>
          <p:cNvSpPr/>
          <p:nvPr/>
        </p:nvSpPr>
        <p:spPr>
          <a:xfrm>
            <a:off x="1122291" y="6346190"/>
            <a:ext cx="163338" cy="153035"/>
          </a:xfrm>
          <a:prstGeom prst="rect">
            <a:avLst/>
          </a:prstGeom>
          <a:solidFill>
            <a:srgbClr val="004CC0"/>
          </a:solidFill>
        </p:spPr>
      </p:sp>
      <p:sp>
        <p:nvSpPr>
          <p:cNvPr id="7" name="Shape 5"/>
          <p:cNvSpPr/>
          <p:nvPr/>
        </p:nvSpPr>
        <p:spPr>
          <a:xfrm>
            <a:off x="1396222" y="6346190"/>
            <a:ext cx="163338" cy="153035"/>
          </a:xfrm>
          <a:prstGeom prst="rect">
            <a:avLst/>
          </a:prstGeom>
          <a:solidFill>
            <a:srgbClr val="004CC0"/>
          </a:solidFill>
        </p:spPr>
      </p:sp>
      <p:sp>
        <p:nvSpPr>
          <p:cNvPr id="8" name="Shape 6"/>
          <p:cNvSpPr/>
          <p:nvPr>
            <p:custDataLst>
              <p:tags r:id="rId1"/>
            </p:custDataLst>
          </p:nvPr>
        </p:nvSpPr>
        <p:spPr>
          <a:xfrm>
            <a:off x="663575" y="1241743"/>
            <a:ext cx="2590777" cy="4768850"/>
          </a:xfrm>
          <a:prstGeom prst="roundRect">
            <a:avLst>
              <a:gd name="adj" fmla="val 50000"/>
            </a:avLst>
          </a:prstGeom>
          <a:solidFill>
            <a:srgbClr val="000000">
              <a:alpha val="0"/>
            </a:srgbClr>
          </a:solidFill>
          <a:ln w="12700">
            <a:solidFill>
              <a:srgbClr val="004CC0"/>
            </a:solidFill>
            <a:prstDash val="solid"/>
          </a:ln>
        </p:spPr>
      </p:sp>
      <p:sp>
        <p:nvSpPr>
          <p:cNvPr id="9" name="Shape 7"/>
          <p:cNvSpPr/>
          <p:nvPr>
            <p:custDataLst>
              <p:tags r:id="rId2"/>
            </p:custDataLst>
          </p:nvPr>
        </p:nvSpPr>
        <p:spPr>
          <a:xfrm>
            <a:off x="3421992" y="1241743"/>
            <a:ext cx="2590165" cy="4768850"/>
          </a:xfrm>
          <a:prstGeom prst="roundRect">
            <a:avLst>
              <a:gd name="adj" fmla="val 50000"/>
            </a:avLst>
          </a:prstGeom>
          <a:solidFill>
            <a:srgbClr val="004CC0"/>
          </a:solidFill>
          <a:ln w="12700">
            <a:solidFill>
              <a:srgbClr val="004CC0"/>
            </a:solidFill>
            <a:prstDash val="solid"/>
          </a:ln>
        </p:spPr>
      </p:sp>
      <p:sp>
        <p:nvSpPr>
          <p:cNvPr id="10" name="Shape 8"/>
          <p:cNvSpPr/>
          <p:nvPr>
            <p:custDataLst>
              <p:tags r:id="rId3"/>
            </p:custDataLst>
          </p:nvPr>
        </p:nvSpPr>
        <p:spPr>
          <a:xfrm>
            <a:off x="6179797" y="1241743"/>
            <a:ext cx="2590165" cy="4768850"/>
          </a:xfrm>
          <a:prstGeom prst="roundRect">
            <a:avLst>
              <a:gd name="adj" fmla="val 50000"/>
            </a:avLst>
          </a:prstGeom>
          <a:solidFill>
            <a:srgbClr val="000000">
              <a:alpha val="0"/>
            </a:srgbClr>
          </a:solidFill>
          <a:ln w="12700">
            <a:solidFill>
              <a:srgbClr val="004CC0"/>
            </a:solidFill>
            <a:prstDash val="solid"/>
          </a:ln>
        </p:spPr>
      </p:sp>
      <p:sp>
        <p:nvSpPr>
          <p:cNvPr id="11" name="Shape 9"/>
          <p:cNvSpPr/>
          <p:nvPr>
            <p:custDataLst>
              <p:tags r:id="rId4"/>
            </p:custDataLst>
          </p:nvPr>
        </p:nvSpPr>
        <p:spPr>
          <a:xfrm>
            <a:off x="8937602" y="1241743"/>
            <a:ext cx="2590165" cy="4768850"/>
          </a:xfrm>
          <a:prstGeom prst="roundRect">
            <a:avLst>
              <a:gd name="adj" fmla="val 50000"/>
            </a:avLst>
          </a:prstGeom>
          <a:solidFill>
            <a:srgbClr val="004CC0"/>
          </a:solidFill>
          <a:ln w="12700">
            <a:solidFill>
              <a:srgbClr val="004CC0"/>
            </a:solidFill>
            <a:prstDash val="solid"/>
          </a:ln>
        </p:spPr>
      </p:sp>
      <p:sp>
        <p:nvSpPr>
          <p:cNvPr id="12" name="Text 10"/>
          <p:cNvSpPr/>
          <p:nvPr/>
        </p:nvSpPr>
        <p:spPr>
          <a:xfrm>
            <a:off x="582930" y="211455"/>
            <a:ext cx="10151745" cy="583565"/>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122"/>
                <a:ea typeface="MiSans" pitchFamily="34" charset="-122"/>
                <a:cs typeface="MiSans" pitchFamily="34" charset="-120"/>
              </a:rPr>
              <a:t>后端接口</a:t>
            </a:r>
            <a:r>
              <a:rPr lang="zh-CN" altLang="en-US" sz="3200" b="1" dirty="0">
                <a:solidFill>
                  <a:srgbClr val="000000"/>
                </a:solidFill>
                <a:latin typeface="MiSans" pitchFamily="34" charset="-122"/>
                <a:ea typeface="MiSans" pitchFamily="34" charset="-122"/>
                <a:cs typeface="MiSans" pitchFamily="34" charset="-120"/>
              </a:rPr>
              <a:t>故事</a:t>
            </a:r>
            <a:r>
              <a:rPr lang="en-US" sz="3200" b="1" dirty="0">
                <a:solidFill>
                  <a:srgbClr val="000000"/>
                </a:solidFill>
                <a:latin typeface="MiSans" pitchFamily="34" charset="-122"/>
                <a:ea typeface="MiSans" pitchFamily="34" charset="-122"/>
                <a:cs typeface="MiSans" pitchFamily="34" charset="-120"/>
              </a:rPr>
              <a:t>生成模块</a:t>
            </a:r>
            <a:endParaRPr lang="en-US" sz="1600" dirty="0"/>
          </a:p>
        </p:txBody>
      </p:sp>
      <p:sp>
        <p:nvSpPr>
          <p:cNvPr id="13" name="Text 11"/>
          <p:cNvSpPr/>
          <p:nvPr>
            <p:custDataLst>
              <p:tags r:id="rId5"/>
            </p:custDataLst>
          </p:nvPr>
        </p:nvSpPr>
        <p:spPr>
          <a:xfrm>
            <a:off x="921245" y="1770698"/>
            <a:ext cx="2092574" cy="771525"/>
          </a:xfrm>
          <a:prstGeom prst="rect">
            <a:avLst/>
          </a:prstGeom>
          <a:noFill/>
        </p:spPr>
        <p:txBody>
          <a:bodyPr wrap="square" lIns="90043" tIns="46863" rIns="90043" bIns="0" rtlCol="0" anchor="ctr"/>
          <a:lstStyle/>
          <a:p>
            <a:pPr algn="just">
              <a:lnSpc>
                <a:spcPct val="100000"/>
              </a:lnSpc>
            </a:pPr>
            <a:r>
              <a:rPr lang="en-US" sz="1600" b="1" dirty="0">
                <a:solidFill>
                  <a:srgbClr val="004CC0"/>
                </a:solidFill>
                <a:latin typeface="MiSans" pitchFamily="34" charset="-122"/>
                <a:ea typeface="MiSans" pitchFamily="34" charset="-122"/>
                <a:cs typeface="MiSans" pitchFamily="34" charset="-120"/>
              </a:rPr>
              <a:t>FastAPI后端框架</a:t>
            </a:r>
            <a:endParaRPr lang="en-US" sz="1600" dirty="0"/>
          </a:p>
        </p:txBody>
      </p:sp>
      <p:sp>
        <p:nvSpPr>
          <p:cNvPr id="14" name="Text 12"/>
          <p:cNvSpPr/>
          <p:nvPr>
            <p:custDataLst>
              <p:tags r:id="rId6"/>
            </p:custDataLst>
          </p:nvPr>
        </p:nvSpPr>
        <p:spPr>
          <a:xfrm>
            <a:off x="921245" y="2481263"/>
            <a:ext cx="2092574" cy="2643505"/>
          </a:xfrm>
          <a:prstGeom prst="rect">
            <a:avLst/>
          </a:prstGeom>
          <a:noFill/>
        </p:spPr>
        <p:txBody>
          <a:bodyPr wrap="square" lIns="0" tIns="0" rIns="0" bIns="0" rtlCol="0" anchor="t"/>
          <a:lstStyle/>
          <a:p>
            <a:pPr algn="just">
              <a:lnSpc>
                <a:spcPct val="130000"/>
              </a:lnSpc>
            </a:pPr>
            <a:r>
              <a:rPr lang="en-US" sz="1400" dirty="0">
                <a:solidFill>
                  <a:srgbClr val="000000"/>
                </a:solidFill>
                <a:latin typeface="MiSans" pitchFamily="34" charset="-122"/>
                <a:ea typeface="MiSans" pitchFamily="34" charset="-122"/>
                <a:cs typeface="MiSans" pitchFamily="34" charset="-120"/>
              </a:rPr>
              <a:t>提供健康检查、知识增强预览、用户故事生成、生成并评价、批量生成等接口。</a:t>
            </a:r>
            <a:endParaRPr lang="en-US" sz="1600" dirty="0"/>
          </a:p>
        </p:txBody>
      </p:sp>
      <p:sp>
        <p:nvSpPr>
          <p:cNvPr id="15" name="Text 13"/>
          <p:cNvSpPr/>
          <p:nvPr>
            <p:custDataLst>
              <p:tags r:id="rId7"/>
            </p:custDataLst>
          </p:nvPr>
        </p:nvSpPr>
        <p:spPr>
          <a:xfrm>
            <a:off x="3679601" y="1770698"/>
            <a:ext cx="2092080" cy="771525"/>
          </a:xfrm>
          <a:prstGeom prst="rect">
            <a:avLst/>
          </a:prstGeom>
          <a:noFill/>
        </p:spPr>
        <p:txBody>
          <a:bodyPr wrap="square" lIns="90043" tIns="46863" rIns="90043" bIns="0" rtlCol="0" anchor="ctr"/>
          <a:lstStyle/>
          <a:p>
            <a:pPr algn="just">
              <a:lnSpc>
                <a:spcPct val="100000"/>
              </a:lnSpc>
            </a:pPr>
            <a:r>
              <a:rPr lang="en-US" sz="1600" b="1" dirty="0">
                <a:solidFill>
                  <a:srgbClr val="FFFFFF"/>
                </a:solidFill>
                <a:latin typeface="MiSans" pitchFamily="34" charset="-122"/>
                <a:ea typeface="MiSans" pitchFamily="34" charset="-122"/>
                <a:cs typeface="MiSans" pitchFamily="34" charset="-120"/>
              </a:rPr>
              <a:t>统一响应结构</a:t>
            </a:r>
            <a:endParaRPr lang="en-US" sz="1600" dirty="0"/>
          </a:p>
        </p:txBody>
      </p:sp>
      <p:sp>
        <p:nvSpPr>
          <p:cNvPr id="16" name="Text 14"/>
          <p:cNvSpPr/>
          <p:nvPr>
            <p:custDataLst>
              <p:tags r:id="rId8"/>
            </p:custDataLst>
          </p:nvPr>
        </p:nvSpPr>
        <p:spPr>
          <a:xfrm>
            <a:off x="3679601" y="2481263"/>
            <a:ext cx="2092080" cy="2643505"/>
          </a:xfrm>
          <a:prstGeom prst="rect">
            <a:avLst/>
          </a:prstGeom>
          <a:noFill/>
        </p:spPr>
        <p:txBody>
          <a:bodyPr wrap="square" lIns="0" tIns="0" rIns="0" bIns="0" rtlCol="0" anchor="t"/>
          <a:lstStyle/>
          <a:p>
            <a:pPr algn="just">
              <a:lnSpc>
                <a:spcPct val="130000"/>
              </a:lnSpc>
            </a:pPr>
            <a:r>
              <a:rPr lang="en-US" sz="1400" dirty="0">
                <a:solidFill>
                  <a:srgbClr val="FFFFFF"/>
                </a:solidFill>
                <a:latin typeface="MiSans" pitchFamily="34" charset="-122"/>
                <a:ea typeface="MiSans" pitchFamily="34" charset="-122"/>
                <a:cs typeface="MiSans" pitchFamily="34" charset="-120"/>
              </a:rPr>
              <a:t>封装success、message、data三个字段，便于前端状态判断和结果渲染。</a:t>
            </a:r>
            <a:endParaRPr lang="en-US" sz="1600" dirty="0"/>
          </a:p>
        </p:txBody>
      </p:sp>
      <p:sp>
        <p:nvSpPr>
          <p:cNvPr id="17" name="Text 15"/>
          <p:cNvSpPr/>
          <p:nvPr>
            <p:custDataLst>
              <p:tags r:id="rId9"/>
            </p:custDataLst>
          </p:nvPr>
        </p:nvSpPr>
        <p:spPr>
          <a:xfrm>
            <a:off x="6437406" y="1770698"/>
            <a:ext cx="2092080" cy="771525"/>
          </a:xfrm>
          <a:prstGeom prst="rect">
            <a:avLst/>
          </a:prstGeom>
          <a:noFill/>
        </p:spPr>
        <p:txBody>
          <a:bodyPr wrap="square" lIns="90043" tIns="46863" rIns="90043" bIns="0" rtlCol="0" anchor="ctr"/>
          <a:lstStyle/>
          <a:p>
            <a:pPr algn="just">
              <a:lnSpc>
                <a:spcPct val="100000"/>
              </a:lnSpc>
            </a:pPr>
            <a:r>
              <a:rPr lang="en-US" sz="1600" b="1" dirty="0">
                <a:solidFill>
                  <a:srgbClr val="004CC0"/>
                </a:solidFill>
                <a:latin typeface="MiSans" pitchFamily="34" charset="-122"/>
                <a:ea typeface="MiSans" pitchFamily="34" charset="-122"/>
                <a:cs typeface="MiSans" pitchFamily="34" charset="-120"/>
              </a:rPr>
              <a:t>Prompt工程约束</a:t>
            </a:r>
            <a:endParaRPr lang="en-US" sz="1600" dirty="0"/>
          </a:p>
        </p:txBody>
      </p:sp>
      <p:sp>
        <p:nvSpPr>
          <p:cNvPr id="18" name="Text 16"/>
          <p:cNvSpPr/>
          <p:nvPr>
            <p:custDataLst>
              <p:tags r:id="rId10"/>
            </p:custDataLst>
          </p:nvPr>
        </p:nvSpPr>
        <p:spPr>
          <a:xfrm>
            <a:off x="6437406" y="2481263"/>
            <a:ext cx="2092080" cy="2643505"/>
          </a:xfrm>
          <a:prstGeom prst="rect">
            <a:avLst/>
          </a:prstGeom>
          <a:noFill/>
        </p:spPr>
        <p:txBody>
          <a:bodyPr wrap="square" lIns="0" tIns="0" rIns="0" bIns="0" rtlCol="0" anchor="t"/>
          <a:lstStyle/>
          <a:p>
            <a:pPr algn="just">
              <a:lnSpc>
                <a:spcPct val="130000"/>
              </a:lnSpc>
            </a:pPr>
            <a:r>
              <a:rPr lang="en-US" sz="1400" dirty="0">
                <a:solidFill>
                  <a:srgbClr val="000000"/>
                </a:solidFill>
                <a:latin typeface="MiSans" pitchFamily="34" charset="-122"/>
                <a:ea typeface="MiSans" pitchFamily="34" charset="-122"/>
                <a:cs typeface="MiSans" pitchFamily="34" charset="-120"/>
              </a:rPr>
              <a:t>从角色设定、输出语言、JSON格式、故事模板和依赖字段等方面约束模型输出。</a:t>
            </a:r>
            <a:endParaRPr lang="en-US" sz="1600" dirty="0"/>
          </a:p>
        </p:txBody>
      </p:sp>
      <p:sp>
        <p:nvSpPr>
          <p:cNvPr id="19" name="Text 17"/>
          <p:cNvSpPr/>
          <p:nvPr>
            <p:custDataLst>
              <p:tags r:id="rId11"/>
            </p:custDataLst>
          </p:nvPr>
        </p:nvSpPr>
        <p:spPr>
          <a:xfrm>
            <a:off x="9195211" y="1770698"/>
            <a:ext cx="2092080" cy="771525"/>
          </a:xfrm>
          <a:prstGeom prst="rect">
            <a:avLst/>
          </a:prstGeom>
          <a:noFill/>
        </p:spPr>
        <p:txBody>
          <a:bodyPr wrap="square" lIns="90043" tIns="46863" rIns="90043" bIns="0" rtlCol="0" anchor="ctr"/>
          <a:lstStyle/>
          <a:p>
            <a:pPr algn="just">
              <a:lnSpc>
                <a:spcPct val="100000"/>
              </a:lnSpc>
            </a:pPr>
            <a:r>
              <a:rPr lang="en-US" sz="1600" b="1" dirty="0">
                <a:solidFill>
                  <a:srgbClr val="FFFFFF"/>
                </a:solidFill>
                <a:latin typeface="MiSans" pitchFamily="34" charset="-122"/>
                <a:ea typeface="MiSans" pitchFamily="34" charset="-122"/>
                <a:cs typeface="MiSans" pitchFamily="34" charset="-120"/>
              </a:rPr>
              <a:t>核心生成逻辑</a:t>
            </a:r>
            <a:endParaRPr lang="en-US" sz="1600" dirty="0"/>
          </a:p>
        </p:txBody>
      </p:sp>
      <p:sp>
        <p:nvSpPr>
          <p:cNvPr id="20" name="Text 18"/>
          <p:cNvSpPr/>
          <p:nvPr>
            <p:custDataLst>
              <p:tags r:id="rId12"/>
            </p:custDataLst>
          </p:nvPr>
        </p:nvSpPr>
        <p:spPr>
          <a:xfrm>
            <a:off x="9195211" y="2481263"/>
            <a:ext cx="2092080" cy="2643505"/>
          </a:xfrm>
          <a:prstGeom prst="rect">
            <a:avLst/>
          </a:prstGeom>
          <a:noFill/>
        </p:spPr>
        <p:txBody>
          <a:bodyPr wrap="square" lIns="0" tIns="0" rIns="0" bIns="0" rtlCol="0" anchor="t"/>
          <a:lstStyle/>
          <a:p>
            <a:pPr algn="just">
              <a:lnSpc>
                <a:spcPct val="130000"/>
              </a:lnSpc>
            </a:pPr>
            <a:r>
              <a:rPr lang="en-US" sz="1400" dirty="0">
                <a:solidFill>
                  <a:srgbClr val="FFFFFF"/>
                </a:solidFill>
                <a:latin typeface="MiSans" pitchFamily="34" charset="-122"/>
                <a:ea typeface="MiSans" pitchFamily="34" charset="-122"/>
                <a:cs typeface="MiSans" pitchFamily="34" charset="-120"/>
              </a:rPr>
              <a:t>llm_module.py负责构造Prompt并调用DeepSeek API，要求返回严格合法JSON对象。</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sp>
        <p:nvSpPr>
          <p:cNvPr id="5" name="Shape 3"/>
          <p:cNvSpPr/>
          <p:nvPr>
            <p:custDataLst>
              <p:tags r:id="rId1"/>
            </p:custDataLst>
          </p:nvPr>
        </p:nvSpPr>
        <p:spPr>
          <a:xfrm flipH="1" flipV="1">
            <a:off x="6171957" y="1422400"/>
            <a:ext cx="5348515" cy="4749800"/>
          </a:xfrm>
          <a:prstGeom prst="round2DiagRect">
            <a:avLst>
              <a:gd name="adj1" fmla="val 16667"/>
              <a:gd name="adj2" fmla="val 0"/>
            </a:avLst>
          </a:prstGeom>
          <a:solidFill>
            <a:srgbClr val="1D3EBF"/>
          </a:solidFill>
        </p:spPr>
      </p:sp>
      <p:sp>
        <p:nvSpPr>
          <p:cNvPr id="6" name="Shape 4"/>
          <p:cNvSpPr/>
          <p:nvPr>
            <p:custDataLst>
              <p:tags r:id="rId2"/>
            </p:custDataLst>
          </p:nvPr>
        </p:nvSpPr>
        <p:spPr>
          <a:xfrm flipV="1">
            <a:off x="671527" y="1422400"/>
            <a:ext cx="5348515" cy="4749800"/>
          </a:xfrm>
          <a:prstGeom prst="round2DiagRect">
            <a:avLst>
              <a:gd name="adj1" fmla="val 16667"/>
              <a:gd name="adj2" fmla="val 0"/>
            </a:avLst>
          </a:prstGeom>
          <a:solidFill>
            <a:srgbClr val="FFFFFF"/>
          </a:solidFill>
          <a:ln w="19050">
            <a:solidFill>
              <a:srgbClr val="004CC0"/>
            </a:solidFill>
            <a:prstDash val="solid"/>
          </a:ln>
        </p:spPr>
      </p:sp>
      <p:sp>
        <p:nvSpPr>
          <p:cNvPr id="7" name="Text 5"/>
          <p:cNvSpPr/>
          <p:nvPr/>
        </p:nvSpPr>
        <p:spPr>
          <a:xfrm>
            <a:off x="582930" y="211455"/>
            <a:ext cx="10151745" cy="5867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122"/>
                <a:ea typeface="MiSans" pitchFamily="34" charset="-122"/>
                <a:cs typeface="MiSans" pitchFamily="34" charset="-120"/>
              </a:rPr>
              <a:t>任务依赖关系构建与多轮推理优化</a:t>
            </a:r>
            <a:endParaRPr lang="en-US" sz="1600" dirty="0"/>
          </a:p>
        </p:txBody>
      </p:sp>
      <p:sp>
        <p:nvSpPr>
          <p:cNvPr id="8" name="Text 6"/>
          <p:cNvSpPr/>
          <p:nvPr>
            <p:custDataLst>
              <p:tags r:id="rId3"/>
            </p:custDataLst>
          </p:nvPr>
        </p:nvSpPr>
        <p:spPr>
          <a:xfrm>
            <a:off x="1044961" y="1958629"/>
            <a:ext cx="4285712" cy="529590"/>
          </a:xfrm>
          <a:prstGeom prst="rect">
            <a:avLst/>
          </a:prstGeom>
          <a:noFill/>
        </p:spPr>
        <p:txBody>
          <a:bodyPr wrap="square" lIns="91440" tIns="45720" rIns="91440" bIns="45720" rtlCol="0" anchor="t">
            <a:spAutoFit/>
          </a:bodyPr>
          <a:lstStyle/>
          <a:p>
            <a:pPr algn="just">
              <a:lnSpc>
                <a:spcPct val="100000"/>
              </a:lnSpc>
            </a:pPr>
            <a:r>
              <a:rPr lang="en-US" sz="2800" dirty="0">
                <a:solidFill>
                  <a:srgbClr val="1D3EBF"/>
                </a:solidFill>
                <a:latin typeface="MiSans" pitchFamily="34" charset="-122"/>
                <a:ea typeface="MiSans" pitchFamily="34" charset="-122"/>
                <a:cs typeface="MiSans" pitchFamily="34" charset="-120"/>
              </a:rPr>
              <a:t>依赖图谱构建算法</a:t>
            </a:r>
            <a:endParaRPr lang="en-US" sz="1600" dirty="0"/>
          </a:p>
        </p:txBody>
      </p:sp>
      <p:sp>
        <p:nvSpPr>
          <p:cNvPr id="9" name="Text 7"/>
          <p:cNvSpPr/>
          <p:nvPr>
            <p:custDataLst>
              <p:tags r:id="rId4"/>
            </p:custDataLst>
          </p:nvPr>
        </p:nvSpPr>
        <p:spPr>
          <a:xfrm>
            <a:off x="1080309" y="2894305"/>
            <a:ext cx="4215624" cy="2651482"/>
          </a:xfrm>
          <a:prstGeom prst="rect">
            <a:avLst/>
          </a:prstGeom>
          <a:noFill/>
        </p:spPr>
        <p:txBody>
          <a:bodyPr wrap="square" lIns="91440" tIns="45720" rIns="91440" bIns="45720" rtlCol="0" anchor="t">
            <a:spAutoFit/>
          </a:bodyPr>
          <a:lstStyle/>
          <a:p>
            <a:pPr algn="just">
              <a:lnSpc>
                <a:spcPct val="120000"/>
              </a:lnSpc>
            </a:pPr>
            <a:r>
              <a:rPr lang="en-US" sz="2000" dirty="0">
                <a:solidFill>
                  <a:srgbClr val="000000"/>
                </a:solidFill>
                <a:latin typeface="MiSans" pitchFamily="34" charset="-122"/>
                <a:ea typeface="MiSans" pitchFamily="34" charset="-122"/>
                <a:cs typeface="MiSans" pitchFamily="34" charset="-120"/>
              </a:rPr>
              <a:t>采用语义角色标注和规则匹配相结合的方法，根据知识库预设模板和条件自动生成有向边，支持异常处理路径和跨故事资源冲突检测，最终形成有向无环图DAG，每个节点包含任务ID、描述、所属故事和执行条件。</a:t>
            </a:r>
            <a:endParaRPr lang="en-US" sz="1600" dirty="0"/>
          </a:p>
        </p:txBody>
      </p:sp>
      <p:sp>
        <p:nvSpPr>
          <p:cNvPr id="10" name="Text 8"/>
          <p:cNvSpPr/>
          <p:nvPr>
            <p:custDataLst>
              <p:tags r:id="rId5"/>
            </p:custDataLst>
          </p:nvPr>
        </p:nvSpPr>
        <p:spPr>
          <a:xfrm>
            <a:off x="6729384" y="1958629"/>
            <a:ext cx="4285712" cy="529590"/>
          </a:xfrm>
          <a:prstGeom prst="rect">
            <a:avLst/>
          </a:prstGeom>
          <a:noFill/>
        </p:spPr>
        <p:txBody>
          <a:bodyPr wrap="square" lIns="91440" tIns="45720" rIns="91440" bIns="45720" rtlCol="0" anchor="t">
            <a:spAutoFit/>
          </a:bodyPr>
          <a:lstStyle/>
          <a:p>
            <a:pPr algn="r">
              <a:lnSpc>
                <a:spcPct val="100000"/>
              </a:lnSpc>
            </a:pPr>
            <a:r>
              <a:rPr lang="en-US" sz="2800" dirty="0">
                <a:solidFill>
                  <a:srgbClr val="FFFFFF"/>
                </a:solidFill>
                <a:latin typeface="MiSans" pitchFamily="34" charset="-122"/>
                <a:ea typeface="MiSans" pitchFamily="34" charset="-122"/>
                <a:cs typeface="MiSans" pitchFamily="34" charset="-120"/>
              </a:rPr>
              <a:t>生成-验证-反馈闭环</a:t>
            </a:r>
            <a:endParaRPr lang="en-US" sz="1600" dirty="0"/>
          </a:p>
        </p:txBody>
      </p:sp>
      <p:sp>
        <p:nvSpPr>
          <p:cNvPr id="11" name="Text 9"/>
          <p:cNvSpPr/>
          <p:nvPr>
            <p:custDataLst>
              <p:tags r:id="rId6"/>
            </p:custDataLst>
          </p:nvPr>
        </p:nvSpPr>
        <p:spPr>
          <a:xfrm>
            <a:off x="6799472" y="2894305"/>
            <a:ext cx="4215624" cy="2306955"/>
          </a:xfrm>
          <a:prstGeom prst="rect">
            <a:avLst/>
          </a:prstGeom>
          <a:noFill/>
        </p:spPr>
        <p:txBody>
          <a:bodyPr wrap="square" lIns="91440" tIns="45720" rIns="91440" bIns="45720" rtlCol="0" anchor="t">
            <a:spAutoFit/>
          </a:bodyPr>
          <a:lstStyle/>
          <a:p>
            <a:pPr algn="just">
              <a:lnSpc>
                <a:spcPct val="120000"/>
              </a:lnSpc>
            </a:pPr>
            <a:r>
              <a:rPr lang="en-US" sz="2000" dirty="0">
                <a:solidFill>
                  <a:srgbClr val="FFFFFF"/>
                </a:solidFill>
                <a:latin typeface="MiSans" pitchFamily="34" charset="-122"/>
                <a:ea typeface="MiSans" pitchFamily="34" charset="-122"/>
                <a:cs typeface="MiSans" pitchFamily="34" charset="-120"/>
              </a:rPr>
              <a:t>第一轮LLM生成初步任务及依赖，知识验证模块根据业务规则判断合理性；后续轮次将验证结果结构化反馈给LLM进行局部重生成，经2-3轮推理后逻辑错误大幅减少，异常路径覆盖率提高，任务完整性</a:t>
            </a:r>
            <a:r>
              <a:rPr lang="zh-CN" altLang="en-US" sz="2000" dirty="0">
                <a:solidFill>
                  <a:srgbClr val="FFFFFF"/>
                </a:solidFill>
                <a:latin typeface="MiSans" pitchFamily="34" charset="-122"/>
                <a:ea typeface="MiSans" pitchFamily="34" charset="-122"/>
                <a:cs typeface="MiSans" pitchFamily="34" charset="-120"/>
              </a:rPr>
              <a:t>高</a:t>
            </a:r>
            <a:r>
              <a:rPr lang="en-US" sz="2000" dirty="0">
                <a:solidFill>
                  <a:srgbClr val="FFFFFF"/>
                </a:solidFill>
                <a:latin typeface="MiSans" pitchFamily="34" charset="-122"/>
                <a:ea typeface="MiSans" pitchFamily="34" charset="-122"/>
                <a:cs typeface="MiSans" pitchFamily="34" charset="-120"/>
              </a:rPr>
              <a: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pic>
        <p:nvPicPr>
          <p:cNvPr id="5" name="Image 0" descr="https://kimi-img.moonshot.cn/pub/slides/slides_tmpl/image/25-09-04-15:50:51-d2sk9mu1bb2p4onbqecg.jpg"/>
          <p:cNvPicPr>
            <a:picLocks noChangeAspect="1"/>
          </p:cNvPicPr>
          <p:nvPr/>
        </p:nvPicPr>
        <p:blipFill>
          <a:blip r:embed="rId1"/>
          <a:stretch>
            <a:fillRect/>
          </a:stretch>
        </p:blipFill>
        <p:spPr>
          <a:xfrm>
            <a:off x="0" y="0"/>
            <a:ext cx="12203430" cy="6842760"/>
          </a:xfrm>
          <a:prstGeom prst="rect">
            <a:avLst/>
          </a:prstGeom>
        </p:spPr>
      </p:pic>
      <p:sp>
        <p:nvSpPr>
          <p:cNvPr id="6" name="Shape 3"/>
          <p:cNvSpPr/>
          <p:nvPr/>
        </p:nvSpPr>
        <p:spPr>
          <a:xfrm>
            <a:off x="-27940" y="-8890"/>
            <a:ext cx="12247880" cy="6875780"/>
          </a:xfrm>
          <a:prstGeom prst="rect">
            <a:avLst/>
          </a:prstGeom>
          <a:solidFill>
            <a:srgbClr val="1D3EBF">
              <a:alpha val="94902"/>
            </a:srgbClr>
          </a:solidFill>
        </p:spPr>
      </p:sp>
      <p:sp>
        <p:nvSpPr>
          <p:cNvPr id="7" name="Text 4"/>
          <p:cNvSpPr/>
          <p:nvPr/>
        </p:nvSpPr>
        <p:spPr>
          <a:xfrm>
            <a:off x="4060825" y="2246630"/>
            <a:ext cx="6873875" cy="1014730"/>
          </a:xfrm>
          <a:prstGeom prst="rect">
            <a:avLst/>
          </a:prstGeom>
          <a:noFill/>
        </p:spPr>
        <p:txBody>
          <a:bodyPr wrap="square" lIns="91440" tIns="45720" rIns="91440" bIns="45720" rtlCol="0" anchor="t">
            <a:spAutoFit/>
          </a:bodyPr>
          <a:lstStyle/>
          <a:p>
            <a:pPr>
              <a:lnSpc>
                <a:spcPct val="100000"/>
              </a:lnSpc>
            </a:pPr>
            <a:r>
              <a:rPr lang="zh-CN" altLang="en-US" sz="6000" dirty="0">
                <a:solidFill>
                  <a:srgbClr val="FFFFFF"/>
                </a:solidFill>
                <a:latin typeface="MiSans" pitchFamily="34" charset="-122"/>
                <a:ea typeface="MiSans" pitchFamily="34" charset="-122"/>
                <a:cs typeface="MiSans" pitchFamily="34" charset="-120"/>
              </a:rPr>
              <a:t>问题与解决</a:t>
            </a:r>
            <a:r>
              <a:rPr lang="zh-CN" altLang="en-US" sz="6000" dirty="0">
                <a:solidFill>
                  <a:srgbClr val="FFFFFF"/>
                </a:solidFill>
                <a:latin typeface="MiSans" pitchFamily="34" charset="-122"/>
                <a:ea typeface="MiSans" pitchFamily="34" charset="-122"/>
                <a:cs typeface="MiSans" pitchFamily="34" charset="-120"/>
              </a:rPr>
              <a:t>方案</a:t>
            </a:r>
            <a:endParaRPr lang="zh-CN" altLang="en-US" sz="6000" dirty="0">
              <a:solidFill>
                <a:srgbClr val="FFFFFF"/>
              </a:solidFill>
              <a:latin typeface="MiSans" pitchFamily="34" charset="-122"/>
              <a:ea typeface="MiSans" pitchFamily="34" charset="-122"/>
              <a:cs typeface="MiSans" pitchFamily="34" charset="-120"/>
            </a:endParaRPr>
          </a:p>
        </p:txBody>
      </p:sp>
      <p:sp>
        <p:nvSpPr>
          <p:cNvPr id="8" name="Shape 5"/>
          <p:cNvSpPr/>
          <p:nvPr/>
        </p:nvSpPr>
        <p:spPr>
          <a:xfrm>
            <a:off x="3870960" y="2246630"/>
            <a:ext cx="0" cy="1938020"/>
          </a:xfrm>
          <a:prstGeom prst="line">
            <a:avLst/>
          </a:prstGeom>
          <a:noFill/>
          <a:ln w="19050">
            <a:solidFill>
              <a:srgbClr val="FFFFFF"/>
            </a:solidFill>
            <a:prstDash val="solid"/>
            <a:headEnd type="none"/>
            <a:tailEnd type="none"/>
          </a:ln>
        </p:spPr>
      </p:sp>
      <p:sp>
        <p:nvSpPr>
          <p:cNvPr id="9" name="Text 6"/>
          <p:cNvSpPr/>
          <p:nvPr/>
        </p:nvSpPr>
        <p:spPr>
          <a:xfrm>
            <a:off x="941705" y="2068830"/>
            <a:ext cx="2804160" cy="2221865"/>
          </a:xfrm>
          <a:prstGeom prst="rect">
            <a:avLst/>
          </a:prstGeom>
          <a:noFill/>
        </p:spPr>
        <p:txBody>
          <a:bodyPr wrap="square" lIns="91440" tIns="45720" rIns="91440" bIns="45720" rtlCol="0" anchor="t">
            <a:spAutoFit/>
          </a:bodyPr>
          <a:lstStyle/>
          <a:p>
            <a:pPr algn="r">
              <a:lnSpc>
                <a:spcPct val="100000"/>
              </a:lnSpc>
            </a:pPr>
            <a:r>
              <a:rPr lang="en-US" sz="13800" dirty="0">
                <a:solidFill>
                  <a:srgbClr val="FFFFFF"/>
                </a:solidFill>
                <a:latin typeface="MiSans" pitchFamily="34" charset="-122"/>
                <a:ea typeface="MiSans" pitchFamily="34" charset="-122"/>
                <a:cs typeface="MiSans" pitchFamily="34" charset="-120"/>
              </a:rPr>
              <a:t>04</a:t>
            </a:r>
            <a:endParaRPr lang="en-US" sz="1600" dirty="0"/>
          </a:p>
        </p:txBody>
      </p:sp>
      <p:sp>
        <p:nvSpPr>
          <p:cNvPr id="10" name="Shape 7"/>
          <p:cNvSpPr/>
          <p:nvPr/>
        </p:nvSpPr>
        <p:spPr>
          <a:xfrm rot="2100000">
            <a:off x="9042400" y="3636645"/>
            <a:ext cx="3905250" cy="3905250"/>
          </a:xfrm>
          <a:custGeom>
            <a:avLst/>
            <a:gdLst/>
            <a:ahLst/>
            <a:cxnLst/>
            <a:rect l="l" t="t" r="r" b="b"/>
            <a:pathLst>
              <a:path w="3905250" h="3905250">
                <a:moveTo>
                  <a:pt x="1430788" y="3837117"/>
                </a:moveTo>
                <a:cubicBezTo>
                  <a:pt x="1430788" y="3837117"/>
                  <a:pt x="1430788" y="3837117"/>
                  <a:pt x="2474458" y="3837117"/>
                </a:cubicBezTo>
                <a:cubicBezTo>
                  <a:pt x="2310071" y="3882540"/>
                  <a:pt x="2134213" y="3905250"/>
                  <a:pt x="1950712" y="3905250"/>
                </a:cubicBezTo>
                <a:cubicBezTo>
                  <a:pt x="1771033" y="3905250"/>
                  <a:pt x="1595175" y="3882540"/>
                  <a:pt x="1430788" y="3837117"/>
                </a:cubicBezTo>
                <a:close/>
                <a:moveTo>
                  <a:pt x="972440" y="3642011"/>
                </a:moveTo>
                <a:lnTo>
                  <a:pt x="2929711" y="3642011"/>
                </a:lnTo>
                <a:cubicBezTo>
                  <a:pt x="2849588" y="3687305"/>
                  <a:pt x="2769465" y="3728823"/>
                  <a:pt x="2681713" y="3762792"/>
                </a:cubicBezTo>
                <a:cubicBezTo>
                  <a:pt x="2681713" y="3762792"/>
                  <a:pt x="2681713" y="3762792"/>
                  <a:pt x="1216621" y="3762792"/>
                </a:cubicBezTo>
                <a:cubicBezTo>
                  <a:pt x="1132685" y="3728823"/>
                  <a:pt x="1048746" y="3687305"/>
                  <a:pt x="972440" y="3642011"/>
                </a:cubicBezTo>
                <a:close/>
                <a:moveTo>
                  <a:pt x="696812" y="3450000"/>
                </a:moveTo>
                <a:lnTo>
                  <a:pt x="3205340" y="3450000"/>
                </a:lnTo>
                <a:cubicBezTo>
                  <a:pt x="3151885" y="3491759"/>
                  <a:pt x="3098432" y="3529723"/>
                  <a:pt x="3044977" y="3567684"/>
                </a:cubicBezTo>
                <a:cubicBezTo>
                  <a:pt x="3044977" y="3567684"/>
                  <a:pt x="3044977" y="3567684"/>
                  <a:pt x="857175" y="3567684"/>
                </a:cubicBezTo>
                <a:cubicBezTo>
                  <a:pt x="799902" y="3529723"/>
                  <a:pt x="746447" y="3491759"/>
                  <a:pt x="696812" y="3450000"/>
                </a:cubicBezTo>
                <a:close/>
                <a:moveTo>
                  <a:pt x="498608" y="3254891"/>
                </a:moveTo>
                <a:lnTo>
                  <a:pt x="3403544" y="3254891"/>
                </a:lnTo>
                <a:cubicBezTo>
                  <a:pt x="3365373" y="3297474"/>
                  <a:pt x="3327199" y="3340057"/>
                  <a:pt x="3285209" y="3378769"/>
                </a:cubicBezTo>
                <a:cubicBezTo>
                  <a:pt x="3285209" y="3378769"/>
                  <a:pt x="3285209" y="3378769"/>
                  <a:pt x="616943" y="3378769"/>
                </a:cubicBezTo>
                <a:cubicBezTo>
                  <a:pt x="574953" y="3340057"/>
                  <a:pt x="532964" y="3297474"/>
                  <a:pt x="498608" y="3254891"/>
                </a:cubicBezTo>
                <a:close/>
                <a:moveTo>
                  <a:pt x="346856" y="3065979"/>
                </a:moveTo>
                <a:lnTo>
                  <a:pt x="3558390" y="3065979"/>
                </a:lnTo>
                <a:cubicBezTo>
                  <a:pt x="3527840" y="3107736"/>
                  <a:pt x="3501110" y="3145699"/>
                  <a:pt x="3466742" y="3183663"/>
                </a:cubicBezTo>
                <a:cubicBezTo>
                  <a:pt x="3466742" y="3183663"/>
                  <a:pt x="3466742" y="3183663"/>
                  <a:pt x="434687" y="3183663"/>
                </a:cubicBezTo>
                <a:cubicBezTo>
                  <a:pt x="404137" y="3145699"/>
                  <a:pt x="373587" y="3107736"/>
                  <a:pt x="346856" y="3065979"/>
                </a:cubicBezTo>
                <a:close/>
                <a:moveTo>
                  <a:pt x="229172" y="2870870"/>
                </a:moveTo>
                <a:lnTo>
                  <a:pt x="3676074" y="2870870"/>
                </a:lnTo>
                <a:cubicBezTo>
                  <a:pt x="3653171" y="2912388"/>
                  <a:pt x="3630268" y="2953907"/>
                  <a:pt x="3603548" y="2991652"/>
                </a:cubicBezTo>
                <a:cubicBezTo>
                  <a:pt x="3603548" y="2991652"/>
                  <a:pt x="3603548" y="2991652"/>
                  <a:pt x="297881" y="2991652"/>
                </a:cubicBezTo>
                <a:cubicBezTo>
                  <a:pt x="274978" y="2953907"/>
                  <a:pt x="252075" y="2912388"/>
                  <a:pt x="229172" y="2870870"/>
                </a:cubicBezTo>
                <a:close/>
                <a:moveTo>
                  <a:pt x="136264" y="2678859"/>
                </a:moveTo>
                <a:lnTo>
                  <a:pt x="3762788" y="2678859"/>
                </a:lnTo>
                <a:cubicBezTo>
                  <a:pt x="3747519" y="2716821"/>
                  <a:pt x="3728432" y="2758580"/>
                  <a:pt x="3709345" y="2796543"/>
                </a:cubicBezTo>
                <a:cubicBezTo>
                  <a:pt x="3709345" y="2796543"/>
                  <a:pt x="3709345" y="2796543"/>
                  <a:pt x="189707" y="2796543"/>
                </a:cubicBezTo>
                <a:cubicBezTo>
                  <a:pt x="170620" y="2758580"/>
                  <a:pt x="155351" y="2716821"/>
                  <a:pt x="136264" y="2678859"/>
                </a:cubicBezTo>
                <a:close/>
                <a:moveTo>
                  <a:pt x="71229" y="2483753"/>
                </a:moveTo>
                <a:lnTo>
                  <a:pt x="3830923" y="2483753"/>
                </a:lnTo>
                <a:cubicBezTo>
                  <a:pt x="3819472" y="2526335"/>
                  <a:pt x="3804205" y="2568918"/>
                  <a:pt x="3788937" y="2607631"/>
                </a:cubicBezTo>
                <a:cubicBezTo>
                  <a:pt x="3788937" y="2607631"/>
                  <a:pt x="3788937" y="2607631"/>
                  <a:pt x="109399" y="2607631"/>
                </a:cubicBezTo>
                <a:cubicBezTo>
                  <a:pt x="94130" y="2568918"/>
                  <a:pt x="82680" y="2526335"/>
                  <a:pt x="71229" y="2483753"/>
                </a:cubicBezTo>
                <a:close/>
                <a:moveTo>
                  <a:pt x="24774" y="2294838"/>
                </a:moveTo>
                <a:lnTo>
                  <a:pt x="3874279" y="2294838"/>
                </a:lnTo>
                <a:cubicBezTo>
                  <a:pt x="3866641" y="2332799"/>
                  <a:pt x="3859004" y="2374559"/>
                  <a:pt x="3851364" y="2412522"/>
                </a:cubicBezTo>
                <a:cubicBezTo>
                  <a:pt x="3851364" y="2412522"/>
                  <a:pt x="3851364" y="2412522"/>
                  <a:pt x="51506" y="2412522"/>
                </a:cubicBezTo>
                <a:cubicBezTo>
                  <a:pt x="43868" y="2374559"/>
                  <a:pt x="32411" y="2332799"/>
                  <a:pt x="24774" y="2294838"/>
                </a:cubicBezTo>
                <a:close/>
                <a:moveTo>
                  <a:pt x="3096" y="2099731"/>
                </a:moveTo>
                <a:lnTo>
                  <a:pt x="3902152" y="2099731"/>
                </a:lnTo>
                <a:cubicBezTo>
                  <a:pt x="3898334" y="2141249"/>
                  <a:pt x="3894515" y="2182769"/>
                  <a:pt x="3886877" y="2220513"/>
                </a:cubicBezTo>
                <a:cubicBezTo>
                  <a:pt x="3886877" y="2220513"/>
                  <a:pt x="3886877" y="2220513"/>
                  <a:pt x="18371" y="2220513"/>
                </a:cubicBezTo>
                <a:cubicBezTo>
                  <a:pt x="10733" y="2182769"/>
                  <a:pt x="6916" y="2141249"/>
                  <a:pt x="3096" y="2099731"/>
                </a:cubicBezTo>
                <a:close/>
                <a:moveTo>
                  <a:pt x="0" y="1907721"/>
                </a:moveTo>
                <a:cubicBezTo>
                  <a:pt x="0" y="1907721"/>
                  <a:pt x="0" y="1907721"/>
                  <a:pt x="3905250" y="1907721"/>
                </a:cubicBezTo>
                <a:cubicBezTo>
                  <a:pt x="3905250" y="1923204"/>
                  <a:pt x="3905250" y="1934818"/>
                  <a:pt x="3905250" y="1950304"/>
                </a:cubicBezTo>
                <a:cubicBezTo>
                  <a:pt x="3905250" y="1977403"/>
                  <a:pt x="3905250" y="2004500"/>
                  <a:pt x="3905250" y="2031599"/>
                </a:cubicBezTo>
                <a:cubicBezTo>
                  <a:pt x="3905250" y="2031599"/>
                  <a:pt x="3905250" y="2031599"/>
                  <a:pt x="0" y="2031599"/>
                </a:cubicBezTo>
                <a:cubicBezTo>
                  <a:pt x="0" y="2004500"/>
                  <a:pt x="0" y="1977403"/>
                  <a:pt x="0" y="1950304"/>
                </a:cubicBezTo>
                <a:cubicBezTo>
                  <a:pt x="0" y="1934818"/>
                  <a:pt x="0" y="1923204"/>
                  <a:pt x="0" y="1907721"/>
                </a:cubicBezTo>
                <a:close/>
                <a:moveTo>
                  <a:pt x="10733" y="1712612"/>
                </a:moveTo>
                <a:lnTo>
                  <a:pt x="3890695" y="1712612"/>
                </a:lnTo>
                <a:cubicBezTo>
                  <a:pt x="3898334" y="1755195"/>
                  <a:pt x="3898334" y="1793907"/>
                  <a:pt x="3902152" y="1836490"/>
                </a:cubicBezTo>
                <a:cubicBezTo>
                  <a:pt x="3902152" y="1836490"/>
                  <a:pt x="3902152" y="1836490"/>
                  <a:pt x="3096" y="1836490"/>
                </a:cubicBezTo>
                <a:cubicBezTo>
                  <a:pt x="3096" y="1793907"/>
                  <a:pt x="6916" y="1755195"/>
                  <a:pt x="10733" y="1712612"/>
                </a:cubicBezTo>
                <a:close/>
                <a:moveTo>
                  <a:pt x="44578" y="1523699"/>
                </a:moveTo>
                <a:lnTo>
                  <a:pt x="3857574" y="1523699"/>
                </a:lnTo>
                <a:cubicBezTo>
                  <a:pt x="3865207" y="1561444"/>
                  <a:pt x="3872841" y="1602962"/>
                  <a:pt x="3880474" y="1644481"/>
                </a:cubicBezTo>
                <a:cubicBezTo>
                  <a:pt x="3880474" y="1644481"/>
                  <a:pt x="3880474" y="1644481"/>
                  <a:pt x="21678" y="1644481"/>
                </a:cubicBezTo>
                <a:cubicBezTo>
                  <a:pt x="29311" y="1602962"/>
                  <a:pt x="36945" y="1561444"/>
                  <a:pt x="44578" y="1523699"/>
                </a:cubicBezTo>
                <a:close/>
                <a:moveTo>
                  <a:pt x="99389" y="1328591"/>
                </a:moveTo>
                <a:lnTo>
                  <a:pt x="3805859" y="1328591"/>
                </a:lnTo>
                <a:cubicBezTo>
                  <a:pt x="3817310" y="1370108"/>
                  <a:pt x="3828762" y="1407853"/>
                  <a:pt x="3840213" y="1449373"/>
                </a:cubicBezTo>
                <a:cubicBezTo>
                  <a:pt x="3840213" y="1449373"/>
                  <a:pt x="3840213" y="1449373"/>
                  <a:pt x="65035" y="1449373"/>
                </a:cubicBezTo>
                <a:cubicBezTo>
                  <a:pt x="72669" y="1407853"/>
                  <a:pt x="87938" y="1370108"/>
                  <a:pt x="99389" y="1328591"/>
                </a:cubicBezTo>
                <a:close/>
                <a:moveTo>
                  <a:pt x="173517" y="1136580"/>
                </a:moveTo>
                <a:lnTo>
                  <a:pt x="3724814" y="1136580"/>
                </a:lnTo>
                <a:cubicBezTo>
                  <a:pt x="3743906" y="1175293"/>
                  <a:pt x="3762999" y="1217875"/>
                  <a:pt x="3778274" y="1260458"/>
                </a:cubicBezTo>
                <a:cubicBezTo>
                  <a:pt x="3778274" y="1260458"/>
                  <a:pt x="3778274" y="1260458"/>
                  <a:pt x="123876" y="1260458"/>
                </a:cubicBezTo>
                <a:cubicBezTo>
                  <a:pt x="139151" y="1217875"/>
                  <a:pt x="154424" y="1175293"/>
                  <a:pt x="173517" y="1136580"/>
                </a:cubicBezTo>
                <a:close/>
                <a:moveTo>
                  <a:pt x="279293" y="941474"/>
                </a:moveTo>
                <a:lnTo>
                  <a:pt x="3626673" y="941474"/>
                </a:lnTo>
                <a:cubicBezTo>
                  <a:pt x="3649574" y="984056"/>
                  <a:pt x="3672475" y="1022769"/>
                  <a:pt x="3691560" y="1065351"/>
                </a:cubicBezTo>
                <a:cubicBezTo>
                  <a:pt x="3691560" y="1065351"/>
                  <a:pt x="3691560" y="1065351"/>
                  <a:pt x="210590" y="1065351"/>
                </a:cubicBezTo>
                <a:cubicBezTo>
                  <a:pt x="233491" y="1022769"/>
                  <a:pt x="256392" y="984056"/>
                  <a:pt x="279293" y="941474"/>
                </a:cubicBezTo>
                <a:close/>
                <a:moveTo>
                  <a:pt x="412943" y="752559"/>
                </a:moveTo>
                <a:lnTo>
                  <a:pt x="3492305" y="752559"/>
                </a:lnTo>
                <a:cubicBezTo>
                  <a:pt x="3522832" y="790304"/>
                  <a:pt x="3553359" y="831821"/>
                  <a:pt x="3580070" y="873341"/>
                </a:cubicBezTo>
                <a:cubicBezTo>
                  <a:pt x="3580070" y="873341"/>
                  <a:pt x="3580070" y="873341"/>
                  <a:pt x="325179" y="873341"/>
                </a:cubicBezTo>
                <a:cubicBezTo>
                  <a:pt x="351889" y="831821"/>
                  <a:pt x="382416" y="790304"/>
                  <a:pt x="412943" y="752559"/>
                </a:cubicBezTo>
                <a:close/>
                <a:moveTo>
                  <a:pt x="582189" y="560548"/>
                </a:moveTo>
                <a:cubicBezTo>
                  <a:pt x="582189" y="560548"/>
                  <a:pt x="582189" y="560548"/>
                  <a:pt x="3319963" y="560548"/>
                </a:cubicBezTo>
                <a:cubicBezTo>
                  <a:pt x="3358147" y="598509"/>
                  <a:pt x="3396330" y="636473"/>
                  <a:pt x="3434514" y="678232"/>
                </a:cubicBezTo>
                <a:cubicBezTo>
                  <a:pt x="3434514" y="678232"/>
                  <a:pt x="3434514" y="678232"/>
                  <a:pt x="467638" y="678232"/>
                </a:cubicBezTo>
                <a:cubicBezTo>
                  <a:pt x="502004" y="636473"/>
                  <a:pt x="540188" y="598509"/>
                  <a:pt x="582189" y="560548"/>
                </a:cubicBezTo>
                <a:close/>
                <a:moveTo>
                  <a:pt x="808618" y="365442"/>
                </a:moveTo>
                <a:lnTo>
                  <a:pt x="3092810" y="365442"/>
                </a:lnTo>
                <a:cubicBezTo>
                  <a:pt x="3146286" y="404154"/>
                  <a:pt x="3195943" y="446737"/>
                  <a:pt x="3245599" y="489319"/>
                </a:cubicBezTo>
                <a:cubicBezTo>
                  <a:pt x="3245599" y="489319"/>
                  <a:pt x="3245599" y="489319"/>
                  <a:pt x="659649" y="489319"/>
                </a:cubicBezTo>
                <a:cubicBezTo>
                  <a:pt x="705486" y="446737"/>
                  <a:pt x="758962" y="404154"/>
                  <a:pt x="808618" y="365442"/>
                </a:cubicBezTo>
                <a:close/>
                <a:moveTo>
                  <a:pt x="1141891" y="176527"/>
                </a:moveTo>
                <a:lnTo>
                  <a:pt x="2760259" y="176527"/>
                </a:lnTo>
                <a:cubicBezTo>
                  <a:pt x="2840413" y="210692"/>
                  <a:pt x="2912935" y="248655"/>
                  <a:pt x="2985456" y="294211"/>
                </a:cubicBezTo>
                <a:cubicBezTo>
                  <a:pt x="2985456" y="294211"/>
                  <a:pt x="2985456" y="294211"/>
                  <a:pt x="916695" y="294211"/>
                </a:cubicBezTo>
                <a:cubicBezTo>
                  <a:pt x="989215" y="248655"/>
                  <a:pt x="1065553" y="210692"/>
                  <a:pt x="1141891" y="176527"/>
                </a:cubicBezTo>
                <a:close/>
                <a:moveTo>
                  <a:pt x="1949526" y="0"/>
                </a:moveTo>
                <a:cubicBezTo>
                  <a:pt x="2171061" y="0"/>
                  <a:pt x="2381136" y="34067"/>
                  <a:pt x="2579754" y="102200"/>
                </a:cubicBezTo>
                <a:cubicBezTo>
                  <a:pt x="2579754" y="102200"/>
                  <a:pt x="2579754" y="102200"/>
                  <a:pt x="1319298" y="102200"/>
                </a:cubicBezTo>
                <a:cubicBezTo>
                  <a:pt x="1517916" y="34067"/>
                  <a:pt x="1731811" y="0"/>
                  <a:pt x="1949526" y="0"/>
                </a:cubicBezTo>
                <a:close/>
              </a:path>
            </a:pathLst>
          </a:cu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11" name="Shape 8"/>
          <p:cNvSpPr/>
          <p:nvPr/>
        </p:nvSpPr>
        <p:spPr>
          <a:xfrm rot="16680000">
            <a:off x="-121920" y="-71120"/>
            <a:ext cx="2160270" cy="1989455"/>
          </a:xfrm>
          <a:custGeom>
            <a:avLst/>
            <a:gdLst/>
            <a:ahLst/>
            <a:cxnLst/>
            <a:rect l="l" t="t" r="r" b="b"/>
            <a:pathLst>
              <a:path w="2160270" h="1989455">
                <a:moveTo>
                  <a:pt x="0" y="404000"/>
                </a:moveTo>
                <a:cubicBezTo>
                  <a:pt x="-4270" y="299551"/>
                  <a:pt x="25291" y="106748"/>
                  <a:pt x="30218" y="95252"/>
                </a:cubicBezTo>
                <a:lnTo>
                  <a:pt x="672683" y="0"/>
                </a:lnTo>
                <a:cubicBezTo>
                  <a:pt x="623742" y="90325"/>
                  <a:pt x="580057" y="311376"/>
                  <a:pt x="587283" y="404000"/>
                </a:cubicBezTo>
                <a:cubicBezTo>
                  <a:pt x="570204" y="964345"/>
                  <a:pt x="1083255" y="1415972"/>
                  <a:pt x="1585468" y="1402177"/>
                </a:cubicBezTo>
                <a:cubicBezTo>
                  <a:pt x="1754953" y="1415643"/>
                  <a:pt x="2006223" y="1319406"/>
                  <a:pt x="2070272" y="1276707"/>
                </a:cubicBezTo>
                <a:lnTo>
                  <a:pt x="2160270" y="1882050"/>
                </a:lnTo>
                <a:cubicBezTo>
                  <a:pt x="2022974" y="1946756"/>
                  <a:pt x="1709297" y="1997995"/>
                  <a:pt x="1585468" y="1989455"/>
                </a:cubicBezTo>
                <a:cubicBezTo>
                  <a:pt x="695675" y="2016717"/>
                  <a:pt x="-21678" y="1202147"/>
                  <a:pt x="0" y="404000"/>
                </a:cubicBezTo>
                <a:close/>
              </a:path>
            </a:pathLst>
          </a:custGeom>
          <a:gradFill flip="none" rotWithShape="1">
            <a:gsLst>
              <a:gs pos="0">
                <a:srgbClr val="00B0F0">
                  <a:alpha val="34000"/>
                </a:srgbClr>
              </a:gs>
              <a:gs pos="76000">
                <a:srgbClr val="00B0F0">
                  <a:alpha val="0"/>
                </a:srgbClr>
              </a:gs>
              <a:gs pos="100000">
                <a:srgbClr val="00B0F0">
                  <a:alpha val="0"/>
                </a:srgbClr>
              </a:gs>
            </a:gsLst>
            <a:lin ang="16200000" scaled="1"/>
          </a:gradFill>
        </p:spPr>
      </p:sp>
      <p:sp>
        <p:nvSpPr>
          <p:cNvPr id="12" name="Shape 9"/>
          <p:cNvSpPr/>
          <p:nvPr/>
        </p:nvSpPr>
        <p:spPr>
          <a:xfrm rot="17460000">
            <a:off x="10614660" y="325120"/>
            <a:ext cx="1136650" cy="1136650"/>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13" name="Shape 10"/>
          <p:cNvSpPr/>
          <p:nvPr/>
        </p:nvSpPr>
        <p:spPr>
          <a:xfrm rot="17460000" flipH="1" flipV="1">
            <a:off x="811530" y="5401945"/>
            <a:ext cx="3069590" cy="3069590"/>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sp>
        <p:nvSpPr>
          <p:cNvPr id="7" name="Shape 4"/>
          <p:cNvSpPr/>
          <p:nvPr/>
        </p:nvSpPr>
        <p:spPr>
          <a:xfrm>
            <a:off x="6291731" y="8722360"/>
            <a:ext cx="287989" cy="6985"/>
          </a:xfrm>
          <a:custGeom>
            <a:avLst/>
            <a:gdLst/>
            <a:ahLst/>
            <a:cxnLst/>
            <a:rect l="l" t="t" r="r" b="b"/>
            <a:pathLst>
              <a:path w="287989" h="6985">
                <a:moveTo>
                  <a:pt x="287989" y="0"/>
                </a:moveTo>
                <a:lnTo>
                  <a:pt x="260078" y="2540"/>
                </a:lnTo>
                <a:lnTo>
                  <a:pt x="221384" y="5080"/>
                </a:lnTo>
                <a:lnTo>
                  <a:pt x="182689" y="6350"/>
                </a:lnTo>
                <a:lnTo>
                  <a:pt x="143995" y="6985"/>
                </a:lnTo>
                <a:lnTo>
                  <a:pt x="104666" y="6350"/>
                </a:lnTo>
                <a:lnTo>
                  <a:pt x="65971" y="5080"/>
                </a:lnTo>
                <a:lnTo>
                  <a:pt x="27911" y="2540"/>
                </a:lnTo>
                <a:lnTo>
                  <a:pt x="0" y="0"/>
                </a:lnTo>
                <a:lnTo>
                  <a:pt x="287989" y="0"/>
                </a:lnTo>
                <a:close/>
              </a:path>
            </a:pathLst>
          </a:custGeom>
          <a:solidFill>
            <a:srgbClr val="FFFFFF"/>
          </a:solidFill>
        </p:spPr>
      </p:sp>
      <p:sp>
        <p:nvSpPr>
          <p:cNvPr id="8" name="Shape 5"/>
          <p:cNvSpPr/>
          <p:nvPr/>
        </p:nvSpPr>
        <p:spPr>
          <a:xfrm rot="4920000" flipV="1">
            <a:off x="9856470" y="5581650"/>
            <a:ext cx="1457960" cy="1342390"/>
          </a:xfrm>
          <a:custGeom>
            <a:avLst/>
            <a:gdLst/>
            <a:ahLst/>
            <a:cxnLst/>
            <a:rect l="l" t="t" r="r" b="b"/>
            <a:pathLst>
              <a:path w="1457960" h="1342390">
                <a:moveTo>
                  <a:pt x="0" y="272600"/>
                </a:moveTo>
                <a:cubicBezTo>
                  <a:pt x="-2882" y="202123"/>
                  <a:pt x="17069" y="72029"/>
                  <a:pt x="20394" y="64272"/>
                </a:cubicBezTo>
                <a:lnTo>
                  <a:pt x="453991" y="0"/>
                </a:lnTo>
                <a:cubicBezTo>
                  <a:pt x="420962" y="60947"/>
                  <a:pt x="391479" y="210102"/>
                  <a:pt x="396356" y="272600"/>
                </a:cubicBezTo>
                <a:cubicBezTo>
                  <a:pt x="384829" y="650695"/>
                  <a:pt x="731086" y="955431"/>
                  <a:pt x="1070028" y="946122"/>
                </a:cubicBezTo>
                <a:cubicBezTo>
                  <a:pt x="1184412" y="955209"/>
                  <a:pt x="1353994" y="890273"/>
                  <a:pt x="1397221" y="861461"/>
                </a:cubicBezTo>
                <a:lnTo>
                  <a:pt x="1457960" y="1269918"/>
                </a:lnTo>
                <a:cubicBezTo>
                  <a:pt x="1365300" y="1313579"/>
                  <a:pt x="1153599" y="1348152"/>
                  <a:pt x="1070028" y="1342390"/>
                </a:cubicBezTo>
                <a:cubicBezTo>
                  <a:pt x="469509" y="1360785"/>
                  <a:pt x="-14631" y="811152"/>
                  <a:pt x="0" y="272600"/>
                </a:cubicBezTo>
                <a:close/>
              </a:path>
            </a:pathLst>
          </a:custGeom>
          <a:gradFill flip="none" rotWithShape="1">
            <a:gsLst>
              <a:gs pos="0">
                <a:srgbClr val="00B0F0">
                  <a:alpha val="34000"/>
                </a:srgbClr>
              </a:gs>
              <a:gs pos="76000">
                <a:srgbClr val="00B0F0">
                  <a:alpha val="0"/>
                </a:srgbClr>
              </a:gs>
              <a:gs pos="100000">
                <a:srgbClr val="00B0F0">
                  <a:alpha val="0"/>
                </a:srgbClr>
              </a:gs>
            </a:gsLst>
            <a:lin ang="16200000" scaled="1"/>
          </a:gradFill>
        </p:spPr>
      </p:sp>
      <p:sp>
        <p:nvSpPr>
          <p:cNvPr id="9" name="Shape 6"/>
          <p:cNvSpPr/>
          <p:nvPr/>
        </p:nvSpPr>
        <p:spPr>
          <a:xfrm rot="15060000" flipH="1">
            <a:off x="10623533" y="4245026"/>
            <a:ext cx="1958340" cy="1694329"/>
          </a:xfrm>
          <a:custGeom>
            <a:avLst/>
            <a:gdLst/>
            <a:ahLst/>
            <a:cxnLst/>
            <a:rect l="l" t="t" r="r" b="b"/>
            <a:pathLst>
              <a:path w="1958340" h="1694329">
                <a:moveTo>
                  <a:pt x="250190" y="1632094"/>
                </a:moveTo>
                <a:lnTo>
                  <a:pt x="525780" y="1632094"/>
                </a:lnTo>
                <a:lnTo>
                  <a:pt x="349885" y="1694329"/>
                </a:lnTo>
                <a:lnTo>
                  <a:pt x="309245" y="1694329"/>
                </a:lnTo>
                <a:cubicBezTo>
                  <a:pt x="288290" y="1675277"/>
                  <a:pt x="265430" y="1651780"/>
                  <a:pt x="250190" y="1632094"/>
                </a:cubicBezTo>
                <a:close/>
                <a:moveTo>
                  <a:pt x="173990" y="1537470"/>
                </a:moveTo>
                <a:lnTo>
                  <a:pt x="793750" y="1537470"/>
                </a:lnTo>
                <a:lnTo>
                  <a:pt x="626745" y="1596530"/>
                </a:lnTo>
                <a:lnTo>
                  <a:pt x="217805" y="1596530"/>
                </a:lnTo>
                <a:cubicBezTo>
                  <a:pt x="202565" y="1578114"/>
                  <a:pt x="186055" y="1556522"/>
                  <a:pt x="173990" y="1537470"/>
                </a:cubicBezTo>
                <a:close/>
                <a:moveTo>
                  <a:pt x="114935" y="1439672"/>
                </a:moveTo>
                <a:lnTo>
                  <a:pt x="1071245" y="1439672"/>
                </a:lnTo>
                <a:lnTo>
                  <a:pt x="899795" y="1500637"/>
                </a:lnTo>
                <a:lnTo>
                  <a:pt x="149225" y="1500637"/>
                </a:lnTo>
                <a:cubicBezTo>
                  <a:pt x="137795" y="1481585"/>
                  <a:pt x="125095" y="1458723"/>
                  <a:pt x="114935" y="1439672"/>
                </a:cubicBezTo>
                <a:close/>
                <a:moveTo>
                  <a:pt x="68580" y="1343778"/>
                </a:moveTo>
                <a:lnTo>
                  <a:pt x="1343660" y="1343778"/>
                </a:lnTo>
                <a:lnTo>
                  <a:pt x="1176655" y="1402203"/>
                </a:lnTo>
                <a:lnTo>
                  <a:pt x="95250" y="1402203"/>
                </a:lnTo>
                <a:cubicBezTo>
                  <a:pt x="90170" y="1393313"/>
                  <a:pt x="85090" y="1380611"/>
                  <a:pt x="81280" y="1372356"/>
                </a:cubicBezTo>
                <a:cubicBezTo>
                  <a:pt x="77470" y="1362830"/>
                  <a:pt x="72390" y="1350764"/>
                  <a:pt x="68580" y="1343778"/>
                </a:cubicBezTo>
                <a:close/>
                <a:moveTo>
                  <a:pt x="35560" y="1245345"/>
                </a:moveTo>
                <a:lnTo>
                  <a:pt x="1621155" y="1245345"/>
                </a:lnTo>
                <a:lnTo>
                  <a:pt x="1445260" y="1307580"/>
                </a:lnTo>
                <a:lnTo>
                  <a:pt x="54610" y="1307580"/>
                </a:lnTo>
                <a:cubicBezTo>
                  <a:pt x="46990" y="1288528"/>
                  <a:pt x="40640" y="1265031"/>
                  <a:pt x="35560" y="1245345"/>
                </a:cubicBezTo>
                <a:close/>
                <a:moveTo>
                  <a:pt x="12700" y="1150721"/>
                </a:moveTo>
                <a:lnTo>
                  <a:pt x="1889125" y="1150721"/>
                </a:lnTo>
                <a:lnTo>
                  <a:pt x="1722120" y="1209781"/>
                </a:lnTo>
                <a:lnTo>
                  <a:pt x="26035" y="1209781"/>
                </a:lnTo>
                <a:cubicBezTo>
                  <a:pt x="24130" y="1200256"/>
                  <a:pt x="20955" y="1188189"/>
                  <a:pt x="19050" y="1179934"/>
                </a:cubicBezTo>
                <a:cubicBezTo>
                  <a:pt x="16510" y="1170408"/>
                  <a:pt x="13970" y="1158342"/>
                  <a:pt x="12700" y="1150721"/>
                </a:cubicBezTo>
                <a:close/>
                <a:moveTo>
                  <a:pt x="1270" y="1052923"/>
                </a:moveTo>
                <a:lnTo>
                  <a:pt x="1957070" y="1052923"/>
                </a:lnTo>
                <a:cubicBezTo>
                  <a:pt x="1955165" y="1073879"/>
                  <a:pt x="1952625" y="1096741"/>
                  <a:pt x="1948815" y="1113888"/>
                </a:cubicBezTo>
                <a:lnTo>
                  <a:pt x="9525" y="1113888"/>
                </a:lnTo>
                <a:cubicBezTo>
                  <a:pt x="5080" y="1094836"/>
                  <a:pt x="3175" y="1071974"/>
                  <a:pt x="1270" y="1052923"/>
                </a:cubicBezTo>
                <a:close/>
                <a:moveTo>
                  <a:pt x="0" y="957029"/>
                </a:moveTo>
                <a:lnTo>
                  <a:pt x="1958340" y="957029"/>
                </a:lnTo>
                <a:lnTo>
                  <a:pt x="1958340" y="960204"/>
                </a:lnTo>
                <a:lnTo>
                  <a:pt x="1958340" y="960839"/>
                </a:lnTo>
                <a:lnTo>
                  <a:pt x="1958340" y="961475"/>
                </a:lnTo>
                <a:lnTo>
                  <a:pt x="1958340" y="962110"/>
                </a:lnTo>
                <a:lnTo>
                  <a:pt x="1958340" y="962745"/>
                </a:lnTo>
                <a:lnTo>
                  <a:pt x="1958340" y="963380"/>
                </a:lnTo>
                <a:lnTo>
                  <a:pt x="1958340" y="964015"/>
                </a:lnTo>
                <a:lnTo>
                  <a:pt x="1958340" y="979256"/>
                </a:lnTo>
                <a:lnTo>
                  <a:pt x="1958340" y="979891"/>
                </a:lnTo>
                <a:lnTo>
                  <a:pt x="1958340" y="980526"/>
                </a:lnTo>
                <a:lnTo>
                  <a:pt x="1958340" y="981796"/>
                </a:lnTo>
                <a:lnTo>
                  <a:pt x="1958340" y="982431"/>
                </a:lnTo>
                <a:lnTo>
                  <a:pt x="1958340" y="984337"/>
                </a:lnTo>
                <a:lnTo>
                  <a:pt x="1958340" y="991322"/>
                </a:lnTo>
                <a:lnTo>
                  <a:pt x="1958340" y="1018630"/>
                </a:lnTo>
                <a:lnTo>
                  <a:pt x="0" y="1018630"/>
                </a:lnTo>
                <a:lnTo>
                  <a:pt x="0" y="957029"/>
                </a:lnTo>
                <a:close/>
                <a:moveTo>
                  <a:pt x="5080" y="858596"/>
                </a:moveTo>
                <a:lnTo>
                  <a:pt x="1951355" y="858596"/>
                </a:lnTo>
                <a:cubicBezTo>
                  <a:pt x="1953895" y="873202"/>
                  <a:pt x="1954530" y="889078"/>
                  <a:pt x="1955165" y="901144"/>
                </a:cubicBezTo>
                <a:cubicBezTo>
                  <a:pt x="1955800" y="907495"/>
                  <a:pt x="1956435" y="916386"/>
                  <a:pt x="1957070" y="920831"/>
                </a:cubicBezTo>
                <a:lnTo>
                  <a:pt x="1270" y="920831"/>
                </a:lnTo>
                <a:cubicBezTo>
                  <a:pt x="1270" y="901144"/>
                  <a:pt x="3175" y="880822"/>
                  <a:pt x="5080" y="863041"/>
                </a:cubicBezTo>
                <a:lnTo>
                  <a:pt x="5080" y="861771"/>
                </a:lnTo>
                <a:lnTo>
                  <a:pt x="5080" y="861136"/>
                </a:lnTo>
                <a:lnTo>
                  <a:pt x="5080" y="859866"/>
                </a:lnTo>
                <a:lnTo>
                  <a:pt x="5080" y="858596"/>
                </a:lnTo>
                <a:close/>
                <a:moveTo>
                  <a:pt x="22225" y="763972"/>
                </a:moveTo>
                <a:lnTo>
                  <a:pt x="1934210" y="763972"/>
                </a:lnTo>
                <a:cubicBezTo>
                  <a:pt x="1938020" y="783024"/>
                  <a:pt x="1942465" y="805886"/>
                  <a:pt x="1945640" y="824938"/>
                </a:cubicBezTo>
                <a:lnTo>
                  <a:pt x="10795" y="824938"/>
                </a:lnTo>
                <a:cubicBezTo>
                  <a:pt x="14605" y="803981"/>
                  <a:pt x="19050" y="781119"/>
                  <a:pt x="22225" y="763972"/>
                </a:cubicBezTo>
                <a:close/>
                <a:moveTo>
                  <a:pt x="49530" y="666174"/>
                </a:moveTo>
                <a:lnTo>
                  <a:pt x="1908810" y="666174"/>
                </a:lnTo>
                <a:cubicBezTo>
                  <a:pt x="1911350" y="676334"/>
                  <a:pt x="1915160" y="689036"/>
                  <a:pt x="1917065" y="697291"/>
                </a:cubicBezTo>
                <a:cubicBezTo>
                  <a:pt x="1920240" y="706817"/>
                  <a:pt x="1923415" y="718248"/>
                  <a:pt x="1925955" y="727139"/>
                </a:cubicBezTo>
                <a:lnTo>
                  <a:pt x="32385" y="727139"/>
                </a:lnTo>
                <a:cubicBezTo>
                  <a:pt x="34925" y="713803"/>
                  <a:pt x="40005" y="698561"/>
                  <a:pt x="43180" y="687765"/>
                </a:cubicBezTo>
                <a:cubicBezTo>
                  <a:pt x="45720" y="680780"/>
                  <a:pt x="48260" y="671889"/>
                  <a:pt x="49530" y="666174"/>
                </a:cubicBezTo>
                <a:close/>
                <a:moveTo>
                  <a:pt x="86995" y="570280"/>
                </a:moveTo>
                <a:lnTo>
                  <a:pt x="1868170" y="570280"/>
                </a:lnTo>
                <a:cubicBezTo>
                  <a:pt x="1877060" y="589332"/>
                  <a:pt x="1887855" y="612829"/>
                  <a:pt x="1894840" y="631881"/>
                </a:cubicBezTo>
                <a:lnTo>
                  <a:pt x="62230" y="631881"/>
                </a:lnTo>
                <a:cubicBezTo>
                  <a:pt x="69850" y="610924"/>
                  <a:pt x="78105" y="587427"/>
                  <a:pt x="86995" y="570280"/>
                </a:cubicBezTo>
                <a:close/>
                <a:moveTo>
                  <a:pt x="140335" y="471846"/>
                </a:moveTo>
                <a:lnTo>
                  <a:pt x="1818640" y="471846"/>
                </a:lnTo>
                <a:cubicBezTo>
                  <a:pt x="1821815" y="477562"/>
                  <a:pt x="1825625" y="485183"/>
                  <a:pt x="1828165" y="488993"/>
                </a:cubicBezTo>
                <a:cubicBezTo>
                  <a:pt x="1835785" y="503599"/>
                  <a:pt x="1845310" y="520746"/>
                  <a:pt x="1851025" y="534082"/>
                </a:cubicBezTo>
                <a:lnTo>
                  <a:pt x="105410" y="534082"/>
                </a:lnTo>
                <a:cubicBezTo>
                  <a:pt x="111125" y="523921"/>
                  <a:pt x="118110" y="511220"/>
                  <a:pt x="123190" y="502964"/>
                </a:cubicBezTo>
                <a:cubicBezTo>
                  <a:pt x="128905" y="492803"/>
                  <a:pt x="135255" y="480737"/>
                  <a:pt x="140335" y="471846"/>
                </a:cubicBezTo>
                <a:close/>
                <a:moveTo>
                  <a:pt x="207010" y="377223"/>
                </a:moveTo>
                <a:lnTo>
                  <a:pt x="1751330" y="377223"/>
                </a:lnTo>
                <a:cubicBezTo>
                  <a:pt x="1766570" y="396275"/>
                  <a:pt x="1783080" y="419137"/>
                  <a:pt x="1795145" y="438189"/>
                </a:cubicBezTo>
                <a:lnTo>
                  <a:pt x="163195" y="438189"/>
                </a:lnTo>
                <a:cubicBezTo>
                  <a:pt x="175895" y="417232"/>
                  <a:pt x="193040" y="394370"/>
                  <a:pt x="207010" y="377223"/>
                </a:cubicBezTo>
                <a:close/>
                <a:moveTo>
                  <a:pt x="292100" y="281330"/>
                </a:moveTo>
                <a:lnTo>
                  <a:pt x="1664970" y="281330"/>
                </a:lnTo>
                <a:cubicBezTo>
                  <a:pt x="1683385" y="299746"/>
                  <a:pt x="1704975" y="321338"/>
                  <a:pt x="1722120" y="340390"/>
                </a:cubicBezTo>
                <a:lnTo>
                  <a:pt x="234315" y="340390"/>
                </a:lnTo>
                <a:cubicBezTo>
                  <a:pt x="251460" y="319433"/>
                  <a:pt x="273050" y="298476"/>
                  <a:pt x="292100" y="281330"/>
                </a:cubicBezTo>
                <a:close/>
                <a:moveTo>
                  <a:pt x="405765" y="183531"/>
                </a:moveTo>
                <a:lnTo>
                  <a:pt x="1550670" y="183531"/>
                </a:lnTo>
                <a:cubicBezTo>
                  <a:pt x="1577340" y="202583"/>
                  <a:pt x="1605280" y="226080"/>
                  <a:pt x="1627505" y="245132"/>
                </a:cubicBezTo>
                <a:lnTo>
                  <a:pt x="330835" y="245132"/>
                </a:lnTo>
                <a:cubicBezTo>
                  <a:pt x="353060" y="224175"/>
                  <a:pt x="382905" y="200678"/>
                  <a:pt x="405765" y="183531"/>
                </a:cubicBezTo>
                <a:close/>
                <a:moveTo>
                  <a:pt x="572770" y="88273"/>
                </a:moveTo>
                <a:lnTo>
                  <a:pt x="1384300" y="88273"/>
                </a:lnTo>
                <a:cubicBezTo>
                  <a:pt x="1423670" y="105419"/>
                  <a:pt x="1464310" y="127011"/>
                  <a:pt x="1497330" y="147333"/>
                </a:cubicBezTo>
                <a:lnTo>
                  <a:pt x="459740" y="147333"/>
                </a:lnTo>
                <a:cubicBezTo>
                  <a:pt x="495300" y="125106"/>
                  <a:pt x="537845" y="104149"/>
                  <a:pt x="572770" y="88273"/>
                </a:cubicBezTo>
                <a:close/>
                <a:moveTo>
                  <a:pt x="977900" y="0"/>
                </a:moveTo>
                <a:cubicBezTo>
                  <a:pt x="1087120" y="-1270"/>
                  <a:pt x="1203325" y="19687"/>
                  <a:pt x="1293495" y="51440"/>
                </a:cubicBezTo>
                <a:lnTo>
                  <a:pt x="661670" y="51440"/>
                </a:lnTo>
                <a:cubicBezTo>
                  <a:pt x="759460" y="16511"/>
                  <a:pt x="878840" y="-635"/>
                  <a:pt x="977900" y="0"/>
                </a:cubicBezTo>
                <a:close/>
              </a:path>
            </a:pathLst>
          </a:custGeom>
          <a:gradFill flip="none" rotWithShape="1">
            <a:gsLst>
              <a:gs pos="0">
                <a:srgbClr val="00B0F0">
                  <a:alpha val="34000"/>
                </a:srgbClr>
              </a:gs>
              <a:gs pos="76000">
                <a:srgbClr val="00B0F0">
                  <a:alpha val="3000"/>
                </a:srgbClr>
              </a:gs>
              <a:gs pos="100000">
                <a:srgbClr val="00B0F0">
                  <a:alpha val="3000"/>
                </a:srgbClr>
              </a:gs>
            </a:gsLst>
            <a:lin ang="13500000" scaled="1"/>
          </a:gradFill>
        </p:spPr>
      </p:sp>
      <p:sp>
        <p:nvSpPr>
          <p:cNvPr id="10" name="Shape 7"/>
          <p:cNvSpPr/>
          <p:nvPr/>
        </p:nvSpPr>
        <p:spPr>
          <a:xfrm rot="6540000">
            <a:off x="10932795" y="1224280"/>
            <a:ext cx="464185" cy="464185"/>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11" name="Shape 8"/>
          <p:cNvSpPr/>
          <p:nvPr>
            <p:custDataLst>
              <p:tags r:id="rId1"/>
            </p:custDataLst>
          </p:nvPr>
        </p:nvSpPr>
        <p:spPr>
          <a:xfrm>
            <a:off x="639445" y="1260475"/>
            <a:ext cx="91440" cy="1432560"/>
          </a:xfrm>
          <a:prstGeom prst="rect">
            <a:avLst/>
          </a:prstGeom>
          <a:solidFill>
            <a:srgbClr val="004CC0"/>
          </a:solidFill>
        </p:spPr>
      </p:sp>
      <p:sp>
        <p:nvSpPr>
          <p:cNvPr id="12" name="Shape 9"/>
          <p:cNvSpPr/>
          <p:nvPr>
            <p:custDataLst>
              <p:tags r:id="rId2"/>
            </p:custDataLst>
          </p:nvPr>
        </p:nvSpPr>
        <p:spPr>
          <a:xfrm>
            <a:off x="766445" y="1260475"/>
            <a:ext cx="9063990" cy="1432560"/>
          </a:xfrm>
          <a:prstGeom prst="rect">
            <a:avLst/>
          </a:prstGeom>
          <a:solidFill>
            <a:srgbClr val="FFFFFF"/>
          </a:solidFill>
          <a:ln w="19050">
            <a:solidFill>
              <a:srgbClr val="004CC0"/>
            </a:solidFill>
            <a:prstDash val="solid"/>
          </a:ln>
        </p:spPr>
      </p:sp>
      <p:sp>
        <p:nvSpPr>
          <p:cNvPr id="13" name="Shape 10"/>
          <p:cNvSpPr/>
          <p:nvPr>
            <p:custDataLst>
              <p:tags r:id="rId3"/>
            </p:custDataLst>
          </p:nvPr>
        </p:nvSpPr>
        <p:spPr>
          <a:xfrm flipH="1" flipV="1">
            <a:off x="9601835" y="1260475"/>
            <a:ext cx="228600" cy="228600"/>
          </a:xfrm>
          <a:prstGeom prst="rtTriangle">
            <a:avLst/>
          </a:prstGeom>
          <a:solidFill>
            <a:srgbClr val="004CC0"/>
          </a:solidFill>
        </p:spPr>
      </p:sp>
      <p:sp>
        <p:nvSpPr>
          <p:cNvPr id="14" name="Shape 11"/>
          <p:cNvSpPr/>
          <p:nvPr>
            <p:custDataLst>
              <p:tags r:id="rId4"/>
            </p:custDataLst>
          </p:nvPr>
        </p:nvSpPr>
        <p:spPr>
          <a:xfrm>
            <a:off x="639445" y="2912110"/>
            <a:ext cx="91440" cy="1432560"/>
          </a:xfrm>
          <a:prstGeom prst="rect">
            <a:avLst/>
          </a:prstGeom>
          <a:solidFill>
            <a:srgbClr val="004CC0"/>
          </a:solidFill>
        </p:spPr>
      </p:sp>
      <p:sp>
        <p:nvSpPr>
          <p:cNvPr id="15" name="Shape 12"/>
          <p:cNvSpPr/>
          <p:nvPr>
            <p:custDataLst>
              <p:tags r:id="rId5"/>
            </p:custDataLst>
          </p:nvPr>
        </p:nvSpPr>
        <p:spPr>
          <a:xfrm>
            <a:off x="766445" y="2912110"/>
            <a:ext cx="9063990" cy="1432560"/>
          </a:xfrm>
          <a:prstGeom prst="rect">
            <a:avLst/>
          </a:prstGeom>
          <a:solidFill>
            <a:srgbClr val="FFFFFF"/>
          </a:solidFill>
          <a:ln w="19050">
            <a:solidFill>
              <a:srgbClr val="004CC0"/>
            </a:solidFill>
            <a:prstDash val="solid"/>
          </a:ln>
        </p:spPr>
        <p:txBody>
          <a:bodyPr/>
          <a:p>
            <a:endParaRPr lang="zh-CN" altLang="en-US"/>
          </a:p>
        </p:txBody>
      </p:sp>
      <p:sp>
        <p:nvSpPr>
          <p:cNvPr id="16" name="Shape 13"/>
          <p:cNvSpPr/>
          <p:nvPr>
            <p:custDataLst>
              <p:tags r:id="rId6"/>
            </p:custDataLst>
          </p:nvPr>
        </p:nvSpPr>
        <p:spPr>
          <a:xfrm flipH="1" flipV="1">
            <a:off x="9601835" y="2912110"/>
            <a:ext cx="228600" cy="228600"/>
          </a:xfrm>
          <a:prstGeom prst="rtTriangle">
            <a:avLst/>
          </a:prstGeom>
          <a:solidFill>
            <a:srgbClr val="004CC0"/>
          </a:solidFill>
        </p:spPr>
      </p:sp>
      <p:sp>
        <p:nvSpPr>
          <p:cNvPr id="17" name="Shape 14"/>
          <p:cNvSpPr/>
          <p:nvPr>
            <p:custDataLst>
              <p:tags r:id="rId7"/>
            </p:custDataLst>
          </p:nvPr>
        </p:nvSpPr>
        <p:spPr>
          <a:xfrm>
            <a:off x="639445" y="4563745"/>
            <a:ext cx="91440" cy="1432560"/>
          </a:xfrm>
          <a:prstGeom prst="rect">
            <a:avLst/>
          </a:prstGeom>
          <a:solidFill>
            <a:srgbClr val="004CC0"/>
          </a:solidFill>
        </p:spPr>
      </p:sp>
      <p:sp>
        <p:nvSpPr>
          <p:cNvPr id="18" name="Shape 15"/>
          <p:cNvSpPr/>
          <p:nvPr>
            <p:custDataLst>
              <p:tags r:id="rId8"/>
            </p:custDataLst>
          </p:nvPr>
        </p:nvSpPr>
        <p:spPr>
          <a:xfrm>
            <a:off x="766445" y="4563745"/>
            <a:ext cx="9063990" cy="1432560"/>
          </a:xfrm>
          <a:prstGeom prst="rect">
            <a:avLst/>
          </a:prstGeom>
          <a:solidFill>
            <a:srgbClr val="FFFFFF"/>
          </a:solidFill>
          <a:ln w="19050">
            <a:solidFill>
              <a:srgbClr val="004CC0"/>
            </a:solidFill>
            <a:prstDash val="solid"/>
          </a:ln>
        </p:spPr>
      </p:sp>
      <p:sp>
        <p:nvSpPr>
          <p:cNvPr id="19" name="Shape 16"/>
          <p:cNvSpPr/>
          <p:nvPr>
            <p:custDataLst>
              <p:tags r:id="rId9"/>
            </p:custDataLst>
          </p:nvPr>
        </p:nvSpPr>
        <p:spPr>
          <a:xfrm flipH="1" flipV="1">
            <a:off x="9601835" y="4563745"/>
            <a:ext cx="228600" cy="228600"/>
          </a:xfrm>
          <a:prstGeom prst="rtTriangle">
            <a:avLst/>
          </a:prstGeom>
          <a:solidFill>
            <a:srgbClr val="004CC0"/>
          </a:solidFill>
        </p:spPr>
      </p:sp>
      <p:sp>
        <p:nvSpPr>
          <p:cNvPr id="20" name="Text 17"/>
          <p:cNvSpPr/>
          <p:nvPr/>
        </p:nvSpPr>
        <p:spPr>
          <a:xfrm>
            <a:off x="582930" y="211455"/>
            <a:ext cx="10151745" cy="583565"/>
          </a:xfrm>
          <a:prstGeom prst="rect">
            <a:avLst/>
          </a:prstGeom>
          <a:noFill/>
        </p:spPr>
        <p:txBody>
          <a:bodyPr wrap="square" lIns="91440" tIns="45720" rIns="91440" bIns="45720" rtlCol="0" anchor="t">
            <a:spAutoFit/>
          </a:bodyPr>
          <a:lstStyle/>
          <a:p>
            <a:pPr>
              <a:lnSpc>
                <a:spcPct val="100000"/>
              </a:lnSpc>
            </a:pPr>
            <a:r>
              <a:rPr lang="zh-CN" altLang="en-US" sz="3200" b="1" dirty="0">
                <a:solidFill>
                  <a:srgbClr val="000000"/>
                </a:solidFill>
                <a:latin typeface="MiSans" pitchFamily="34" charset="-122"/>
                <a:ea typeface="MiSans" pitchFamily="34" charset="-122"/>
                <a:cs typeface="MiSans" pitchFamily="34" charset="-120"/>
              </a:rPr>
              <a:t>问题与解决</a:t>
            </a:r>
            <a:r>
              <a:rPr lang="zh-CN" altLang="en-US" sz="3200" b="1" dirty="0">
                <a:solidFill>
                  <a:srgbClr val="000000"/>
                </a:solidFill>
                <a:latin typeface="MiSans" pitchFamily="34" charset="-122"/>
                <a:ea typeface="MiSans" pitchFamily="34" charset="-122"/>
                <a:cs typeface="MiSans" pitchFamily="34" charset="-120"/>
              </a:rPr>
              <a:t>方案</a:t>
            </a:r>
            <a:endParaRPr lang="zh-CN" altLang="en-US" sz="3200" b="1" dirty="0">
              <a:solidFill>
                <a:srgbClr val="000000"/>
              </a:solidFill>
              <a:latin typeface="MiSans" pitchFamily="34" charset="-122"/>
              <a:ea typeface="MiSans" pitchFamily="34" charset="-122"/>
              <a:cs typeface="MiSans" pitchFamily="34" charset="-120"/>
            </a:endParaRPr>
          </a:p>
        </p:txBody>
      </p:sp>
      <p:sp>
        <p:nvSpPr>
          <p:cNvPr id="21" name="Text 18"/>
          <p:cNvSpPr/>
          <p:nvPr>
            <p:custDataLst>
              <p:tags r:id="rId10"/>
            </p:custDataLst>
          </p:nvPr>
        </p:nvSpPr>
        <p:spPr>
          <a:xfrm>
            <a:off x="853440" y="1357630"/>
            <a:ext cx="6934200" cy="368300"/>
          </a:xfrm>
          <a:prstGeom prst="rect">
            <a:avLst/>
          </a:prstGeom>
          <a:noFill/>
        </p:spPr>
        <p:txBody>
          <a:bodyPr wrap="square" lIns="91440" tIns="45720" rIns="91440" bIns="45720" rtlCol="0" anchor="t">
            <a:spAutoFit/>
          </a:bodyPr>
          <a:lstStyle/>
          <a:p>
            <a:pPr algn="just">
              <a:lnSpc>
                <a:spcPct val="100000"/>
              </a:lnSpc>
            </a:pPr>
            <a:r>
              <a:rPr lang="en-US" sz="1800" dirty="0">
                <a:solidFill>
                  <a:srgbClr val="1D3EBF"/>
                </a:solidFill>
                <a:latin typeface="黑体" panose="02010609060101010101" charset="-122"/>
                <a:ea typeface="黑体" panose="02010609060101010101" charset="-122"/>
                <a:cs typeface="MiSans" pitchFamily="34" charset="-120"/>
              </a:rPr>
              <a:t>代码生成时间过长</a:t>
            </a:r>
            <a:endParaRPr lang="zh-CN" altLang="en-US" sz="1600" dirty="0">
              <a:latin typeface="黑体" panose="02010609060101010101" charset="-122"/>
              <a:ea typeface="黑体" panose="02010609060101010101" charset="-122"/>
            </a:endParaRPr>
          </a:p>
        </p:txBody>
      </p:sp>
      <p:sp>
        <p:nvSpPr>
          <p:cNvPr id="22" name="Text 19"/>
          <p:cNvSpPr/>
          <p:nvPr>
            <p:custDataLst>
              <p:tags r:id="rId11"/>
            </p:custDataLst>
          </p:nvPr>
        </p:nvSpPr>
        <p:spPr>
          <a:xfrm>
            <a:off x="905510" y="1734185"/>
            <a:ext cx="8798560" cy="370840"/>
          </a:xfrm>
          <a:prstGeom prst="rect">
            <a:avLst/>
          </a:prstGeom>
          <a:noFill/>
        </p:spPr>
        <p:txBody>
          <a:bodyPr wrap="square" lIns="91440" tIns="45720" rIns="91440" bIns="45720" rtlCol="0" anchor="t">
            <a:spAutoFit/>
          </a:bodyPr>
          <a:lstStyle/>
          <a:p>
            <a:pPr algn="just">
              <a:lnSpc>
                <a:spcPct val="130000"/>
              </a:lnSpc>
            </a:pPr>
            <a:r>
              <a:rPr lang="zh-CN" altLang="en-US" sz="1400" dirty="0">
                <a:solidFill>
                  <a:srgbClr val="000000"/>
                </a:solidFill>
                <a:latin typeface="黑体" panose="02010609060101010101" charset="-122"/>
                <a:ea typeface="黑体" panose="02010609060101010101" charset="-122"/>
                <a:cs typeface="MiSans" pitchFamily="34" charset="-120"/>
              </a:rPr>
              <a:t>切换大语言模型</a:t>
            </a:r>
            <a:r>
              <a:rPr lang="en-US" sz="1400" dirty="0">
                <a:solidFill>
                  <a:srgbClr val="000000"/>
                </a:solidFill>
                <a:latin typeface="黑体" panose="02010609060101010101" charset="-122"/>
                <a:ea typeface="黑体" panose="02010609060101010101" charset="-122"/>
                <a:cs typeface="MiSans" pitchFamily="34" charset="-120"/>
              </a:rPr>
              <a:t>或限制单次代码长度</a:t>
            </a:r>
            <a:endParaRPr lang="zh-CN" altLang="en-US" sz="1600" dirty="0">
              <a:latin typeface="黑体" panose="02010609060101010101" charset="-122"/>
              <a:ea typeface="黑体" panose="02010609060101010101" charset="-122"/>
            </a:endParaRPr>
          </a:p>
        </p:txBody>
      </p:sp>
      <p:sp>
        <p:nvSpPr>
          <p:cNvPr id="23" name="Text 20"/>
          <p:cNvSpPr/>
          <p:nvPr>
            <p:custDataLst>
              <p:tags r:id="rId12"/>
            </p:custDataLst>
          </p:nvPr>
        </p:nvSpPr>
        <p:spPr>
          <a:xfrm>
            <a:off x="853440" y="3009265"/>
            <a:ext cx="6934200" cy="368300"/>
          </a:xfrm>
          <a:prstGeom prst="rect">
            <a:avLst/>
          </a:prstGeom>
          <a:noFill/>
        </p:spPr>
        <p:txBody>
          <a:bodyPr wrap="square" lIns="91440" tIns="45720" rIns="91440" bIns="45720" rtlCol="0" anchor="t">
            <a:spAutoFit/>
          </a:bodyPr>
          <a:lstStyle/>
          <a:p>
            <a:pPr algn="just">
              <a:lnSpc>
                <a:spcPct val="100000"/>
              </a:lnSpc>
            </a:pPr>
            <a:r>
              <a:rPr lang="en-US" sz="1800" dirty="0">
                <a:solidFill>
                  <a:srgbClr val="1D3EBF"/>
                </a:solidFill>
                <a:latin typeface="黑体" panose="02010609060101010101" charset="-122"/>
                <a:ea typeface="黑体" panose="02010609060101010101" charset="-122"/>
                <a:cs typeface="黑体" panose="02010609060101010101" charset="-122"/>
              </a:rPr>
              <a:t>点击“代码片段”按钮无反应</a:t>
            </a:r>
            <a:endParaRPr lang="en-US" altLang="en-US" sz="1800" dirty="0">
              <a:solidFill>
                <a:srgbClr val="1D3EBF"/>
              </a:solidFill>
              <a:latin typeface="黑体" panose="02010609060101010101" charset="-122"/>
              <a:ea typeface="黑体" panose="02010609060101010101" charset="-122"/>
              <a:cs typeface="黑体" panose="02010609060101010101" charset="-122"/>
            </a:endParaRPr>
          </a:p>
        </p:txBody>
      </p:sp>
      <p:sp>
        <p:nvSpPr>
          <p:cNvPr id="24" name="Text 21"/>
          <p:cNvSpPr/>
          <p:nvPr>
            <p:custDataLst>
              <p:tags r:id="rId13"/>
            </p:custDataLst>
          </p:nvPr>
        </p:nvSpPr>
        <p:spPr>
          <a:xfrm>
            <a:off x="905510" y="3385820"/>
            <a:ext cx="8798560" cy="370840"/>
          </a:xfrm>
          <a:prstGeom prst="rect">
            <a:avLst/>
          </a:prstGeom>
          <a:noFill/>
        </p:spPr>
        <p:txBody>
          <a:bodyPr wrap="square" lIns="91440" tIns="45720" rIns="91440" bIns="45720" rtlCol="0" anchor="t">
            <a:spAutoFit/>
          </a:bodyPr>
          <a:lstStyle/>
          <a:p>
            <a:pPr algn="just">
              <a:lnSpc>
                <a:spcPct val="130000"/>
              </a:lnSpc>
            </a:pPr>
            <a:r>
              <a:rPr lang="zh-CN" altLang="en-US" sz="1400" dirty="0">
                <a:solidFill>
                  <a:srgbClr val="000000"/>
                </a:solidFill>
                <a:latin typeface="黑体" panose="02010609060101010101" charset="-122"/>
                <a:ea typeface="黑体" panose="02010609060101010101" charset="-122"/>
                <a:cs typeface="MiSans" pitchFamily="34" charset="-120"/>
              </a:rPr>
              <a:t>采用双卡片分离设置</a:t>
            </a:r>
            <a:endParaRPr lang="zh-CN" altLang="en-US" sz="1400" dirty="0">
              <a:solidFill>
                <a:srgbClr val="000000"/>
              </a:solidFill>
              <a:latin typeface="黑体" panose="02010609060101010101" charset="-122"/>
              <a:ea typeface="黑体" panose="02010609060101010101" charset="-122"/>
              <a:cs typeface="MiSans" pitchFamily="34" charset="-120"/>
            </a:endParaRPr>
          </a:p>
        </p:txBody>
      </p:sp>
      <p:sp>
        <p:nvSpPr>
          <p:cNvPr id="25" name="Text 22"/>
          <p:cNvSpPr/>
          <p:nvPr>
            <p:custDataLst>
              <p:tags r:id="rId14"/>
            </p:custDataLst>
          </p:nvPr>
        </p:nvSpPr>
        <p:spPr>
          <a:xfrm>
            <a:off x="853440" y="4660900"/>
            <a:ext cx="6934200" cy="368300"/>
          </a:xfrm>
          <a:prstGeom prst="rect">
            <a:avLst/>
          </a:prstGeom>
          <a:noFill/>
        </p:spPr>
        <p:txBody>
          <a:bodyPr wrap="square" lIns="91440" tIns="45720" rIns="91440" bIns="45720" rtlCol="0" anchor="t">
            <a:spAutoFit/>
          </a:bodyPr>
          <a:lstStyle/>
          <a:p>
            <a:pPr algn="just">
              <a:lnSpc>
                <a:spcPct val="100000"/>
              </a:lnSpc>
            </a:pPr>
            <a:r>
              <a:rPr lang="zh-CN" altLang="en-US" sz="1800" dirty="0">
                <a:solidFill>
                  <a:srgbClr val="1D3EBF"/>
                </a:solidFill>
                <a:latin typeface="黑体" panose="02010609060101010101" charset="-122"/>
                <a:ea typeface="黑体" panose="02010609060101010101" charset="-122"/>
                <a:cs typeface="MiSans" pitchFamily="34" charset="-120"/>
              </a:rPr>
              <a:t>知识库匹配不到</a:t>
            </a:r>
            <a:endParaRPr lang="zh-CN" altLang="en-US" sz="1800" dirty="0">
              <a:solidFill>
                <a:srgbClr val="1D3EBF"/>
              </a:solidFill>
              <a:latin typeface="黑体" panose="02010609060101010101" charset="-122"/>
              <a:ea typeface="黑体" panose="02010609060101010101" charset="-122"/>
              <a:cs typeface="MiSans" pitchFamily="34" charset="-120"/>
            </a:endParaRPr>
          </a:p>
        </p:txBody>
      </p:sp>
      <p:sp>
        <p:nvSpPr>
          <p:cNvPr id="26" name="Text 23"/>
          <p:cNvSpPr/>
          <p:nvPr>
            <p:custDataLst>
              <p:tags r:id="rId15"/>
            </p:custDataLst>
          </p:nvPr>
        </p:nvSpPr>
        <p:spPr>
          <a:xfrm>
            <a:off x="905510" y="5037455"/>
            <a:ext cx="8798560" cy="370840"/>
          </a:xfrm>
          <a:prstGeom prst="rect">
            <a:avLst/>
          </a:prstGeom>
          <a:noFill/>
        </p:spPr>
        <p:txBody>
          <a:bodyPr wrap="square" lIns="91440" tIns="45720" rIns="91440" bIns="45720" rtlCol="0" anchor="t">
            <a:spAutoFit/>
          </a:bodyPr>
          <a:lstStyle/>
          <a:p>
            <a:pPr algn="just">
              <a:lnSpc>
                <a:spcPct val="130000"/>
              </a:lnSpc>
            </a:pPr>
            <a:r>
              <a:rPr lang="en-US" sz="1400" dirty="0">
                <a:solidFill>
                  <a:srgbClr val="000000"/>
                </a:solidFill>
                <a:latin typeface="黑体" panose="02010609060101010101" charset="-122"/>
                <a:ea typeface="黑体" panose="02010609060101010101" charset="-122"/>
                <a:cs typeface="黑体" panose="02010609060101010101" charset="-122"/>
              </a:rPr>
              <a:t>用 /preview_context 接口调试文本清洗效果；增加模块别名覆盖更多同义表达</a:t>
            </a:r>
            <a:endParaRPr lang="zh-CN" altLang="en-US" sz="16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pic>
        <p:nvPicPr>
          <p:cNvPr id="5" name="Image 0" descr="https://kimi-img.moonshot.cn/pub/slides/slides_tmpl/image/25-09-04-15:50:51-d2sk9mu1bb2p4onbqecg.jpg"/>
          <p:cNvPicPr>
            <a:picLocks noChangeAspect="1"/>
          </p:cNvPicPr>
          <p:nvPr/>
        </p:nvPicPr>
        <p:blipFill>
          <a:blip r:embed="rId1"/>
          <a:stretch>
            <a:fillRect/>
          </a:stretch>
        </p:blipFill>
        <p:spPr>
          <a:xfrm>
            <a:off x="0" y="0"/>
            <a:ext cx="12203430" cy="6842760"/>
          </a:xfrm>
          <a:prstGeom prst="rect">
            <a:avLst/>
          </a:prstGeom>
        </p:spPr>
      </p:pic>
      <p:sp>
        <p:nvSpPr>
          <p:cNvPr id="6" name="Shape 3"/>
          <p:cNvSpPr/>
          <p:nvPr/>
        </p:nvSpPr>
        <p:spPr>
          <a:xfrm>
            <a:off x="-27940" y="-8890"/>
            <a:ext cx="12247880" cy="6875780"/>
          </a:xfrm>
          <a:prstGeom prst="rect">
            <a:avLst/>
          </a:prstGeom>
          <a:solidFill>
            <a:srgbClr val="1D3EBF">
              <a:alpha val="94902"/>
            </a:srgbClr>
          </a:solidFill>
        </p:spPr>
      </p:sp>
      <p:sp>
        <p:nvSpPr>
          <p:cNvPr id="7" name="Text 4"/>
          <p:cNvSpPr/>
          <p:nvPr/>
        </p:nvSpPr>
        <p:spPr>
          <a:xfrm>
            <a:off x="4060825" y="2246630"/>
            <a:ext cx="6873875" cy="1012190"/>
          </a:xfrm>
          <a:prstGeom prst="rect">
            <a:avLst/>
          </a:prstGeom>
          <a:noFill/>
        </p:spPr>
        <p:txBody>
          <a:bodyPr wrap="square" lIns="91440" tIns="45720" rIns="91440" bIns="45720" rtlCol="0" anchor="t">
            <a:spAutoFit/>
          </a:bodyPr>
          <a:lstStyle/>
          <a:p>
            <a:pPr>
              <a:lnSpc>
                <a:spcPct val="100000"/>
              </a:lnSpc>
            </a:pPr>
            <a:r>
              <a:rPr lang="en-US" sz="6000" dirty="0">
                <a:solidFill>
                  <a:srgbClr val="FFFFFF"/>
                </a:solidFill>
                <a:latin typeface="MiSans" pitchFamily="34" charset="-122"/>
                <a:ea typeface="MiSans" pitchFamily="34" charset="-122"/>
                <a:cs typeface="MiSans" pitchFamily="34" charset="-120"/>
              </a:rPr>
              <a:t>测试验证与结果</a:t>
            </a:r>
            <a:endParaRPr lang="en-US" sz="1600" dirty="0"/>
          </a:p>
        </p:txBody>
      </p:sp>
      <p:sp>
        <p:nvSpPr>
          <p:cNvPr id="8" name="Shape 5"/>
          <p:cNvSpPr/>
          <p:nvPr/>
        </p:nvSpPr>
        <p:spPr>
          <a:xfrm>
            <a:off x="3870960" y="2246630"/>
            <a:ext cx="0" cy="1938020"/>
          </a:xfrm>
          <a:prstGeom prst="line">
            <a:avLst/>
          </a:prstGeom>
          <a:noFill/>
          <a:ln w="19050">
            <a:solidFill>
              <a:srgbClr val="FFFFFF"/>
            </a:solidFill>
            <a:prstDash val="solid"/>
            <a:headEnd type="none"/>
            <a:tailEnd type="none"/>
          </a:ln>
        </p:spPr>
      </p:sp>
      <p:sp>
        <p:nvSpPr>
          <p:cNvPr id="9" name="Text 6"/>
          <p:cNvSpPr/>
          <p:nvPr/>
        </p:nvSpPr>
        <p:spPr>
          <a:xfrm>
            <a:off x="941705" y="2068830"/>
            <a:ext cx="2804160" cy="2221865"/>
          </a:xfrm>
          <a:prstGeom prst="rect">
            <a:avLst/>
          </a:prstGeom>
          <a:noFill/>
        </p:spPr>
        <p:txBody>
          <a:bodyPr wrap="square" lIns="91440" tIns="45720" rIns="91440" bIns="45720" rtlCol="0" anchor="t">
            <a:spAutoFit/>
          </a:bodyPr>
          <a:lstStyle/>
          <a:p>
            <a:pPr algn="r">
              <a:lnSpc>
                <a:spcPct val="100000"/>
              </a:lnSpc>
            </a:pPr>
            <a:r>
              <a:rPr lang="en-US" sz="13800" dirty="0">
                <a:solidFill>
                  <a:srgbClr val="FFFFFF"/>
                </a:solidFill>
                <a:latin typeface="MiSans" pitchFamily="34" charset="-122"/>
                <a:ea typeface="MiSans" pitchFamily="34" charset="-122"/>
                <a:cs typeface="MiSans" pitchFamily="34" charset="-120"/>
              </a:rPr>
              <a:t>05</a:t>
            </a:r>
            <a:endParaRPr lang="en-US" sz="1600" dirty="0"/>
          </a:p>
        </p:txBody>
      </p:sp>
      <p:sp>
        <p:nvSpPr>
          <p:cNvPr id="10" name="Shape 7"/>
          <p:cNvSpPr/>
          <p:nvPr/>
        </p:nvSpPr>
        <p:spPr>
          <a:xfrm rot="2100000">
            <a:off x="9042400" y="3636645"/>
            <a:ext cx="3905250" cy="3905250"/>
          </a:xfrm>
          <a:custGeom>
            <a:avLst/>
            <a:gdLst/>
            <a:ahLst/>
            <a:cxnLst/>
            <a:rect l="l" t="t" r="r" b="b"/>
            <a:pathLst>
              <a:path w="3905250" h="3905250">
                <a:moveTo>
                  <a:pt x="1430788" y="3837117"/>
                </a:moveTo>
                <a:cubicBezTo>
                  <a:pt x="1430788" y="3837117"/>
                  <a:pt x="1430788" y="3837117"/>
                  <a:pt x="2474458" y="3837117"/>
                </a:cubicBezTo>
                <a:cubicBezTo>
                  <a:pt x="2310071" y="3882540"/>
                  <a:pt x="2134213" y="3905250"/>
                  <a:pt x="1950712" y="3905250"/>
                </a:cubicBezTo>
                <a:cubicBezTo>
                  <a:pt x="1771033" y="3905250"/>
                  <a:pt x="1595175" y="3882540"/>
                  <a:pt x="1430788" y="3837117"/>
                </a:cubicBezTo>
                <a:close/>
                <a:moveTo>
                  <a:pt x="972440" y="3642011"/>
                </a:moveTo>
                <a:lnTo>
                  <a:pt x="2929711" y="3642011"/>
                </a:lnTo>
                <a:cubicBezTo>
                  <a:pt x="2849588" y="3687305"/>
                  <a:pt x="2769465" y="3728823"/>
                  <a:pt x="2681713" y="3762792"/>
                </a:cubicBezTo>
                <a:cubicBezTo>
                  <a:pt x="2681713" y="3762792"/>
                  <a:pt x="2681713" y="3762792"/>
                  <a:pt x="1216621" y="3762792"/>
                </a:cubicBezTo>
                <a:cubicBezTo>
                  <a:pt x="1132685" y="3728823"/>
                  <a:pt x="1048746" y="3687305"/>
                  <a:pt x="972440" y="3642011"/>
                </a:cubicBezTo>
                <a:close/>
                <a:moveTo>
                  <a:pt x="696812" y="3450000"/>
                </a:moveTo>
                <a:lnTo>
                  <a:pt x="3205340" y="3450000"/>
                </a:lnTo>
                <a:cubicBezTo>
                  <a:pt x="3151885" y="3491759"/>
                  <a:pt x="3098432" y="3529723"/>
                  <a:pt x="3044977" y="3567684"/>
                </a:cubicBezTo>
                <a:cubicBezTo>
                  <a:pt x="3044977" y="3567684"/>
                  <a:pt x="3044977" y="3567684"/>
                  <a:pt x="857175" y="3567684"/>
                </a:cubicBezTo>
                <a:cubicBezTo>
                  <a:pt x="799902" y="3529723"/>
                  <a:pt x="746447" y="3491759"/>
                  <a:pt x="696812" y="3450000"/>
                </a:cubicBezTo>
                <a:close/>
                <a:moveTo>
                  <a:pt x="498608" y="3254891"/>
                </a:moveTo>
                <a:lnTo>
                  <a:pt x="3403544" y="3254891"/>
                </a:lnTo>
                <a:cubicBezTo>
                  <a:pt x="3365373" y="3297474"/>
                  <a:pt x="3327199" y="3340057"/>
                  <a:pt x="3285209" y="3378769"/>
                </a:cubicBezTo>
                <a:cubicBezTo>
                  <a:pt x="3285209" y="3378769"/>
                  <a:pt x="3285209" y="3378769"/>
                  <a:pt x="616943" y="3378769"/>
                </a:cubicBezTo>
                <a:cubicBezTo>
                  <a:pt x="574953" y="3340057"/>
                  <a:pt x="532964" y="3297474"/>
                  <a:pt x="498608" y="3254891"/>
                </a:cubicBezTo>
                <a:close/>
                <a:moveTo>
                  <a:pt x="346856" y="3065979"/>
                </a:moveTo>
                <a:lnTo>
                  <a:pt x="3558390" y="3065979"/>
                </a:lnTo>
                <a:cubicBezTo>
                  <a:pt x="3527840" y="3107736"/>
                  <a:pt x="3501110" y="3145699"/>
                  <a:pt x="3466742" y="3183663"/>
                </a:cubicBezTo>
                <a:cubicBezTo>
                  <a:pt x="3466742" y="3183663"/>
                  <a:pt x="3466742" y="3183663"/>
                  <a:pt x="434687" y="3183663"/>
                </a:cubicBezTo>
                <a:cubicBezTo>
                  <a:pt x="404137" y="3145699"/>
                  <a:pt x="373587" y="3107736"/>
                  <a:pt x="346856" y="3065979"/>
                </a:cubicBezTo>
                <a:close/>
                <a:moveTo>
                  <a:pt x="229172" y="2870870"/>
                </a:moveTo>
                <a:lnTo>
                  <a:pt x="3676074" y="2870870"/>
                </a:lnTo>
                <a:cubicBezTo>
                  <a:pt x="3653171" y="2912388"/>
                  <a:pt x="3630268" y="2953907"/>
                  <a:pt x="3603548" y="2991652"/>
                </a:cubicBezTo>
                <a:cubicBezTo>
                  <a:pt x="3603548" y="2991652"/>
                  <a:pt x="3603548" y="2991652"/>
                  <a:pt x="297881" y="2991652"/>
                </a:cubicBezTo>
                <a:cubicBezTo>
                  <a:pt x="274978" y="2953907"/>
                  <a:pt x="252075" y="2912388"/>
                  <a:pt x="229172" y="2870870"/>
                </a:cubicBezTo>
                <a:close/>
                <a:moveTo>
                  <a:pt x="136264" y="2678859"/>
                </a:moveTo>
                <a:lnTo>
                  <a:pt x="3762788" y="2678859"/>
                </a:lnTo>
                <a:cubicBezTo>
                  <a:pt x="3747519" y="2716821"/>
                  <a:pt x="3728432" y="2758580"/>
                  <a:pt x="3709345" y="2796543"/>
                </a:cubicBezTo>
                <a:cubicBezTo>
                  <a:pt x="3709345" y="2796543"/>
                  <a:pt x="3709345" y="2796543"/>
                  <a:pt x="189707" y="2796543"/>
                </a:cubicBezTo>
                <a:cubicBezTo>
                  <a:pt x="170620" y="2758580"/>
                  <a:pt x="155351" y="2716821"/>
                  <a:pt x="136264" y="2678859"/>
                </a:cubicBezTo>
                <a:close/>
                <a:moveTo>
                  <a:pt x="71229" y="2483753"/>
                </a:moveTo>
                <a:lnTo>
                  <a:pt x="3830923" y="2483753"/>
                </a:lnTo>
                <a:cubicBezTo>
                  <a:pt x="3819472" y="2526335"/>
                  <a:pt x="3804205" y="2568918"/>
                  <a:pt x="3788937" y="2607631"/>
                </a:cubicBezTo>
                <a:cubicBezTo>
                  <a:pt x="3788937" y="2607631"/>
                  <a:pt x="3788937" y="2607631"/>
                  <a:pt x="109399" y="2607631"/>
                </a:cubicBezTo>
                <a:cubicBezTo>
                  <a:pt x="94130" y="2568918"/>
                  <a:pt x="82680" y="2526335"/>
                  <a:pt x="71229" y="2483753"/>
                </a:cubicBezTo>
                <a:close/>
                <a:moveTo>
                  <a:pt x="24774" y="2294838"/>
                </a:moveTo>
                <a:lnTo>
                  <a:pt x="3874279" y="2294838"/>
                </a:lnTo>
                <a:cubicBezTo>
                  <a:pt x="3866641" y="2332799"/>
                  <a:pt x="3859004" y="2374559"/>
                  <a:pt x="3851364" y="2412522"/>
                </a:cubicBezTo>
                <a:cubicBezTo>
                  <a:pt x="3851364" y="2412522"/>
                  <a:pt x="3851364" y="2412522"/>
                  <a:pt x="51506" y="2412522"/>
                </a:cubicBezTo>
                <a:cubicBezTo>
                  <a:pt x="43868" y="2374559"/>
                  <a:pt x="32411" y="2332799"/>
                  <a:pt x="24774" y="2294838"/>
                </a:cubicBezTo>
                <a:close/>
                <a:moveTo>
                  <a:pt x="3096" y="2099731"/>
                </a:moveTo>
                <a:lnTo>
                  <a:pt x="3902152" y="2099731"/>
                </a:lnTo>
                <a:cubicBezTo>
                  <a:pt x="3898334" y="2141249"/>
                  <a:pt x="3894515" y="2182769"/>
                  <a:pt x="3886877" y="2220513"/>
                </a:cubicBezTo>
                <a:cubicBezTo>
                  <a:pt x="3886877" y="2220513"/>
                  <a:pt x="3886877" y="2220513"/>
                  <a:pt x="18371" y="2220513"/>
                </a:cubicBezTo>
                <a:cubicBezTo>
                  <a:pt x="10733" y="2182769"/>
                  <a:pt x="6916" y="2141249"/>
                  <a:pt x="3096" y="2099731"/>
                </a:cubicBezTo>
                <a:close/>
                <a:moveTo>
                  <a:pt x="0" y="1907721"/>
                </a:moveTo>
                <a:cubicBezTo>
                  <a:pt x="0" y="1907721"/>
                  <a:pt x="0" y="1907721"/>
                  <a:pt x="3905250" y="1907721"/>
                </a:cubicBezTo>
                <a:cubicBezTo>
                  <a:pt x="3905250" y="1923204"/>
                  <a:pt x="3905250" y="1934818"/>
                  <a:pt x="3905250" y="1950304"/>
                </a:cubicBezTo>
                <a:cubicBezTo>
                  <a:pt x="3905250" y="1977403"/>
                  <a:pt x="3905250" y="2004500"/>
                  <a:pt x="3905250" y="2031599"/>
                </a:cubicBezTo>
                <a:cubicBezTo>
                  <a:pt x="3905250" y="2031599"/>
                  <a:pt x="3905250" y="2031599"/>
                  <a:pt x="0" y="2031599"/>
                </a:cubicBezTo>
                <a:cubicBezTo>
                  <a:pt x="0" y="2004500"/>
                  <a:pt x="0" y="1977403"/>
                  <a:pt x="0" y="1950304"/>
                </a:cubicBezTo>
                <a:cubicBezTo>
                  <a:pt x="0" y="1934818"/>
                  <a:pt x="0" y="1923204"/>
                  <a:pt x="0" y="1907721"/>
                </a:cubicBezTo>
                <a:close/>
                <a:moveTo>
                  <a:pt x="10733" y="1712612"/>
                </a:moveTo>
                <a:lnTo>
                  <a:pt x="3890695" y="1712612"/>
                </a:lnTo>
                <a:cubicBezTo>
                  <a:pt x="3898334" y="1755195"/>
                  <a:pt x="3898334" y="1793907"/>
                  <a:pt x="3902152" y="1836490"/>
                </a:cubicBezTo>
                <a:cubicBezTo>
                  <a:pt x="3902152" y="1836490"/>
                  <a:pt x="3902152" y="1836490"/>
                  <a:pt x="3096" y="1836490"/>
                </a:cubicBezTo>
                <a:cubicBezTo>
                  <a:pt x="3096" y="1793907"/>
                  <a:pt x="6916" y="1755195"/>
                  <a:pt x="10733" y="1712612"/>
                </a:cubicBezTo>
                <a:close/>
                <a:moveTo>
                  <a:pt x="44578" y="1523699"/>
                </a:moveTo>
                <a:lnTo>
                  <a:pt x="3857574" y="1523699"/>
                </a:lnTo>
                <a:cubicBezTo>
                  <a:pt x="3865207" y="1561444"/>
                  <a:pt x="3872841" y="1602962"/>
                  <a:pt x="3880474" y="1644481"/>
                </a:cubicBezTo>
                <a:cubicBezTo>
                  <a:pt x="3880474" y="1644481"/>
                  <a:pt x="3880474" y="1644481"/>
                  <a:pt x="21678" y="1644481"/>
                </a:cubicBezTo>
                <a:cubicBezTo>
                  <a:pt x="29311" y="1602962"/>
                  <a:pt x="36945" y="1561444"/>
                  <a:pt x="44578" y="1523699"/>
                </a:cubicBezTo>
                <a:close/>
                <a:moveTo>
                  <a:pt x="99389" y="1328591"/>
                </a:moveTo>
                <a:lnTo>
                  <a:pt x="3805859" y="1328591"/>
                </a:lnTo>
                <a:cubicBezTo>
                  <a:pt x="3817310" y="1370108"/>
                  <a:pt x="3828762" y="1407853"/>
                  <a:pt x="3840213" y="1449373"/>
                </a:cubicBezTo>
                <a:cubicBezTo>
                  <a:pt x="3840213" y="1449373"/>
                  <a:pt x="3840213" y="1449373"/>
                  <a:pt x="65035" y="1449373"/>
                </a:cubicBezTo>
                <a:cubicBezTo>
                  <a:pt x="72669" y="1407853"/>
                  <a:pt x="87938" y="1370108"/>
                  <a:pt x="99389" y="1328591"/>
                </a:cubicBezTo>
                <a:close/>
                <a:moveTo>
                  <a:pt x="173517" y="1136580"/>
                </a:moveTo>
                <a:lnTo>
                  <a:pt x="3724814" y="1136580"/>
                </a:lnTo>
                <a:cubicBezTo>
                  <a:pt x="3743906" y="1175293"/>
                  <a:pt x="3762999" y="1217875"/>
                  <a:pt x="3778274" y="1260458"/>
                </a:cubicBezTo>
                <a:cubicBezTo>
                  <a:pt x="3778274" y="1260458"/>
                  <a:pt x="3778274" y="1260458"/>
                  <a:pt x="123876" y="1260458"/>
                </a:cubicBezTo>
                <a:cubicBezTo>
                  <a:pt x="139151" y="1217875"/>
                  <a:pt x="154424" y="1175293"/>
                  <a:pt x="173517" y="1136580"/>
                </a:cubicBezTo>
                <a:close/>
                <a:moveTo>
                  <a:pt x="279293" y="941474"/>
                </a:moveTo>
                <a:lnTo>
                  <a:pt x="3626673" y="941474"/>
                </a:lnTo>
                <a:cubicBezTo>
                  <a:pt x="3649574" y="984056"/>
                  <a:pt x="3672475" y="1022769"/>
                  <a:pt x="3691560" y="1065351"/>
                </a:cubicBezTo>
                <a:cubicBezTo>
                  <a:pt x="3691560" y="1065351"/>
                  <a:pt x="3691560" y="1065351"/>
                  <a:pt x="210590" y="1065351"/>
                </a:cubicBezTo>
                <a:cubicBezTo>
                  <a:pt x="233491" y="1022769"/>
                  <a:pt x="256392" y="984056"/>
                  <a:pt x="279293" y="941474"/>
                </a:cubicBezTo>
                <a:close/>
                <a:moveTo>
                  <a:pt x="412943" y="752559"/>
                </a:moveTo>
                <a:lnTo>
                  <a:pt x="3492305" y="752559"/>
                </a:lnTo>
                <a:cubicBezTo>
                  <a:pt x="3522832" y="790304"/>
                  <a:pt x="3553359" y="831821"/>
                  <a:pt x="3580070" y="873341"/>
                </a:cubicBezTo>
                <a:cubicBezTo>
                  <a:pt x="3580070" y="873341"/>
                  <a:pt x="3580070" y="873341"/>
                  <a:pt x="325179" y="873341"/>
                </a:cubicBezTo>
                <a:cubicBezTo>
                  <a:pt x="351889" y="831821"/>
                  <a:pt x="382416" y="790304"/>
                  <a:pt x="412943" y="752559"/>
                </a:cubicBezTo>
                <a:close/>
                <a:moveTo>
                  <a:pt x="582189" y="560548"/>
                </a:moveTo>
                <a:cubicBezTo>
                  <a:pt x="582189" y="560548"/>
                  <a:pt x="582189" y="560548"/>
                  <a:pt x="3319963" y="560548"/>
                </a:cubicBezTo>
                <a:cubicBezTo>
                  <a:pt x="3358147" y="598509"/>
                  <a:pt x="3396330" y="636473"/>
                  <a:pt x="3434514" y="678232"/>
                </a:cubicBezTo>
                <a:cubicBezTo>
                  <a:pt x="3434514" y="678232"/>
                  <a:pt x="3434514" y="678232"/>
                  <a:pt x="467638" y="678232"/>
                </a:cubicBezTo>
                <a:cubicBezTo>
                  <a:pt x="502004" y="636473"/>
                  <a:pt x="540188" y="598509"/>
                  <a:pt x="582189" y="560548"/>
                </a:cubicBezTo>
                <a:close/>
                <a:moveTo>
                  <a:pt x="808618" y="365442"/>
                </a:moveTo>
                <a:lnTo>
                  <a:pt x="3092810" y="365442"/>
                </a:lnTo>
                <a:cubicBezTo>
                  <a:pt x="3146286" y="404154"/>
                  <a:pt x="3195943" y="446737"/>
                  <a:pt x="3245599" y="489319"/>
                </a:cubicBezTo>
                <a:cubicBezTo>
                  <a:pt x="3245599" y="489319"/>
                  <a:pt x="3245599" y="489319"/>
                  <a:pt x="659649" y="489319"/>
                </a:cubicBezTo>
                <a:cubicBezTo>
                  <a:pt x="705486" y="446737"/>
                  <a:pt x="758962" y="404154"/>
                  <a:pt x="808618" y="365442"/>
                </a:cubicBezTo>
                <a:close/>
                <a:moveTo>
                  <a:pt x="1141891" y="176527"/>
                </a:moveTo>
                <a:lnTo>
                  <a:pt x="2760259" y="176527"/>
                </a:lnTo>
                <a:cubicBezTo>
                  <a:pt x="2840413" y="210692"/>
                  <a:pt x="2912935" y="248655"/>
                  <a:pt x="2985456" y="294211"/>
                </a:cubicBezTo>
                <a:cubicBezTo>
                  <a:pt x="2985456" y="294211"/>
                  <a:pt x="2985456" y="294211"/>
                  <a:pt x="916695" y="294211"/>
                </a:cubicBezTo>
                <a:cubicBezTo>
                  <a:pt x="989215" y="248655"/>
                  <a:pt x="1065553" y="210692"/>
                  <a:pt x="1141891" y="176527"/>
                </a:cubicBezTo>
                <a:close/>
                <a:moveTo>
                  <a:pt x="1949526" y="0"/>
                </a:moveTo>
                <a:cubicBezTo>
                  <a:pt x="2171061" y="0"/>
                  <a:pt x="2381136" y="34067"/>
                  <a:pt x="2579754" y="102200"/>
                </a:cubicBezTo>
                <a:cubicBezTo>
                  <a:pt x="2579754" y="102200"/>
                  <a:pt x="2579754" y="102200"/>
                  <a:pt x="1319298" y="102200"/>
                </a:cubicBezTo>
                <a:cubicBezTo>
                  <a:pt x="1517916" y="34067"/>
                  <a:pt x="1731811" y="0"/>
                  <a:pt x="1949526" y="0"/>
                </a:cubicBezTo>
                <a:close/>
              </a:path>
            </a:pathLst>
          </a:cu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11" name="Shape 8"/>
          <p:cNvSpPr/>
          <p:nvPr/>
        </p:nvSpPr>
        <p:spPr>
          <a:xfrm rot="16680000">
            <a:off x="-121920" y="-71120"/>
            <a:ext cx="2160270" cy="1989455"/>
          </a:xfrm>
          <a:custGeom>
            <a:avLst/>
            <a:gdLst/>
            <a:ahLst/>
            <a:cxnLst/>
            <a:rect l="l" t="t" r="r" b="b"/>
            <a:pathLst>
              <a:path w="2160270" h="1989455">
                <a:moveTo>
                  <a:pt x="0" y="404000"/>
                </a:moveTo>
                <a:cubicBezTo>
                  <a:pt x="-4270" y="299551"/>
                  <a:pt x="25291" y="106748"/>
                  <a:pt x="30218" y="95252"/>
                </a:cubicBezTo>
                <a:lnTo>
                  <a:pt x="672683" y="0"/>
                </a:lnTo>
                <a:cubicBezTo>
                  <a:pt x="623742" y="90325"/>
                  <a:pt x="580057" y="311376"/>
                  <a:pt x="587283" y="404000"/>
                </a:cubicBezTo>
                <a:cubicBezTo>
                  <a:pt x="570204" y="964345"/>
                  <a:pt x="1083255" y="1415972"/>
                  <a:pt x="1585468" y="1402177"/>
                </a:cubicBezTo>
                <a:cubicBezTo>
                  <a:pt x="1754953" y="1415643"/>
                  <a:pt x="2006223" y="1319406"/>
                  <a:pt x="2070272" y="1276707"/>
                </a:cubicBezTo>
                <a:lnTo>
                  <a:pt x="2160270" y="1882050"/>
                </a:lnTo>
                <a:cubicBezTo>
                  <a:pt x="2022974" y="1946756"/>
                  <a:pt x="1709297" y="1997995"/>
                  <a:pt x="1585468" y="1989455"/>
                </a:cubicBezTo>
                <a:cubicBezTo>
                  <a:pt x="695675" y="2016717"/>
                  <a:pt x="-21678" y="1202147"/>
                  <a:pt x="0" y="404000"/>
                </a:cubicBezTo>
                <a:close/>
              </a:path>
            </a:pathLst>
          </a:custGeom>
          <a:gradFill flip="none" rotWithShape="1">
            <a:gsLst>
              <a:gs pos="0">
                <a:srgbClr val="00B0F0">
                  <a:alpha val="34000"/>
                </a:srgbClr>
              </a:gs>
              <a:gs pos="76000">
                <a:srgbClr val="00B0F0">
                  <a:alpha val="0"/>
                </a:srgbClr>
              </a:gs>
              <a:gs pos="100000">
                <a:srgbClr val="00B0F0">
                  <a:alpha val="0"/>
                </a:srgbClr>
              </a:gs>
            </a:gsLst>
            <a:lin ang="16200000" scaled="1"/>
          </a:gradFill>
        </p:spPr>
      </p:sp>
      <p:sp>
        <p:nvSpPr>
          <p:cNvPr id="12" name="Shape 9"/>
          <p:cNvSpPr/>
          <p:nvPr/>
        </p:nvSpPr>
        <p:spPr>
          <a:xfrm rot="17460000">
            <a:off x="10614660" y="325120"/>
            <a:ext cx="1136650" cy="1136650"/>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13" name="Shape 10"/>
          <p:cNvSpPr/>
          <p:nvPr/>
        </p:nvSpPr>
        <p:spPr>
          <a:xfrm rot="17460000" flipH="1" flipV="1">
            <a:off x="811530" y="5401945"/>
            <a:ext cx="3069590" cy="3069590"/>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sp>
        <p:nvSpPr>
          <p:cNvPr id="5" name="Shape 3"/>
          <p:cNvSpPr/>
          <p:nvPr/>
        </p:nvSpPr>
        <p:spPr>
          <a:xfrm>
            <a:off x="848360" y="6346190"/>
            <a:ext cx="163338" cy="153035"/>
          </a:xfrm>
          <a:prstGeom prst="rect">
            <a:avLst/>
          </a:prstGeom>
          <a:solidFill>
            <a:srgbClr val="004CC0"/>
          </a:solidFill>
        </p:spPr>
      </p:sp>
      <p:sp>
        <p:nvSpPr>
          <p:cNvPr id="6" name="Shape 4"/>
          <p:cNvSpPr/>
          <p:nvPr/>
        </p:nvSpPr>
        <p:spPr>
          <a:xfrm>
            <a:off x="1122291" y="6346190"/>
            <a:ext cx="163338" cy="153035"/>
          </a:xfrm>
          <a:prstGeom prst="rect">
            <a:avLst/>
          </a:prstGeom>
          <a:solidFill>
            <a:srgbClr val="004CC0"/>
          </a:solidFill>
        </p:spPr>
      </p:sp>
      <p:sp>
        <p:nvSpPr>
          <p:cNvPr id="7" name="Shape 5"/>
          <p:cNvSpPr/>
          <p:nvPr/>
        </p:nvSpPr>
        <p:spPr>
          <a:xfrm>
            <a:off x="1396222" y="6346190"/>
            <a:ext cx="163338" cy="153035"/>
          </a:xfrm>
          <a:prstGeom prst="rect">
            <a:avLst/>
          </a:prstGeom>
          <a:solidFill>
            <a:srgbClr val="004CC0"/>
          </a:solidFill>
        </p:spPr>
      </p:sp>
      <p:sp>
        <p:nvSpPr>
          <p:cNvPr id="8" name="Shape 6"/>
          <p:cNvSpPr/>
          <p:nvPr>
            <p:custDataLst>
              <p:tags r:id="rId1"/>
            </p:custDataLst>
          </p:nvPr>
        </p:nvSpPr>
        <p:spPr>
          <a:xfrm>
            <a:off x="1101090" y="1397000"/>
            <a:ext cx="4817110" cy="4079875"/>
          </a:xfrm>
          <a:custGeom>
            <a:avLst/>
            <a:gdLst/>
            <a:ahLst/>
            <a:cxnLst/>
            <a:rect l="l" t="t" r="r" b="b"/>
            <a:pathLst>
              <a:path w="4817110" h="4079875">
                <a:moveTo>
                  <a:pt x="603" y="679979"/>
                </a:moveTo>
                <a:lnTo>
                  <a:pt x="0" y="661895"/>
                </a:lnTo>
                <a:cubicBezTo>
                  <a:pt x="-10849" y="288750"/>
                  <a:pt x="364659" y="-8439"/>
                  <a:pt x="663618" y="0"/>
                </a:cubicBezTo>
                <a:lnTo>
                  <a:pt x="679892" y="0"/>
                </a:lnTo>
                <a:lnTo>
                  <a:pt x="4137218" y="0"/>
                </a:lnTo>
                <a:lnTo>
                  <a:pt x="4155300" y="0"/>
                </a:lnTo>
                <a:cubicBezTo>
                  <a:pt x="4528397" y="-10851"/>
                  <a:pt x="4825548" y="364705"/>
                  <a:pt x="4817110" y="663703"/>
                </a:cubicBezTo>
                <a:lnTo>
                  <a:pt x="4817110" y="679979"/>
                </a:lnTo>
                <a:lnTo>
                  <a:pt x="4817110" y="3399896"/>
                </a:lnTo>
                <a:lnTo>
                  <a:pt x="4817110" y="3417980"/>
                </a:lnTo>
                <a:cubicBezTo>
                  <a:pt x="4827959" y="3791125"/>
                  <a:pt x="4452451" y="4088314"/>
                  <a:pt x="4153492" y="4079875"/>
                </a:cubicBezTo>
                <a:lnTo>
                  <a:pt x="4137218" y="4079875"/>
                </a:lnTo>
                <a:lnTo>
                  <a:pt x="779345" y="4079875"/>
                </a:lnTo>
                <a:lnTo>
                  <a:pt x="784769" y="4079875"/>
                </a:lnTo>
                <a:lnTo>
                  <a:pt x="789591" y="4079875"/>
                </a:lnTo>
                <a:lnTo>
                  <a:pt x="603" y="4079875"/>
                </a:lnTo>
                <a:lnTo>
                  <a:pt x="603" y="3428831"/>
                </a:lnTo>
                <a:lnTo>
                  <a:pt x="0" y="3416172"/>
                </a:lnTo>
                <a:lnTo>
                  <a:pt x="603" y="3399896"/>
                </a:lnTo>
                <a:lnTo>
                  <a:pt x="603" y="3300431"/>
                </a:lnTo>
                <a:lnTo>
                  <a:pt x="603" y="3299225"/>
                </a:lnTo>
                <a:lnTo>
                  <a:pt x="0" y="3277524"/>
                </a:lnTo>
                <a:lnTo>
                  <a:pt x="603" y="3255219"/>
                </a:lnTo>
                <a:lnTo>
                  <a:pt x="603" y="679979"/>
                </a:lnTo>
                <a:close/>
                <a:moveTo>
                  <a:pt x="824550" y="4079875"/>
                </a:moveTo>
                <a:lnTo>
                  <a:pt x="789591" y="4079875"/>
                </a:lnTo>
                <a:lnTo>
                  <a:pt x="804660" y="4079875"/>
                </a:lnTo>
                <a:lnTo>
                  <a:pt x="824550" y="4079875"/>
                </a:lnTo>
                <a:close/>
              </a:path>
            </a:pathLst>
          </a:custGeom>
          <a:solidFill>
            <a:srgbClr val="000000">
              <a:alpha val="0"/>
            </a:srgbClr>
          </a:solidFill>
          <a:ln w="19050">
            <a:solidFill>
              <a:srgbClr val="1D3EBF"/>
            </a:solidFill>
            <a:prstDash val="solid"/>
          </a:ln>
        </p:spPr>
      </p:sp>
      <p:sp>
        <p:nvSpPr>
          <p:cNvPr id="9" name="Shape 7"/>
          <p:cNvSpPr/>
          <p:nvPr>
            <p:custDataLst>
              <p:tags r:id="rId2"/>
            </p:custDataLst>
          </p:nvPr>
        </p:nvSpPr>
        <p:spPr>
          <a:xfrm>
            <a:off x="672465" y="4773295"/>
            <a:ext cx="1233170" cy="1233170"/>
          </a:xfrm>
          <a:prstGeom prst="ellipse">
            <a:avLst/>
          </a:prstGeom>
          <a:solidFill>
            <a:srgbClr val="FFFFFF">
              <a:alpha val="0"/>
            </a:srgbClr>
          </a:solidFill>
        </p:spPr>
      </p:sp>
      <p:sp>
        <p:nvSpPr>
          <p:cNvPr id="10" name="Shape 8"/>
          <p:cNvSpPr/>
          <p:nvPr>
            <p:custDataLst>
              <p:tags r:id="rId3"/>
            </p:custDataLst>
          </p:nvPr>
        </p:nvSpPr>
        <p:spPr>
          <a:xfrm>
            <a:off x="784571" y="4885401"/>
            <a:ext cx="1008957" cy="1008957"/>
          </a:xfrm>
          <a:prstGeom prst="ellipse">
            <a:avLst/>
          </a:prstGeom>
          <a:solidFill>
            <a:srgbClr val="1D3EBF"/>
          </a:solidFill>
        </p:spPr>
      </p:sp>
      <p:sp>
        <p:nvSpPr>
          <p:cNvPr id="11" name="Shape 9"/>
          <p:cNvSpPr/>
          <p:nvPr>
            <p:custDataLst>
              <p:tags r:id="rId4"/>
            </p:custDataLst>
          </p:nvPr>
        </p:nvSpPr>
        <p:spPr>
          <a:xfrm>
            <a:off x="6592570" y="1397000"/>
            <a:ext cx="4817110" cy="4079875"/>
          </a:xfrm>
          <a:custGeom>
            <a:avLst/>
            <a:gdLst/>
            <a:ahLst/>
            <a:cxnLst/>
            <a:rect l="l" t="t" r="r" b="b"/>
            <a:pathLst>
              <a:path w="4817110" h="4079875">
                <a:moveTo>
                  <a:pt x="603" y="679979"/>
                </a:moveTo>
                <a:lnTo>
                  <a:pt x="0" y="661895"/>
                </a:lnTo>
                <a:cubicBezTo>
                  <a:pt x="-10849" y="288750"/>
                  <a:pt x="364659" y="-8439"/>
                  <a:pt x="663618" y="0"/>
                </a:cubicBezTo>
                <a:lnTo>
                  <a:pt x="679892" y="0"/>
                </a:lnTo>
                <a:lnTo>
                  <a:pt x="4137218" y="0"/>
                </a:lnTo>
                <a:lnTo>
                  <a:pt x="4155300" y="0"/>
                </a:lnTo>
                <a:cubicBezTo>
                  <a:pt x="4528397" y="-10851"/>
                  <a:pt x="4825548" y="364705"/>
                  <a:pt x="4817110" y="663703"/>
                </a:cubicBezTo>
                <a:lnTo>
                  <a:pt x="4817110" y="679979"/>
                </a:lnTo>
                <a:lnTo>
                  <a:pt x="4817110" y="3399896"/>
                </a:lnTo>
                <a:lnTo>
                  <a:pt x="4817110" y="3417980"/>
                </a:lnTo>
                <a:cubicBezTo>
                  <a:pt x="4827959" y="3791125"/>
                  <a:pt x="4452451" y="4088314"/>
                  <a:pt x="4153492" y="4079875"/>
                </a:cubicBezTo>
                <a:lnTo>
                  <a:pt x="4137218" y="4079875"/>
                </a:lnTo>
                <a:lnTo>
                  <a:pt x="779345" y="4079875"/>
                </a:lnTo>
                <a:lnTo>
                  <a:pt x="784769" y="4079875"/>
                </a:lnTo>
                <a:lnTo>
                  <a:pt x="789591" y="4079875"/>
                </a:lnTo>
                <a:lnTo>
                  <a:pt x="603" y="4079875"/>
                </a:lnTo>
                <a:lnTo>
                  <a:pt x="603" y="3428831"/>
                </a:lnTo>
                <a:lnTo>
                  <a:pt x="0" y="3416172"/>
                </a:lnTo>
                <a:lnTo>
                  <a:pt x="603" y="3399896"/>
                </a:lnTo>
                <a:lnTo>
                  <a:pt x="603" y="3300431"/>
                </a:lnTo>
                <a:lnTo>
                  <a:pt x="603" y="3299225"/>
                </a:lnTo>
                <a:lnTo>
                  <a:pt x="0" y="3277524"/>
                </a:lnTo>
                <a:lnTo>
                  <a:pt x="603" y="3255219"/>
                </a:lnTo>
                <a:lnTo>
                  <a:pt x="603" y="679979"/>
                </a:lnTo>
                <a:close/>
                <a:moveTo>
                  <a:pt x="824550" y="4079875"/>
                </a:moveTo>
                <a:lnTo>
                  <a:pt x="789591" y="4079875"/>
                </a:lnTo>
                <a:lnTo>
                  <a:pt x="804660" y="4079875"/>
                </a:lnTo>
                <a:lnTo>
                  <a:pt x="824550" y="4079875"/>
                </a:lnTo>
                <a:close/>
              </a:path>
            </a:pathLst>
          </a:custGeom>
          <a:solidFill>
            <a:srgbClr val="000000">
              <a:alpha val="0"/>
            </a:srgbClr>
          </a:solidFill>
          <a:ln w="19050">
            <a:solidFill>
              <a:srgbClr val="1D3EBF"/>
            </a:solidFill>
            <a:prstDash val="solid"/>
          </a:ln>
        </p:spPr>
      </p:sp>
      <p:sp>
        <p:nvSpPr>
          <p:cNvPr id="12" name="Shape 10"/>
          <p:cNvSpPr/>
          <p:nvPr>
            <p:custDataLst>
              <p:tags r:id="rId5"/>
            </p:custDataLst>
          </p:nvPr>
        </p:nvSpPr>
        <p:spPr>
          <a:xfrm>
            <a:off x="6163945" y="4773295"/>
            <a:ext cx="1233170" cy="1233170"/>
          </a:xfrm>
          <a:prstGeom prst="ellipse">
            <a:avLst/>
          </a:prstGeom>
          <a:solidFill>
            <a:srgbClr val="FFFFFF">
              <a:alpha val="0"/>
            </a:srgbClr>
          </a:solidFill>
        </p:spPr>
      </p:sp>
      <p:sp>
        <p:nvSpPr>
          <p:cNvPr id="13" name="Shape 11"/>
          <p:cNvSpPr/>
          <p:nvPr>
            <p:custDataLst>
              <p:tags r:id="rId6"/>
            </p:custDataLst>
          </p:nvPr>
        </p:nvSpPr>
        <p:spPr>
          <a:xfrm>
            <a:off x="6276051" y="4885401"/>
            <a:ext cx="1008957" cy="1008957"/>
          </a:xfrm>
          <a:prstGeom prst="ellipse">
            <a:avLst/>
          </a:prstGeom>
          <a:solidFill>
            <a:srgbClr val="1D3EBF"/>
          </a:solidFill>
        </p:spPr>
      </p:sp>
      <p:sp>
        <p:nvSpPr>
          <p:cNvPr id="14" name="Text 12"/>
          <p:cNvSpPr/>
          <p:nvPr/>
        </p:nvSpPr>
        <p:spPr>
          <a:xfrm>
            <a:off x="582930" y="211455"/>
            <a:ext cx="10151745" cy="5867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122"/>
                <a:ea typeface="MiSans" pitchFamily="34" charset="-122"/>
                <a:cs typeface="MiSans" pitchFamily="34" charset="-120"/>
              </a:rPr>
              <a:t>系统测试方案与环境配置</a:t>
            </a:r>
            <a:endParaRPr lang="en-US" sz="1600" dirty="0"/>
          </a:p>
        </p:txBody>
      </p:sp>
      <p:sp>
        <p:nvSpPr>
          <p:cNvPr id="15" name="Text 13"/>
          <p:cNvSpPr/>
          <p:nvPr>
            <p:custDataLst>
              <p:tags r:id="rId7"/>
            </p:custDataLst>
          </p:nvPr>
        </p:nvSpPr>
        <p:spPr>
          <a:xfrm>
            <a:off x="895350" y="5067300"/>
            <a:ext cx="788035" cy="643890"/>
          </a:xfrm>
          <a:prstGeom prst="rect">
            <a:avLst/>
          </a:prstGeom>
          <a:noFill/>
        </p:spPr>
        <p:txBody>
          <a:bodyPr wrap="square" lIns="91440" tIns="45720" rIns="91440" bIns="45720" rtlCol="0" anchor="t">
            <a:spAutoFit/>
          </a:bodyPr>
          <a:lstStyle/>
          <a:p>
            <a:pPr algn="ctr">
              <a:lnSpc>
                <a:spcPct val="100000"/>
              </a:lnSpc>
            </a:pPr>
            <a:r>
              <a:rPr lang="en-US" sz="3600" dirty="0">
                <a:solidFill>
                  <a:srgbClr val="FFFFFF"/>
                </a:solidFill>
                <a:latin typeface="MiSans" pitchFamily="34" charset="-122"/>
                <a:ea typeface="MiSans" pitchFamily="34" charset="-122"/>
                <a:cs typeface="MiSans" pitchFamily="34" charset="-120"/>
              </a:rPr>
              <a:t>01</a:t>
            </a:r>
            <a:endParaRPr lang="en-US" sz="1600" dirty="0"/>
          </a:p>
        </p:txBody>
      </p:sp>
      <p:sp>
        <p:nvSpPr>
          <p:cNvPr id="16" name="Text 14"/>
          <p:cNvSpPr/>
          <p:nvPr>
            <p:custDataLst>
              <p:tags r:id="rId8"/>
            </p:custDataLst>
          </p:nvPr>
        </p:nvSpPr>
        <p:spPr>
          <a:xfrm>
            <a:off x="1249680" y="1918970"/>
            <a:ext cx="4465320" cy="402590"/>
          </a:xfrm>
          <a:prstGeom prst="rect">
            <a:avLst/>
          </a:prstGeom>
          <a:noFill/>
        </p:spPr>
        <p:txBody>
          <a:bodyPr wrap="square" lIns="91440" tIns="45720" rIns="91440" bIns="45720" rtlCol="0" anchor="t">
            <a:spAutoFit/>
          </a:bodyPr>
          <a:lstStyle/>
          <a:p>
            <a:pPr algn="just">
              <a:lnSpc>
                <a:spcPct val="100000"/>
              </a:lnSpc>
            </a:pPr>
            <a:r>
              <a:rPr lang="en-US" sz="2000" dirty="0">
                <a:solidFill>
                  <a:srgbClr val="1D3EBF"/>
                </a:solidFill>
                <a:latin typeface="MiSans" pitchFamily="34" charset="-122"/>
                <a:ea typeface="MiSans" pitchFamily="34" charset="-122"/>
                <a:cs typeface="MiSans" pitchFamily="34" charset="-120"/>
              </a:rPr>
              <a:t>测试环境与工具链</a:t>
            </a:r>
            <a:endParaRPr lang="en-US" sz="1600" dirty="0"/>
          </a:p>
        </p:txBody>
      </p:sp>
      <p:sp>
        <p:nvSpPr>
          <p:cNvPr id="17" name="Text 15"/>
          <p:cNvSpPr/>
          <p:nvPr>
            <p:custDataLst>
              <p:tags r:id="rId9"/>
            </p:custDataLst>
          </p:nvPr>
        </p:nvSpPr>
        <p:spPr>
          <a:xfrm>
            <a:off x="1286510" y="2506345"/>
            <a:ext cx="4392295" cy="1920042"/>
          </a:xfrm>
          <a:prstGeom prst="rect">
            <a:avLst/>
          </a:prstGeom>
          <a:noFill/>
        </p:spPr>
        <p:txBody>
          <a:bodyPr wrap="square" lIns="91440" tIns="45720" rIns="91440" bIns="45720" rtlCol="0" anchor="t">
            <a:spAutoFit/>
          </a:bodyPr>
          <a:lstStyle/>
          <a:p>
            <a:pPr algn="just">
              <a:lnSpc>
                <a:spcPct val="150000"/>
              </a:lnSpc>
            </a:pPr>
            <a:r>
              <a:rPr lang="en-US" sz="1600" dirty="0">
                <a:solidFill>
                  <a:srgbClr val="000000"/>
                </a:solidFill>
                <a:latin typeface="MiSans" pitchFamily="34" charset="-122"/>
                <a:ea typeface="MiSans" pitchFamily="34" charset="-122"/>
                <a:cs typeface="MiSans" pitchFamily="34" charset="-120"/>
              </a:rPr>
              <a:t>后端基于Python+FastAPI+Uvicorn，前端基于Vue+Element Plus，模型调用DeepSeek API，通过Swagger UI验证接口，Edge浏览器查看结果，测试数据采用电商订单支付类需求覆盖知识库主要模块。</a:t>
            </a:r>
            <a:endParaRPr lang="en-US" sz="1600" dirty="0"/>
          </a:p>
        </p:txBody>
      </p:sp>
      <p:sp>
        <p:nvSpPr>
          <p:cNvPr id="18" name="Text 16"/>
          <p:cNvSpPr/>
          <p:nvPr>
            <p:custDataLst>
              <p:tags r:id="rId10"/>
            </p:custDataLst>
          </p:nvPr>
        </p:nvSpPr>
        <p:spPr>
          <a:xfrm>
            <a:off x="6386830" y="5067300"/>
            <a:ext cx="788035" cy="643890"/>
          </a:xfrm>
          <a:prstGeom prst="rect">
            <a:avLst/>
          </a:prstGeom>
          <a:noFill/>
        </p:spPr>
        <p:txBody>
          <a:bodyPr wrap="square" lIns="91440" tIns="45720" rIns="91440" bIns="45720" rtlCol="0" anchor="t">
            <a:spAutoFit/>
          </a:bodyPr>
          <a:lstStyle/>
          <a:p>
            <a:pPr algn="ctr">
              <a:lnSpc>
                <a:spcPct val="100000"/>
              </a:lnSpc>
            </a:pPr>
            <a:r>
              <a:rPr lang="en-US" sz="3600" dirty="0">
                <a:solidFill>
                  <a:srgbClr val="FFFFFF"/>
                </a:solidFill>
                <a:latin typeface="MiSans" pitchFamily="34" charset="-122"/>
                <a:ea typeface="MiSans" pitchFamily="34" charset="-122"/>
                <a:cs typeface="MiSans" pitchFamily="34" charset="-120"/>
              </a:rPr>
              <a:t>02</a:t>
            </a:r>
            <a:endParaRPr lang="en-US" sz="1600" dirty="0"/>
          </a:p>
        </p:txBody>
      </p:sp>
      <p:sp>
        <p:nvSpPr>
          <p:cNvPr id="19" name="Text 17"/>
          <p:cNvSpPr/>
          <p:nvPr>
            <p:custDataLst>
              <p:tags r:id="rId11"/>
            </p:custDataLst>
          </p:nvPr>
        </p:nvSpPr>
        <p:spPr>
          <a:xfrm>
            <a:off x="6741160" y="1918970"/>
            <a:ext cx="4465320" cy="402590"/>
          </a:xfrm>
          <a:prstGeom prst="rect">
            <a:avLst/>
          </a:prstGeom>
          <a:noFill/>
        </p:spPr>
        <p:txBody>
          <a:bodyPr wrap="square" lIns="91440" tIns="45720" rIns="91440" bIns="45720" rtlCol="0" anchor="t">
            <a:spAutoFit/>
          </a:bodyPr>
          <a:lstStyle/>
          <a:p>
            <a:pPr algn="just">
              <a:lnSpc>
                <a:spcPct val="100000"/>
              </a:lnSpc>
            </a:pPr>
            <a:r>
              <a:rPr lang="en-US" sz="2000" dirty="0">
                <a:solidFill>
                  <a:srgbClr val="1D3EBF"/>
                </a:solidFill>
                <a:latin typeface="MiSans" pitchFamily="34" charset="-122"/>
                <a:ea typeface="MiSans" pitchFamily="34" charset="-122"/>
                <a:cs typeface="MiSans" pitchFamily="34" charset="-120"/>
              </a:rPr>
              <a:t>三类核心测试用例</a:t>
            </a:r>
            <a:endParaRPr lang="en-US" sz="1600" dirty="0"/>
          </a:p>
        </p:txBody>
      </p:sp>
      <p:sp>
        <p:nvSpPr>
          <p:cNvPr id="20" name="Text 18"/>
          <p:cNvSpPr/>
          <p:nvPr>
            <p:custDataLst>
              <p:tags r:id="rId12"/>
            </p:custDataLst>
          </p:nvPr>
        </p:nvSpPr>
        <p:spPr>
          <a:xfrm>
            <a:off x="6777990" y="2506345"/>
            <a:ext cx="4392295" cy="1920042"/>
          </a:xfrm>
          <a:prstGeom prst="rect">
            <a:avLst/>
          </a:prstGeom>
          <a:noFill/>
        </p:spPr>
        <p:txBody>
          <a:bodyPr wrap="square" lIns="91440" tIns="45720" rIns="91440" bIns="45720" rtlCol="0" anchor="t">
            <a:spAutoFit/>
          </a:bodyPr>
          <a:lstStyle/>
          <a:p>
            <a:pPr algn="just">
              <a:lnSpc>
                <a:spcPct val="150000"/>
              </a:lnSpc>
            </a:pPr>
            <a:r>
              <a:rPr lang="en-US" sz="1600" dirty="0">
                <a:solidFill>
                  <a:srgbClr val="000000"/>
                </a:solidFill>
                <a:latin typeface="MiSans" pitchFamily="34" charset="-122"/>
                <a:ea typeface="MiSans" pitchFamily="34" charset="-122"/>
                <a:cs typeface="MiSans" pitchFamily="34" charset="-120"/>
              </a:rPr>
              <a:t>接口功能测试覆盖健康检查、空输入异常、知识命中、未知模块处理等场景；知识增强模块测试验证登录、支付、个人信息等模块的上下文构建；用户故事生成测试检验故事完整性、任务拆解合理性和依赖关系正确性。</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sp>
        <p:nvSpPr>
          <p:cNvPr id="5" name="Shape 3"/>
          <p:cNvSpPr/>
          <p:nvPr>
            <p:custDataLst>
              <p:tags r:id="rId1"/>
            </p:custDataLst>
          </p:nvPr>
        </p:nvSpPr>
        <p:spPr>
          <a:xfrm>
            <a:off x="-15875" y="3006725"/>
            <a:ext cx="12222480" cy="1402080"/>
          </a:xfrm>
          <a:prstGeom prst="roundRect">
            <a:avLst>
              <a:gd name="adj" fmla="val 0"/>
            </a:avLst>
          </a:prstGeom>
          <a:solidFill>
            <a:srgbClr val="004CC0"/>
          </a:solidFill>
        </p:spPr>
      </p:sp>
      <p:sp>
        <p:nvSpPr>
          <p:cNvPr id="6" name="Shape 4"/>
          <p:cNvSpPr/>
          <p:nvPr/>
        </p:nvSpPr>
        <p:spPr>
          <a:xfrm>
            <a:off x="1073150" y="1256665"/>
            <a:ext cx="10044430" cy="4902200"/>
          </a:xfrm>
          <a:custGeom>
            <a:avLst/>
            <a:gdLst/>
            <a:ahLst/>
            <a:cxnLst/>
            <a:rect l="l" t="t" r="r" b="b"/>
            <a:pathLst>
              <a:path w="10044430" h="4902200">
                <a:moveTo>
                  <a:pt x="0" y="424857"/>
                </a:moveTo>
                <a:cubicBezTo>
                  <a:pt x="-7308" y="186556"/>
                  <a:pt x="205951" y="-6128"/>
                  <a:pt x="414559" y="0"/>
                </a:cubicBezTo>
                <a:lnTo>
                  <a:pt x="4982021" y="0"/>
                </a:lnTo>
                <a:lnTo>
                  <a:pt x="4982021" y="2410248"/>
                </a:lnTo>
                <a:lnTo>
                  <a:pt x="0" y="2410248"/>
                </a:lnTo>
                <a:lnTo>
                  <a:pt x="0" y="424857"/>
                </a:lnTo>
                <a:close/>
                <a:moveTo>
                  <a:pt x="5062409" y="0"/>
                </a:moveTo>
                <a:lnTo>
                  <a:pt x="9629871" y="0"/>
                </a:lnTo>
                <a:cubicBezTo>
                  <a:pt x="9862396" y="-7489"/>
                  <a:pt x="10050409" y="211067"/>
                  <a:pt x="10044430" y="424857"/>
                </a:cubicBezTo>
                <a:lnTo>
                  <a:pt x="10044430" y="2410248"/>
                </a:lnTo>
                <a:lnTo>
                  <a:pt x="5062409" y="2410248"/>
                </a:lnTo>
                <a:lnTo>
                  <a:pt x="5062409" y="0"/>
                </a:lnTo>
                <a:close/>
                <a:moveTo>
                  <a:pt x="10044430" y="2492633"/>
                </a:moveTo>
                <a:lnTo>
                  <a:pt x="10044430" y="4477343"/>
                </a:lnTo>
                <a:cubicBezTo>
                  <a:pt x="10051738" y="4715644"/>
                  <a:pt x="9838479" y="4908328"/>
                  <a:pt x="9629871" y="4902200"/>
                </a:cubicBezTo>
                <a:lnTo>
                  <a:pt x="5062409" y="4902200"/>
                </a:lnTo>
                <a:lnTo>
                  <a:pt x="5062409" y="2492633"/>
                </a:lnTo>
                <a:lnTo>
                  <a:pt x="10044430" y="2492633"/>
                </a:lnTo>
                <a:close/>
                <a:moveTo>
                  <a:pt x="4982021" y="4902200"/>
                </a:moveTo>
                <a:lnTo>
                  <a:pt x="414559" y="4902200"/>
                </a:lnTo>
                <a:cubicBezTo>
                  <a:pt x="182034" y="4909689"/>
                  <a:pt x="-5979" y="4691133"/>
                  <a:pt x="0" y="4477343"/>
                </a:cubicBezTo>
                <a:lnTo>
                  <a:pt x="0" y="2492633"/>
                </a:lnTo>
                <a:lnTo>
                  <a:pt x="4982021" y="2492633"/>
                </a:lnTo>
                <a:lnTo>
                  <a:pt x="4982021" y="4902200"/>
                </a:lnTo>
                <a:close/>
              </a:path>
            </a:pathLst>
          </a:custGeom>
          <a:solidFill>
            <a:srgbClr val="FFFFFF"/>
          </a:solidFill>
          <a:ln w="19050">
            <a:solidFill>
              <a:srgbClr val="004CC0"/>
            </a:solidFill>
            <a:prstDash val="solid"/>
          </a:ln>
        </p:spPr>
      </p:sp>
      <p:sp>
        <p:nvSpPr>
          <p:cNvPr id="8" name="Shape 5"/>
          <p:cNvSpPr/>
          <p:nvPr/>
        </p:nvSpPr>
        <p:spPr>
          <a:xfrm>
            <a:off x="848360" y="6346190"/>
            <a:ext cx="163338" cy="153035"/>
          </a:xfrm>
          <a:prstGeom prst="rect">
            <a:avLst/>
          </a:prstGeom>
          <a:solidFill>
            <a:srgbClr val="004CC0"/>
          </a:solidFill>
        </p:spPr>
      </p:sp>
      <p:sp>
        <p:nvSpPr>
          <p:cNvPr id="9" name="Shape 6"/>
          <p:cNvSpPr/>
          <p:nvPr/>
        </p:nvSpPr>
        <p:spPr>
          <a:xfrm>
            <a:off x="1122291" y="6346190"/>
            <a:ext cx="163338" cy="153035"/>
          </a:xfrm>
          <a:prstGeom prst="rect">
            <a:avLst/>
          </a:prstGeom>
          <a:solidFill>
            <a:srgbClr val="004CC0"/>
          </a:solidFill>
        </p:spPr>
      </p:sp>
      <p:sp>
        <p:nvSpPr>
          <p:cNvPr id="10" name="Shape 7"/>
          <p:cNvSpPr/>
          <p:nvPr/>
        </p:nvSpPr>
        <p:spPr>
          <a:xfrm>
            <a:off x="1396222" y="6346190"/>
            <a:ext cx="163338" cy="153035"/>
          </a:xfrm>
          <a:prstGeom prst="rect">
            <a:avLst/>
          </a:prstGeom>
          <a:solidFill>
            <a:srgbClr val="004CC0"/>
          </a:solidFill>
        </p:spPr>
      </p:sp>
      <p:sp>
        <p:nvSpPr>
          <p:cNvPr id="11" name="Text 8"/>
          <p:cNvSpPr/>
          <p:nvPr/>
        </p:nvSpPr>
        <p:spPr>
          <a:xfrm>
            <a:off x="582930" y="211455"/>
            <a:ext cx="10151745" cy="5867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122"/>
                <a:ea typeface="MiSans" pitchFamily="34" charset="-122"/>
                <a:cs typeface="MiSans" pitchFamily="34" charset="-120"/>
              </a:rPr>
              <a:t>测试结果分析与核心结论</a:t>
            </a:r>
            <a:endParaRPr lang="en-US" sz="1600" dirty="0"/>
          </a:p>
        </p:txBody>
      </p:sp>
      <p:sp>
        <p:nvSpPr>
          <p:cNvPr id="12" name="Text 9"/>
          <p:cNvSpPr/>
          <p:nvPr>
            <p:custDataLst>
              <p:tags r:id="rId2"/>
            </p:custDataLst>
          </p:nvPr>
        </p:nvSpPr>
        <p:spPr>
          <a:xfrm>
            <a:off x="1280160" y="1374775"/>
            <a:ext cx="4116070" cy="367665"/>
          </a:xfrm>
          <a:prstGeom prst="rect">
            <a:avLst/>
          </a:prstGeom>
          <a:noFill/>
        </p:spPr>
        <p:txBody>
          <a:bodyPr wrap="square" lIns="91440" tIns="45720" rIns="91440" bIns="45720" rtlCol="0" anchor="t">
            <a:spAutoFit/>
          </a:bodyPr>
          <a:lstStyle/>
          <a:p>
            <a:pPr algn="just">
              <a:lnSpc>
                <a:spcPct val="100000"/>
              </a:lnSpc>
            </a:pPr>
            <a:r>
              <a:rPr lang="en-US" sz="1800" dirty="0">
                <a:solidFill>
                  <a:srgbClr val="1D3EBF"/>
                </a:solidFill>
                <a:latin typeface="MiSans" pitchFamily="34" charset="-122"/>
                <a:ea typeface="MiSans" pitchFamily="34" charset="-122"/>
                <a:cs typeface="MiSans" pitchFamily="34" charset="-120"/>
              </a:rPr>
              <a:t>功能测试通过</a:t>
            </a:r>
            <a:endParaRPr lang="en-US" sz="1600" dirty="0"/>
          </a:p>
        </p:txBody>
      </p:sp>
      <p:sp>
        <p:nvSpPr>
          <p:cNvPr id="13" name="Text 10"/>
          <p:cNvSpPr/>
          <p:nvPr>
            <p:custDataLst>
              <p:tags r:id="rId3"/>
            </p:custDataLst>
          </p:nvPr>
        </p:nvSpPr>
        <p:spPr>
          <a:xfrm>
            <a:off x="1280160" y="1776730"/>
            <a:ext cx="4115270" cy="671671"/>
          </a:xfrm>
          <a:prstGeom prst="rect">
            <a:avLst/>
          </a:prstGeom>
          <a:noFill/>
        </p:spPr>
        <p:txBody>
          <a:bodyPr wrap="square" lIns="91440" tIns="45720" rIns="91440" bIns="45720" rtlCol="0" anchor="t">
            <a:spAutoFit/>
          </a:bodyPr>
          <a:lstStyle/>
          <a:p>
            <a:pPr algn="just">
              <a:lnSpc>
                <a:spcPct val="130000"/>
              </a:lnSpc>
            </a:pPr>
            <a:r>
              <a:rPr lang="en-US" sz="1400" dirty="0">
                <a:solidFill>
                  <a:srgbClr val="000000"/>
                </a:solidFill>
                <a:latin typeface="MiSans" pitchFamily="34" charset="-122"/>
                <a:ea typeface="MiSans" pitchFamily="34" charset="-122"/>
                <a:cs typeface="MiSans" pitchFamily="34" charset="-120"/>
              </a:rPr>
              <a:t>需求输入、结果生成、任务筛选、依赖图展示等前端功能正常。</a:t>
            </a:r>
            <a:endParaRPr lang="en-US" sz="1600" dirty="0"/>
          </a:p>
        </p:txBody>
      </p:sp>
      <p:sp>
        <p:nvSpPr>
          <p:cNvPr id="14" name="Text 11"/>
          <p:cNvSpPr/>
          <p:nvPr>
            <p:custDataLst>
              <p:tags r:id="rId4"/>
            </p:custDataLst>
          </p:nvPr>
        </p:nvSpPr>
        <p:spPr>
          <a:xfrm>
            <a:off x="1280160" y="3952875"/>
            <a:ext cx="4116070" cy="367665"/>
          </a:xfrm>
          <a:prstGeom prst="rect">
            <a:avLst/>
          </a:prstGeom>
          <a:noFill/>
        </p:spPr>
        <p:txBody>
          <a:bodyPr wrap="square" lIns="91440" tIns="45720" rIns="91440" bIns="45720" rtlCol="0" anchor="t">
            <a:spAutoFit/>
          </a:bodyPr>
          <a:lstStyle/>
          <a:p>
            <a:pPr algn="just">
              <a:lnSpc>
                <a:spcPct val="100000"/>
              </a:lnSpc>
            </a:pPr>
            <a:r>
              <a:rPr lang="en-US" sz="1800" dirty="0">
                <a:solidFill>
                  <a:srgbClr val="1D3EBF"/>
                </a:solidFill>
                <a:latin typeface="MiSans" pitchFamily="34" charset="-122"/>
                <a:ea typeface="MiSans" pitchFamily="34" charset="-122"/>
                <a:cs typeface="MiSans" pitchFamily="34" charset="-120"/>
              </a:rPr>
              <a:t>异常处理完备</a:t>
            </a:r>
            <a:endParaRPr lang="en-US" sz="1600" dirty="0"/>
          </a:p>
        </p:txBody>
      </p:sp>
      <p:sp>
        <p:nvSpPr>
          <p:cNvPr id="15" name="Text 12"/>
          <p:cNvSpPr/>
          <p:nvPr>
            <p:custDataLst>
              <p:tags r:id="rId5"/>
            </p:custDataLst>
          </p:nvPr>
        </p:nvSpPr>
        <p:spPr>
          <a:xfrm>
            <a:off x="1280160" y="4354830"/>
            <a:ext cx="4115270" cy="671671"/>
          </a:xfrm>
          <a:prstGeom prst="rect">
            <a:avLst/>
          </a:prstGeom>
          <a:noFill/>
        </p:spPr>
        <p:txBody>
          <a:bodyPr wrap="square" lIns="91440" tIns="45720" rIns="91440" bIns="45720" rtlCol="0" anchor="t">
            <a:spAutoFit/>
          </a:bodyPr>
          <a:lstStyle/>
          <a:p>
            <a:pPr algn="just">
              <a:lnSpc>
                <a:spcPct val="130000"/>
              </a:lnSpc>
            </a:pPr>
            <a:r>
              <a:rPr lang="en-US" sz="1400" dirty="0">
                <a:solidFill>
                  <a:srgbClr val="000000"/>
                </a:solidFill>
                <a:latin typeface="MiSans" pitchFamily="34" charset="-122"/>
                <a:ea typeface="MiSans" pitchFamily="34" charset="-122"/>
                <a:cs typeface="MiSans" pitchFamily="34" charset="-120"/>
              </a:rPr>
              <a:t>覆盖空需求、API Key未配置、非法JSON、未知模块四种异常场景。</a:t>
            </a:r>
            <a:endParaRPr lang="en-US" sz="1600" dirty="0"/>
          </a:p>
        </p:txBody>
      </p:sp>
      <p:sp>
        <p:nvSpPr>
          <p:cNvPr id="16" name="Text 13"/>
          <p:cNvSpPr/>
          <p:nvPr>
            <p:custDataLst>
              <p:tags r:id="rId6"/>
            </p:custDataLst>
          </p:nvPr>
        </p:nvSpPr>
        <p:spPr>
          <a:xfrm>
            <a:off x="6804660" y="1374775"/>
            <a:ext cx="4116070" cy="367665"/>
          </a:xfrm>
          <a:prstGeom prst="rect">
            <a:avLst/>
          </a:prstGeom>
          <a:noFill/>
        </p:spPr>
        <p:txBody>
          <a:bodyPr wrap="square" lIns="91440" tIns="45720" rIns="91440" bIns="45720" rtlCol="0" anchor="t">
            <a:spAutoFit/>
          </a:bodyPr>
          <a:lstStyle/>
          <a:p>
            <a:pPr algn="r">
              <a:lnSpc>
                <a:spcPct val="100000"/>
              </a:lnSpc>
            </a:pPr>
            <a:r>
              <a:rPr lang="en-US" sz="1800" dirty="0">
                <a:solidFill>
                  <a:srgbClr val="1D3EBF"/>
                </a:solidFill>
                <a:latin typeface="MiSans" pitchFamily="34" charset="-122"/>
                <a:ea typeface="MiSans" pitchFamily="34" charset="-122"/>
                <a:cs typeface="MiSans" pitchFamily="34" charset="-120"/>
              </a:rPr>
              <a:t>性能表现稳定</a:t>
            </a:r>
            <a:endParaRPr lang="en-US" sz="1600" dirty="0"/>
          </a:p>
        </p:txBody>
      </p:sp>
      <p:sp>
        <p:nvSpPr>
          <p:cNvPr id="17" name="Text 14"/>
          <p:cNvSpPr/>
          <p:nvPr>
            <p:custDataLst>
              <p:tags r:id="rId7"/>
            </p:custDataLst>
          </p:nvPr>
        </p:nvSpPr>
        <p:spPr>
          <a:xfrm>
            <a:off x="6804660" y="1776730"/>
            <a:ext cx="4115270" cy="650240"/>
          </a:xfrm>
          <a:prstGeom prst="rect">
            <a:avLst/>
          </a:prstGeom>
          <a:noFill/>
        </p:spPr>
        <p:txBody>
          <a:bodyPr wrap="square" lIns="91440" tIns="45720" rIns="91440" bIns="45720" rtlCol="0" anchor="t">
            <a:spAutoFit/>
          </a:bodyPr>
          <a:lstStyle/>
          <a:p>
            <a:pPr algn="r">
              <a:lnSpc>
                <a:spcPct val="130000"/>
              </a:lnSpc>
            </a:pPr>
            <a:r>
              <a:rPr lang="en-US" sz="1400" dirty="0">
                <a:solidFill>
                  <a:srgbClr val="000000"/>
                </a:solidFill>
                <a:latin typeface="MiSans" pitchFamily="34" charset="-122"/>
                <a:ea typeface="MiSans" pitchFamily="34" charset="-122"/>
                <a:cs typeface="MiSans" pitchFamily="34" charset="-120"/>
              </a:rPr>
              <a:t>单条需求5-10秒，批量10条</a:t>
            </a:r>
            <a:r>
              <a:rPr lang="zh-CN" altLang="en-US" sz="1400" dirty="0">
                <a:solidFill>
                  <a:srgbClr val="000000"/>
                </a:solidFill>
                <a:latin typeface="MiSans" pitchFamily="34" charset="-122"/>
                <a:ea typeface="MiSans" pitchFamily="34" charset="-122"/>
                <a:cs typeface="MiSans" pitchFamily="34" charset="-120"/>
              </a:rPr>
              <a:t>约</a:t>
            </a:r>
            <a:r>
              <a:rPr lang="en-US" sz="1400" dirty="0">
                <a:solidFill>
                  <a:srgbClr val="000000"/>
                </a:solidFill>
                <a:latin typeface="MiSans" pitchFamily="34" charset="-122"/>
                <a:ea typeface="MiSans" pitchFamily="34" charset="-122"/>
                <a:cs typeface="MiSans" pitchFamily="34" charset="-120"/>
              </a:rPr>
              <a:t>60秒，成功率均达100%。</a:t>
            </a:r>
            <a:endParaRPr lang="en-US" sz="1600" dirty="0"/>
          </a:p>
        </p:txBody>
      </p:sp>
      <p:sp>
        <p:nvSpPr>
          <p:cNvPr id="18" name="Text 15"/>
          <p:cNvSpPr/>
          <p:nvPr>
            <p:custDataLst>
              <p:tags r:id="rId8"/>
            </p:custDataLst>
          </p:nvPr>
        </p:nvSpPr>
        <p:spPr>
          <a:xfrm>
            <a:off x="6804660" y="3952875"/>
            <a:ext cx="4116070" cy="368300"/>
          </a:xfrm>
          <a:prstGeom prst="rect">
            <a:avLst/>
          </a:prstGeom>
          <a:noFill/>
        </p:spPr>
        <p:txBody>
          <a:bodyPr wrap="square" lIns="91440" tIns="45720" rIns="91440" bIns="45720" rtlCol="0" anchor="t">
            <a:spAutoFit/>
          </a:bodyPr>
          <a:lstStyle/>
          <a:p>
            <a:pPr algn="r">
              <a:lnSpc>
                <a:spcPct val="100000"/>
              </a:lnSpc>
            </a:pPr>
            <a:r>
              <a:rPr lang="zh-CN" altLang="en-US" sz="1800" dirty="0">
                <a:solidFill>
                  <a:srgbClr val="1D3EBF"/>
                </a:solidFill>
                <a:latin typeface="MiSans" pitchFamily="34" charset="-122"/>
                <a:ea typeface="MiSans" pitchFamily="34" charset="-122"/>
                <a:cs typeface="MiSans" pitchFamily="34" charset="-120"/>
              </a:rPr>
              <a:t>实验评估</a:t>
            </a:r>
            <a:r>
              <a:rPr lang="zh-CN" altLang="en-US" sz="1800" dirty="0">
                <a:solidFill>
                  <a:srgbClr val="1D3EBF"/>
                </a:solidFill>
                <a:latin typeface="MiSans" pitchFamily="34" charset="-122"/>
                <a:ea typeface="MiSans" pitchFamily="34" charset="-122"/>
                <a:cs typeface="MiSans" pitchFamily="34" charset="-120"/>
              </a:rPr>
              <a:t>得分</a:t>
            </a:r>
            <a:endParaRPr lang="zh-CN" altLang="en-US" sz="1800" dirty="0">
              <a:solidFill>
                <a:srgbClr val="1D3EBF"/>
              </a:solidFill>
              <a:latin typeface="MiSans" pitchFamily="34" charset="-122"/>
              <a:ea typeface="MiSans" pitchFamily="34" charset="-122"/>
              <a:cs typeface="MiSans" pitchFamily="34" charset="-120"/>
            </a:endParaRPr>
          </a:p>
        </p:txBody>
      </p:sp>
      <p:sp>
        <p:nvSpPr>
          <p:cNvPr id="19" name="Text 16"/>
          <p:cNvSpPr/>
          <p:nvPr>
            <p:custDataLst>
              <p:tags r:id="rId9"/>
            </p:custDataLst>
          </p:nvPr>
        </p:nvSpPr>
        <p:spPr>
          <a:xfrm>
            <a:off x="6804660" y="4354830"/>
            <a:ext cx="4115270" cy="650240"/>
          </a:xfrm>
          <a:prstGeom prst="rect">
            <a:avLst/>
          </a:prstGeom>
          <a:noFill/>
        </p:spPr>
        <p:txBody>
          <a:bodyPr wrap="square" lIns="91440" tIns="45720" rIns="91440" bIns="45720" rtlCol="0" anchor="t">
            <a:spAutoFit/>
          </a:bodyPr>
          <a:lstStyle/>
          <a:p>
            <a:pPr algn="r">
              <a:lnSpc>
                <a:spcPct val="130000"/>
              </a:lnSpc>
            </a:pPr>
            <a:r>
              <a:rPr lang="zh-CN" altLang="en-US" sz="1400" dirty="0">
                <a:solidFill>
                  <a:srgbClr val="000000"/>
                </a:solidFill>
                <a:latin typeface="MiSans" pitchFamily="34" charset="-122"/>
                <a:ea typeface="MiSans" pitchFamily="34" charset="-122"/>
                <a:cs typeface="MiSans" pitchFamily="34" charset="-120"/>
              </a:rPr>
              <a:t>对</a:t>
            </a:r>
            <a:r>
              <a:rPr lang="zh-CN" altLang="en-US" sz="1400" dirty="0">
                <a:solidFill>
                  <a:srgbClr val="000000"/>
                </a:solidFill>
                <a:latin typeface="MiSans" pitchFamily="34" charset="-122"/>
                <a:ea typeface="MiSans" pitchFamily="34" charset="-122"/>
                <a:cs typeface="MiSans" pitchFamily="34" charset="-120"/>
                <a:sym typeface="+mn-ea"/>
              </a:rPr>
              <a:t>完整性、</a:t>
            </a:r>
            <a:r>
              <a:rPr lang="zh-CN" altLang="en-US" sz="1400" dirty="0">
                <a:solidFill>
                  <a:srgbClr val="000000"/>
                </a:solidFill>
                <a:latin typeface="MiSans" pitchFamily="34" charset="-122"/>
                <a:ea typeface="MiSans" pitchFamily="34" charset="-122"/>
                <a:cs typeface="MiSans" pitchFamily="34" charset="-120"/>
              </a:rPr>
              <a:t>用户故事质量、任务拆解质量、依赖关系质量</a:t>
            </a:r>
            <a:r>
              <a:rPr lang="zh-CN" altLang="en-US" sz="1400" dirty="0">
                <a:solidFill>
                  <a:srgbClr val="000000"/>
                </a:solidFill>
                <a:latin typeface="MiSans" pitchFamily="34" charset="-122"/>
                <a:ea typeface="MiSans" pitchFamily="34" charset="-122"/>
                <a:cs typeface="MiSans" pitchFamily="34" charset="-120"/>
              </a:rPr>
              <a:t>评估</a:t>
            </a:r>
            <a:r>
              <a:rPr lang="en-US" sz="1400" dirty="0">
                <a:solidFill>
                  <a:srgbClr val="000000"/>
                </a:solidFill>
                <a:latin typeface="MiSans" pitchFamily="34" charset="-122"/>
                <a:ea typeface="MiSans" pitchFamily="34" charset="-122"/>
                <a:cs typeface="MiSans" pitchFamily="34" charset="-120"/>
              </a:rPr>
              <a:t>。</a:t>
            </a:r>
            <a:endParaRPr lang="en-US" sz="1600" dirty="0"/>
          </a:p>
        </p:txBody>
      </p:sp>
      <p:pic>
        <p:nvPicPr>
          <p:cNvPr id="7" name="图片 6"/>
          <p:cNvPicPr>
            <a:picLocks noChangeAspect="1"/>
          </p:cNvPicPr>
          <p:nvPr/>
        </p:nvPicPr>
        <p:blipFill>
          <a:blip r:embed="rId10"/>
          <a:stretch>
            <a:fillRect/>
          </a:stretch>
        </p:blipFill>
        <p:spPr>
          <a:xfrm>
            <a:off x="6188710" y="2553335"/>
            <a:ext cx="4850765" cy="990600"/>
          </a:xfrm>
          <a:prstGeom prst="rect">
            <a:avLst/>
          </a:prstGeom>
        </p:spPr>
      </p:pic>
      <p:pic>
        <p:nvPicPr>
          <p:cNvPr id="20" name="图片 19"/>
          <p:cNvPicPr>
            <a:picLocks noChangeAspect="1"/>
          </p:cNvPicPr>
          <p:nvPr/>
        </p:nvPicPr>
        <p:blipFill>
          <a:blip r:embed="rId11"/>
          <a:stretch>
            <a:fillRect/>
          </a:stretch>
        </p:blipFill>
        <p:spPr>
          <a:xfrm>
            <a:off x="6188710" y="4759325"/>
            <a:ext cx="3420745" cy="1250315"/>
          </a:xfrm>
          <a:prstGeom prst="rect">
            <a:avLst/>
          </a:prstGeom>
        </p:spPr>
      </p:pic>
      <p:pic>
        <p:nvPicPr>
          <p:cNvPr id="21" name="图片 20"/>
          <p:cNvPicPr>
            <a:picLocks noChangeAspect="1"/>
          </p:cNvPicPr>
          <p:nvPr/>
        </p:nvPicPr>
        <p:blipFill>
          <a:blip r:embed="rId12"/>
          <a:srcRect t="16380"/>
          <a:stretch>
            <a:fillRect/>
          </a:stretch>
        </p:blipFill>
        <p:spPr>
          <a:xfrm>
            <a:off x="1285875" y="2482850"/>
            <a:ext cx="4597400" cy="1017905"/>
          </a:xfrm>
          <a:prstGeom prst="rect">
            <a:avLst/>
          </a:prstGeom>
        </p:spPr>
      </p:pic>
      <p:pic>
        <p:nvPicPr>
          <p:cNvPr id="22" name="图片 21"/>
          <p:cNvPicPr>
            <a:picLocks noChangeAspect="1"/>
          </p:cNvPicPr>
          <p:nvPr/>
        </p:nvPicPr>
        <p:blipFill>
          <a:blip r:embed="rId13"/>
          <a:srcRect t="17900" r="251"/>
          <a:stretch>
            <a:fillRect/>
          </a:stretch>
        </p:blipFill>
        <p:spPr>
          <a:xfrm>
            <a:off x="1280160" y="5003165"/>
            <a:ext cx="4614545" cy="10242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pic>
        <p:nvPicPr>
          <p:cNvPr id="5" name="Image 0" descr="https://kimi-img.moonshot.cn/pub/slides/slides_tmpl/image/25-09-04-15:50:51-d2sk9mu1bb2p4onbqecg.jpg"/>
          <p:cNvPicPr>
            <a:picLocks noChangeAspect="1"/>
          </p:cNvPicPr>
          <p:nvPr/>
        </p:nvPicPr>
        <p:blipFill>
          <a:blip r:embed="rId1"/>
          <a:stretch>
            <a:fillRect/>
          </a:stretch>
        </p:blipFill>
        <p:spPr>
          <a:xfrm>
            <a:off x="0" y="0"/>
            <a:ext cx="12203430" cy="6842760"/>
          </a:xfrm>
          <a:prstGeom prst="rect">
            <a:avLst/>
          </a:prstGeom>
        </p:spPr>
      </p:pic>
      <p:sp>
        <p:nvSpPr>
          <p:cNvPr id="6" name="Shape 3"/>
          <p:cNvSpPr/>
          <p:nvPr/>
        </p:nvSpPr>
        <p:spPr>
          <a:xfrm>
            <a:off x="-27940" y="-8890"/>
            <a:ext cx="12247880" cy="6875780"/>
          </a:xfrm>
          <a:prstGeom prst="rect">
            <a:avLst/>
          </a:prstGeom>
          <a:solidFill>
            <a:srgbClr val="1D3EBF">
              <a:alpha val="94902"/>
            </a:srgbClr>
          </a:solidFill>
        </p:spPr>
      </p:sp>
      <p:sp>
        <p:nvSpPr>
          <p:cNvPr id="7" name="Text 4"/>
          <p:cNvSpPr/>
          <p:nvPr/>
        </p:nvSpPr>
        <p:spPr>
          <a:xfrm>
            <a:off x="4060825" y="2246630"/>
            <a:ext cx="6873875" cy="1012190"/>
          </a:xfrm>
          <a:prstGeom prst="rect">
            <a:avLst/>
          </a:prstGeom>
          <a:noFill/>
        </p:spPr>
        <p:txBody>
          <a:bodyPr wrap="square" lIns="91440" tIns="45720" rIns="91440" bIns="45720" rtlCol="0" anchor="t">
            <a:spAutoFit/>
          </a:bodyPr>
          <a:lstStyle/>
          <a:p>
            <a:pPr>
              <a:lnSpc>
                <a:spcPct val="100000"/>
              </a:lnSpc>
            </a:pPr>
            <a:r>
              <a:rPr lang="en-US" sz="6000" dirty="0">
                <a:solidFill>
                  <a:srgbClr val="FFFFFF"/>
                </a:solidFill>
                <a:latin typeface="MiSans" pitchFamily="34" charset="-122"/>
                <a:ea typeface="MiSans" pitchFamily="34" charset="-122"/>
                <a:cs typeface="MiSans" pitchFamily="34" charset="-120"/>
              </a:rPr>
              <a:t>总结与展望</a:t>
            </a:r>
            <a:endParaRPr lang="en-US" sz="1600" dirty="0"/>
          </a:p>
        </p:txBody>
      </p:sp>
      <p:sp>
        <p:nvSpPr>
          <p:cNvPr id="8" name="Shape 5"/>
          <p:cNvSpPr/>
          <p:nvPr/>
        </p:nvSpPr>
        <p:spPr>
          <a:xfrm>
            <a:off x="3870960" y="2246630"/>
            <a:ext cx="0" cy="1938020"/>
          </a:xfrm>
          <a:prstGeom prst="line">
            <a:avLst/>
          </a:prstGeom>
          <a:noFill/>
          <a:ln w="19050">
            <a:solidFill>
              <a:srgbClr val="FFFFFF"/>
            </a:solidFill>
            <a:prstDash val="solid"/>
            <a:headEnd type="none"/>
            <a:tailEnd type="none"/>
          </a:ln>
        </p:spPr>
      </p:sp>
      <p:sp>
        <p:nvSpPr>
          <p:cNvPr id="9" name="Text 6"/>
          <p:cNvSpPr/>
          <p:nvPr/>
        </p:nvSpPr>
        <p:spPr>
          <a:xfrm>
            <a:off x="941705" y="2068830"/>
            <a:ext cx="2804160" cy="2221865"/>
          </a:xfrm>
          <a:prstGeom prst="rect">
            <a:avLst/>
          </a:prstGeom>
          <a:noFill/>
        </p:spPr>
        <p:txBody>
          <a:bodyPr wrap="square" lIns="91440" tIns="45720" rIns="91440" bIns="45720" rtlCol="0" anchor="t">
            <a:spAutoFit/>
          </a:bodyPr>
          <a:lstStyle/>
          <a:p>
            <a:pPr algn="r">
              <a:lnSpc>
                <a:spcPct val="100000"/>
              </a:lnSpc>
            </a:pPr>
            <a:r>
              <a:rPr lang="en-US" sz="13800" dirty="0">
                <a:solidFill>
                  <a:srgbClr val="FFFFFF"/>
                </a:solidFill>
                <a:latin typeface="MiSans" pitchFamily="34" charset="-122"/>
                <a:ea typeface="MiSans" pitchFamily="34" charset="-122"/>
                <a:cs typeface="MiSans" pitchFamily="34" charset="-120"/>
              </a:rPr>
              <a:t>06</a:t>
            </a:r>
            <a:endParaRPr lang="en-US" sz="1600" dirty="0"/>
          </a:p>
        </p:txBody>
      </p:sp>
      <p:sp>
        <p:nvSpPr>
          <p:cNvPr id="10" name="Shape 7"/>
          <p:cNvSpPr/>
          <p:nvPr/>
        </p:nvSpPr>
        <p:spPr>
          <a:xfrm rot="2100000">
            <a:off x="9042400" y="3636645"/>
            <a:ext cx="3905250" cy="3905250"/>
          </a:xfrm>
          <a:custGeom>
            <a:avLst/>
            <a:gdLst/>
            <a:ahLst/>
            <a:cxnLst/>
            <a:rect l="l" t="t" r="r" b="b"/>
            <a:pathLst>
              <a:path w="3905250" h="3905250">
                <a:moveTo>
                  <a:pt x="1430788" y="3837117"/>
                </a:moveTo>
                <a:cubicBezTo>
                  <a:pt x="1430788" y="3837117"/>
                  <a:pt x="1430788" y="3837117"/>
                  <a:pt x="2474458" y="3837117"/>
                </a:cubicBezTo>
                <a:cubicBezTo>
                  <a:pt x="2310071" y="3882540"/>
                  <a:pt x="2134213" y="3905250"/>
                  <a:pt x="1950712" y="3905250"/>
                </a:cubicBezTo>
                <a:cubicBezTo>
                  <a:pt x="1771033" y="3905250"/>
                  <a:pt x="1595175" y="3882540"/>
                  <a:pt x="1430788" y="3837117"/>
                </a:cubicBezTo>
                <a:close/>
                <a:moveTo>
                  <a:pt x="972440" y="3642011"/>
                </a:moveTo>
                <a:lnTo>
                  <a:pt x="2929711" y="3642011"/>
                </a:lnTo>
                <a:cubicBezTo>
                  <a:pt x="2849588" y="3687305"/>
                  <a:pt x="2769465" y="3728823"/>
                  <a:pt x="2681713" y="3762792"/>
                </a:cubicBezTo>
                <a:cubicBezTo>
                  <a:pt x="2681713" y="3762792"/>
                  <a:pt x="2681713" y="3762792"/>
                  <a:pt x="1216621" y="3762792"/>
                </a:cubicBezTo>
                <a:cubicBezTo>
                  <a:pt x="1132685" y="3728823"/>
                  <a:pt x="1048746" y="3687305"/>
                  <a:pt x="972440" y="3642011"/>
                </a:cubicBezTo>
                <a:close/>
                <a:moveTo>
                  <a:pt x="696812" y="3450000"/>
                </a:moveTo>
                <a:lnTo>
                  <a:pt x="3205340" y="3450000"/>
                </a:lnTo>
                <a:cubicBezTo>
                  <a:pt x="3151885" y="3491759"/>
                  <a:pt x="3098432" y="3529723"/>
                  <a:pt x="3044977" y="3567684"/>
                </a:cubicBezTo>
                <a:cubicBezTo>
                  <a:pt x="3044977" y="3567684"/>
                  <a:pt x="3044977" y="3567684"/>
                  <a:pt x="857175" y="3567684"/>
                </a:cubicBezTo>
                <a:cubicBezTo>
                  <a:pt x="799902" y="3529723"/>
                  <a:pt x="746447" y="3491759"/>
                  <a:pt x="696812" y="3450000"/>
                </a:cubicBezTo>
                <a:close/>
                <a:moveTo>
                  <a:pt x="498608" y="3254891"/>
                </a:moveTo>
                <a:lnTo>
                  <a:pt x="3403544" y="3254891"/>
                </a:lnTo>
                <a:cubicBezTo>
                  <a:pt x="3365373" y="3297474"/>
                  <a:pt x="3327199" y="3340057"/>
                  <a:pt x="3285209" y="3378769"/>
                </a:cubicBezTo>
                <a:cubicBezTo>
                  <a:pt x="3285209" y="3378769"/>
                  <a:pt x="3285209" y="3378769"/>
                  <a:pt x="616943" y="3378769"/>
                </a:cubicBezTo>
                <a:cubicBezTo>
                  <a:pt x="574953" y="3340057"/>
                  <a:pt x="532964" y="3297474"/>
                  <a:pt x="498608" y="3254891"/>
                </a:cubicBezTo>
                <a:close/>
                <a:moveTo>
                  <a:pt x="346856" y="3065979"/>
                </a:moveTo>
                <a:lnTo>
                  <a:pt x="3558390" y="3065979"/>
                </a:lnTo>
                <a:cubicBezTo>
                  <a:pt x="3527840" y="3107736"/>
                  <a:pt x="3501110" y="3145699"/>
                  <a:pt x="3466742" y="3183663"/>
                </a:cubicBezTo>
                <a:cubicBezTo>
                  <a:pt x="3466742" y="3183663"/>
                  <a:pt x="3466742" y="3183663"/>
                  <a:pt x="434687" y="3183663"/>
                </a:cubicBezTo>
                <a:cubicBezTo>
                  <a:pt x="404137" y="3145699"/>
                  <a:pt x="373587" y="3107736"/>
                  <a:pt x="346856" y="3065979"/>
                </a:cubicBezTo>
                <a:close/>
                <a:moveTo>
                  <a:pt x="229172" y="2870870"/>
                </a:moveTo>
                <a:lnTo>
                  <a:pt x="3676074" y="2870870"/>
                </a:lnTo>
                <a:cubicBezTo>
                  <a:pt x="3653171" y="2912388"/>
                  <a:pt x="3630268" y="2953907"/>
                  <a:pt x="3603548" y="2991652"/>
                </a:cubicBezTo>
                <a:cubicBezTo>
                  <a:pt x="3603548" y="2991652"/>
                  <a:pt x="3603548" y="2991652"/>
                  <a:pt x="297881" y="2991652"/>
                </a:cubicBezTo>
                <a:cubicBezTo>
                  <a:pt x="274978" y="2953907"/>
                  <a:pt x="252075" y="2912388"/>
                  <a:pt x="229172" y="2870870"/>
                </a:cubicBezTo>
                <a:close/>
                <a:moveTo>
                  <a:pt x="136264" y="2678859"/>
                </a:moveTo>
                <a:lnTo>
                  <a:pt x="3762788" y="2678859"/>
                </a:lnTo>
                <a:cubicBezTo>
                  <a:pt x="3747519" y="2716821"/>
                  <a:pt x="3728432" y="2758580"/>
                  <a:pt x="3709345" y="2796543"/>
                </a:cubicBezTo>
                <a:cubicBezTo>
                  <a:pt x="3709345" y="2796543"/>
                  <a:pt x="3709345" y="2796543"/>
                  <a:pt x="189707" y="2796543"/>
                </a:cubicBezTo>
                <a:cubicBezTo>
                  <a:pt x="170620" y="2758580"/>
                  <a:pt x="155351" y="2716821"/>
                  <a:pt x="136264" y="2678859"/>
                </a:cubicBezTo>
                <a:close/>
                <a:moveTo>
                  <a:pt x="71229" y="2483753"/>
                </a:moveTo>
                <a:lnTo>
                  <a:pt x="3830923" y="2483753"/>
                </a:lnTo>
                <a:cubicBezTo>
                  <a:pt x="3819472" y="2526335"/>
                  <a:pt x="3804205" y="2568918"/>
                  <a:pt x="3788937" y="2607631"/>
                </a:cubicBezTo>
                <a:cubicBezTo>
                  <a:pt x="3788937" y="2607631"/>
                  <a:pt x="3788937" y="2607631"/>
                  <a:pt x="109399" y="2607631"/>
                </a:cubicBezTo>
                <a:cubicBezTo>
                  <a:pt x="94130" y="2568918"/>
                  <a:pt x="82680" y="2526335"/>
                  <a:pt x="71229" y="2483753"/>
                </a:cubicBezTo>
                <a:close/>
                <a:moveTo>
                  <a:pt x="24774" y="2294838"/>
                </a:moveTo>
                <a:lnTo>
                  <a:pt x="3874279" y="2294838"/>
                </a:lnTo>
                <a:cubicBezTo>
                  <a:pt x="3866641" y="2332799"/>
                  <a:pt x="3859004" y="2374559"/>
                  <a:pt x="3851364" y="2412522"/>
                </a:cubicBezTo>
                <a:cubicBezTo>
                  <a:pt x="3851364" y="2412522"/>
                  <a:pt x="3851364" y="2412522"/>
                  <a:pt x="51506" y="2412522"/>
                </a:cubicBezTo>
                <a:cubicBezTo>
                  <a:pt x="43868" y="2374559"/>
                  <a:pt x="32411" y="2332799"/>
                  <a:pt x="24774" y="2294838"/>
                </a:cubicBezTo>
                <a:close/>
                <a:moveTo>
                  <a:pt x="3096" y="2099731"/>
                </a:moveTo>
                <a:lnTo>
                  <a:pt x="3902152" y="2099731"/>
                </a:lnTo>
                <a:cubicBezTo>
                  <a:pt x="3898334" y="2141249"/>
                  <a:pt x="3894515" y="2182769"/>
                  <a:pt x="3886877" y="2220513"/>
                </a:cubicBezTo>
                <a:cubicBezTo>
                  <a:pt x="3886877" y="2220513"/>
                  <a:pt x="3886877" y="2220513"/>
                  <a:pt x="18371" y="2220513"/>
                </a:cubicBezTo>
                <a:cubicBezTo>
                  <a:pt x="10733" y="2182769"/>
                  <a:pt x="6916" y="2141249"/>
                  <a:pt x="3096" y="2099731"/>
                </a:cubicBezTo>
                <a:close/>
                <a:moveTo>
                  <a:pt x="0" y="1907721"/>
                </a:moveTo>
                <a:cubicBezTo>
                  <a:pt x="0" y="1907721"/>
                  <a:pt x="0" y="1907721"/>
                  <a:pt x="3905250" y="1907721"/>
                </a:cubicBezTo>
                <a:cubicBezTo>
                  <a:pt x="3905250" y="1923204"/>
                  <a:pt x="3905250" y="1934818"/>
                  <a:pt x="3905250" y="1950304"/>
                </a:cubicBezTo>
                <a:cubicBezTo>
                  <a:pt x="3905250" y="1977403"/>
                  <a:pt x="3905250" y="2004500"/>
                  <a:pt x="3905250" y="2031599"/>
                </a:cubicBezTo>
                <a:cubicBezTo>
                  <a:pt x="3905250" y="2031599"/>
                  <a:pt x="3905250" y="2031599"/>
                  <a:pt x="0" y="2031599"/>
                </a:cubicBezTo>
                <a:cubicBezTo>
                  <a:pt x="0" y="2004500"/>
                  <a:pt x="0" y="1977403"/>
                  <a:pt x="0" y="1950304"/>
                </a:cubicBezTo>
                <a:cubicBezTo>
                  <a:pt x="0" y="1934818"/>
                  <a:pt x="0" y="1923204"/>
                  <a:pt x="0" y="1907721"/>
                </a:cubicBezTo>
                <a:close/>
                <a:moveTo>
                  <a:pt x="10733" y="1712612"/>
                </a:moveTo>
                <a:lnTo>
                  <a:pt x="3890695" y="1712612"/>
                </a:lnTo>
                <a:cubicBezTo>
                  <a:pt x="3898334" y="1755195"/>
                  <a:pt x="3898334" y="1793907"/>
                  <a:pt x="3902152" y="1836490"/>
                </a:cubicBezTo>
                <a:cubicBezTo>
                  <a:pt x="3902152" y="1836490"/>
                  <a:pt x="3902152" y="1836490"/>
                  <a:pt x="3096" y="1836490"/>
                </a:cubicBezTo>
                <a:cubicBezTo>
                  <a:pt x="3096" y="1793907"/>
                  <a:pt x="6916" y="1755195"/>
                  <a:pt x="10733" y="1712612"/>
                </a:cubicBezTo>
                <a:close/>
                <a:moveTo>
                  <a:pt x="44578" y="1523699"/>
                </a:moveTo>
                <a:lnTo>
                  <a:pt x="3857574" y="1523699"/>
                </a:lnTo>
                <a:cubicBezTo>
                  <a:pt x="3865207" y="1561444"/>
                  <a:pt x="3872841" y="1602962"/>
                  <a:pt x="3880474" y="1644481"/>
                </a:cubicBezTo>
                <a:cubicBezTo>
                  <a:pt x="3880474" y="1644481"/>
                  <a:pt x="3880474" y="1644481"/>
                  <a:pt x="21678" y="1644481"/>
                </a:cubicBezTo>
                <a:cubicBezTo>
                  <a:pt x="29311" y="1602962"/>
                  <a:pt x="36945" y="1561444"/>
                  <a:pt x="44578" y="1523699"/>
                </a:cubicBezTo>
                <a:close/>
                <a:moveTo>
                  <a:pt x="99389" y="1328591"/>
                </a:moveTo>
                <a:lnTo>
                  <a:pt x="3805859" y="1328591"/>
                </a:lnTo>
                <a:cubicBezTo>
                  <a:pt x="3817310" y="1370108"/>
                  <a:pt x="3828762" y="1407853"/>
                  <a:pt x="3840213" y="1449373"/>
                </a:cubicBezTo>
                <a:cubicBezTo>
                  <a:pt x="3840213" y="1449373"/>
                  <a:pt x="3840213" y="1449373"/>
                  <a:pt x="65035" y="1449373"/>
                </a:cubicBezTo>
                <a:cubicBezTo>
                  <a:pt x="72669" y="1407853"/>
                  <a:pt x="87938" y="1370108"/>
                  <a:pt x="99389" y="1328591"/>
                </a:cubicBezTo>
                <a:close/>
                <a:moveTo>
                  <a:pt x="173517" y="1136580"/>
                </a:moveTo>
                <a:lnTo>
                  <a:pt x="3724814" y="1136580"/>
                </a:lnTo>
                <a:cubicBezTo>
                  <a:pt x="3743906" y="1175293"/>
                  <a:pt x="3762999" y="1217875"/>
                  <a:pt x="3778274" y="1260458"/>
                </a:cubicBezTo>
                <a:cubicBezTo>
                  <a:pt x="3778274" y="1260458"/>
                  <a:pt x="3778274" y="1260458"/>
                  <a:pt x="123876" y="1260458"/>
                </a:cubicBezTo>
                <a:cubicBezTo>
                  <a:pt x="139151" y="1217875"/>
                  <a:pt x="154424" y="1175293"/>
                  <a:pt x="173517" y="1136580"/>
                </a:cubicBezTo>
                <a:close/>
                <a:moveTo>
                  <a:pt x="279293" y="941474"/>
                </a:moveTo>
                <a:lnTo>
                  <a:pt x="3626673" y="941474"/>
                </a:lnTo>
                <a:cubicBezTo>
                  <a:pt x="3649574" y="984056"/>
                  <a:pt x="3672475" y="1022769"/>
                  <a:pt x="3691560" y="1065351"/>
                </a:cubicBezTo>
                <a:cubicBezTo>
                  <a:pt x="3691560" y="1065351"/>
                  <a:pt x="3691560" y="1065351"/>
                  <a:pt x="210590" y="1065351"/>
                </a:cubicBezTo>
                <a:cubicBezTo>
                  <a:pt x="233491" y="1022769"/>
                  <a:pt x="256392" y="984056"/>
                  <a:pt x="279293" y="941474"/>
                </a:cubicBezTo>
                <a:close/>
                <a:moveTo>
                  <a:pt x="412943" y="752559"/>
                </a:moveTo>
                <a:lnTo>
                  <a:pt x="3492305" y="752559"/>
                </a:lnTo>
                <a:cubicBezTo>
                  <a:pt x="3522832" y="790304"/>
                  <a:pt x="3553359" y="831821"/>
                  <a:pt x="3580070" y="873341"/>
                </a:cubicBezTo>
                <a:cubicBezTo>
                  <a:pt x="3580070" y="873341"/>
                  <a:pt x="3580070" y="873341"/>
                  <a:pt x="325179" y="873341"/>
                </a:cubicBezTo>
                <a:cubicBezTo>
                  <a:pt x="351889" y="831821"/>
                  <a:pt x="382416" y="790304"/>
                  <a:pt x="412943" y="752559"/>
                </a:cubicBezTo>
                <a:close/>
                <a:moveTo>
                  <a:pt x="582189" y="560548"/>
                </a:moveTo>
                <a:cubicBezTo>
                  <a:pt x="582189" y="560548"/>
                  <a:pt x="582189" y="560548"/>
                  <a:pt x="3319963" y="560548"/>
                </a:cubicBezTo>
                <a:cubicBezTo>
                  <a:pt x="3358147" y="598509"/>
                  <a:pt x="3396330" y="636473"/>
                  <a:pt x="3434514" y="678232"/>
                </a:cubicBezTo>
                <a:cubicBezTo>
                  <a:pt x="3434514" y="678232"/>
                  <a:pt x="3434514" y="678232"/>
                  <a:pt x="467638" y="678232"/>
                </a:cubicBezTo>
                <a:cubicBezTo>
                  <a:pt x="502004" y="636473"/>
                  <a:pt x="540188" y="598509"/>
                  <a:pt x="582189" y="560548"/>
                </a:cubicBezTo>
                <a:close/>
                <a:moveTo>
                  <a:pt x="808618" y="365442"/>
                </a:moveTo>
                <a:lnTo>
                  <a:pt x="3092810" y="365442"/>
                </a:lnTo>
                <a:cubicBezTo>
                  <a:pt x="3146286" y="404154"/>
                  <a:pt x="3195943" y="446737"/>
                  <a:pt x="3245599" y="489319"/>
                </a:cubicBezTo>
                <a:cubicBezTo>
                  <a:pt x="3245599" y="489319"/>
                  <a:pt x="3245599" y="489319"/>
                  <a:pt x="659649" y="489319"/>
                </a:cubicBezTo>
                <a:cubicBezTo>
                  <a:pt x="705486" y="446737"/>
                  <a:pt x="758962" y="404154"/>
                  <a:pt x="808618" y="365442"/>
                </a:cubicBezTo>
                <a:close/>
                <a:moveTo>
                  <a:pt x="1141891" y="176527"/>
                </a:moveTo>
                <a:lnTo>
                  <a:pt x="2760259" y="176527"/>
                </a:lnTo>
                <a:cubicBezTo>
                  <a:pt x="2840413" y="210692"/>
                  <a:pt x="2912935" y="248655"/>
                  <a:pt x="2985456" y="294211"/>
                </a:cubicBezTo>
                <a:cubicBezTo>
                  <a:pt x="2985456" y="294211"/>
                  <a:pt x="2985456" y="294211"/>
                  <a:pt x="916695" y="294211"/>
                </a:cubicBezTo>
                <a:cubicBezTo>
                  <a:pt x="989215" y="248655"/>
                  <a:pt x="1065553" y="210692"/>
                  <a:pt x="1141891" y="176527"/>
                </a:cubicBezTo>
                <a:close/>
                <a:moveTo>
                  <a:pt x="1949526" y="0"/>
                </a:moveTo>
                <a:cubicBezTo>
                  <a:pt x="2171061" y="0"/>
                  <a:pt x="2381136" y="34067"/>
                  <a:pt x="2579754" y="102200"/>
                </a:cubicBezTo>
                <a:cubicBezTo>
                  <a:pt x="2579754" y="102200"/>
                  <a:pt x="2579754" y="102200"/>
                  <a:pt x="1319298" y="102200"/>
                </a:cubicBezTo>
                <a:cubicBezTo>
                  <a:pt x="1517916" y="34067"/>
                  <a:pt x="1731811" y="0"/>
                  <a:pt x="1949526" y="0"/>
                </a:cubicBezTo>
                <a:close/>
              </a:path>
            </a:pathLst>
          </a:cu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11" name="Shape 8"/>
          <p:cNvSpPr/>
          <p:nvPr/>
        </p:nvSpPr>
        <p:spPr>
          <a:xfrm rot="16680000">
            <a:off x="-121920" y="-71120"/>
            <a:ext cx="2160270" cy="1989455"/>
          </a:xfrm>
          <a:custGeom>
            <a:avLst/>
            <a:gdLst/>
            <a:ahLst/>
            <a:cxnLst/>
            <a:rect l="l" t="t" r="r" b="b"/>
            <a:pathLst>
              <a:path w="2160270" h="1989455">
                <a:moveTo>
                  <a:pt x="0" y="404000"/>
                </a:moveTo>
                <a:cubicBezTo>
                  <a:pt x="-4270" y="299551"/>
                  <a:pt x="25291" y="106748"/>
                  <a:pt x="30218" y="95252"/>
                </a:cubicBezTo>
                <a:lnTo>
                  <a:pt x="672683" y="0"/>
                </a:lnTo>
                <a:cubicBezTo>
                  <a:pt x="623742" y="90325"/>
                  <a:pt x="580057" y="311376"/>
                  <a:pt x="587283" y="404000"/>
                </a:cubicBezTo>
                <a:cubicBezTo>
                  <a:pt x="570204" y="964345"/>
                  <a:pt x="1083255" y="1415972"/>
                  <a:pt x="1585468" y="1402177"/>
                </a:cubicBezTo>
                <a:cubicBezTo>
                  <a:pt x="1754953" y="1415643"/>
                  <a:pt x="2006223" y="1319406"/>
                  <a:pt x="2070272" y="1276707"/>
                </a:cubicBezTo>
                <a:lnTo>
                  <a:pt x="2160270" y="1882050"/>
                </a:lnTo>
                <a:cubicBezTo>
                  <a:pt x="2022974" y="1946756"/>
                  <a:pt x="1709297" y="1997995"/>
                  <a:pt x="1585468" y="1989455"/>
                </a:cubicBezTo>
                <a:cubicBezTo>
                  <a:pt x="695675" y="2016717"/>
                  <a:pt x="-21678" y="1202147"/>
                  <a:pt x="0" y="404000"/>
                </a:cubicBezTo>
                <a:close/>
              </a:path>
            </a:pathLst>
          </a:custGeom>
          <a:gradFill flip="none" rotWithShape="1">
            <a:gsLst>
              <a:gs pos="0">
                <a:srgbClr val="00B0F0">
                  <a:alpha val="34000"/>
                </a:srgbClr>
              </a:gs>
              <a:gs pos="76000">
                <a:srgbClr val="00B0F0">
                  <a:alpha val="0"/>
                </a:srgbClr>
              </a:gs>
              <a:gs pos="100000">
                <a:srgbClr val="00B0F0">
                  <a:alpha val="0"/>
                </a:srgbClr>
              </a:gs>
            </a:gsLst>
            <a:lin ang="16200000" scaled="1"/>
          </a:gradFill>
        </p:spPr>
      </p:sp>
      <p:sp>
        <p:nvSpPr>
          <p:cNvPr id="12" name="Shape 9"/>
          <p:cNvSpPr/>
          <p:nvPr/>
        </p:nvSpPr>
        <p:spPr>
          <a:xfrm rot="17460000">
            <a:off x="10614660" y="325120"/>
            <a:ext cx="1136650" cy="1136650"/>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13" name="Shape 10"/>
          <p:cNvSpPr/>
          <p:nvPr/>
        </p:nvSpPr>
        <p:spPr>
          <a:xfrm rot="17460000" flipH="1" flipV="1">
            <a:off x="811530" y="5401945"/>
            <a:ext cx="3069590" cy="3069590"/>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sp>
        <p:nvSpPr>
          <p:cNvPr id="5" name="Shape 3"/>
          <p:cNvSpPr/>
          <p:nvPr>
            <p:custDataLst>
              <p:tags r:id="rId1"/>
            </p:custDataLst>
          </p:nvPr>
        </p:nvSpPr>
        <p:spPr>
          <a:xfrm flipH="1">
            <a:off x="6104271" y="1668780"/>
            <a:ext cx="6087733" cy="4074160"/>
          </a:xfrm>
          <a:prstGeom prst="round1Rect">
            <a:avLst>
              <a:gd name="adj" fmla="val 16667"/>
            </a:avLst>
          </a:prstGeom>
          <a:solidFill>
            <a:srgbClr val="004CC0"/>
          </a:solidFill>
          <a:ln w="19050">
            <a:solidFill>
              <a:srgbClr val="004CC0"/>
            </a:solidFill>
            <a:prstDash val="solid"/>
          </a:ln>
        </p:spPr>
      </p:sp>
      <p:sp>
        <p:nvSpPr>
          <p:cNvPr id="6" name="Shape 4"/>
          <p:cNvSpPr/>
          <p:nvPr>
            <p:custDataLst>
              <p:tags r:id="rId2"/>
            </p:custDataLst>
          </p:nvPr>
        </p:nvSpPr>
        <p:spPr>
          <a:xfrm>
            <a:off x="12700" y="1668780"/>
            <a:ext cx="6087733" cy="4074160"/>
          </a:xfrm>
          <a:prstGeom prst="round1Rect">
            <a:avLst>
              <a:gd name="adj" fmla="val 16667"/>
            </a:avLst>
          </a:prstGeom>
          <a:solidFill>
            <a:srgbClr val="004CC0"/>
          </a:solidFill>
          <a:ln w="19050">
            <a:solidFill>
              <a:srgbClr val="004CC0"/>
            </a:solidFill>
            <a:prstDash val="solid"/>
          </a:ln>
        </p:spPr>
      </p:sp>
      <p:sp>
        <p:nvSpPr>
          <p:cNvPr id="7" name="Shape 5"/>
          <p:cNvSpPr/>
          <p:nvPr>
            <p:custDataLst>
              <p:tags r:id="rId3"/>
            </p:custDataLst>
          </p:nvPr>
        </p:nvSpPr>
        <p:spPr>
          <a:xfrm>
            <a:off x="710565" y="2973070"/>
            <a:ext cx="4860000" cy="101600"/>
          </a:xfrm>
          <a:prstGeom prst="roundRect">
            <a:avLst>
              <a:gd name="adj" fmla="val 50000"/>
            </a:avLst>
          </a:prstGeom>
          <a:gradFill flip="none" rotWithShape="1">
            <a:gsLst>
              <a:gs pos="0">
                <a:srgbClr val="FFFFFF"/>
              </a:gs>
              <a:gs pos="2000">
                <a:srgbClr val="FFFFFF"/>
              </a:gs>
              <a:gs pos="100000">
                <a:srgbClr val="FFFFFF">
                  <a:alpha val="0"/>
                </a:srgbClr>
              </a:gs>
            </a:gsLst>
            <a:lin ang="0" scaled="1"/>
          </a:gradFill>
        </p:spPr>
      </p:sp>
      <p:sp>
        <p:nvSpPr>
          <p:cNvPr id="8" name="Shape 6"/>
          <p:cNvSpPr/>
          <p:nvPr>
            <p:custDataLst>
              <p:tags r:id="rId4"/>
            </p:custDataLst>
          </p:nvPr>
        </p:nvSpPr>
        <p:spPr>
          <a:xfrm flipH="1">
            <a:off x="6806565" y="2973070"/>
            <a:ext cx="4860000" cy="101600"/>
          </a:xfrm>
          <a:prstGeom prst="roundRect">
            <a:avLst>
              <a:gd name="adj" fmla="val 50000"/>
            </a:avLst>
          </a:prstGeom>
          <a:gradFill flip="none" rotWithShape="1">
            <a:gsLst>
              <a:gs pos="0">
                <a:srgbClr val="FFFFFF"/>
              </a:gs>
              <a:gs pos="2000">
                <a:srgbClr val="FFFFFF"/>
              </a:gs>
              <a:gs pos="100000">
                <a:srgbClr val="FFFFFF">
                  <a:alpha val="0"/>
                </a:srgbClr>
              </a:gs>
            </a:gsLst>
            <a:lin ang="0" scaled="1"/>
          </a:gradFill>
        </p:spPr>
      </p:sp>
      <p:sp>
        <p:nvSpPr>
          <p:cNvPr id="9" name="Shape 7"/>
          <p:cNvSpPr/>
          <p:nvPr/>
        </p:nvSpPr>
        <p:spPr>
          <a:xfrm>
            <a:off x="848360" y="6346190"/>
            <a:ext cx="163338" cy="153035"/>
          </a:xfrm>
          <a:prstGeom prst="rect">
            <a:avLst/>
          </a:prstGeom>
          <a:solidFill>
            <a:srgbClr val="004CC0"/>
          </a:solidFill>
        </p:spPr>
      </p:sp>
      <p:sp>
        <p:nvSpPr>
          <p:cNvPr id="10" name="Shape 8"/>
          <p:cNvSpPr/>
          <p:nvPr/>
        </p:nvSpPr>
        <p:spPr>
          <a:xfrm>
            <a:off x="1122291" y="6346190"/>
            <a:ext cx="163338" cy="153035"/>
          </a:xfrm>
          <a:prstGeom prst="rect">
            <a:avLst/>
          </a:prstGeom>
          <a:solidFill>
            <a:srgbClr val="004CC0"/>
          </a:solidFill>
        </p:spPr>
      </p:sp>
      <p:sp>
        <p:nvSpPr>
          <p:cNvPr id="11" name="Shape 9"/>
          <p:cNvSpPr/>
          <p:nvPr/>
        </p:nvSpPr>
        <p:spPr>
          <a:xfrm>
            <a:off x="1396222" y="6346190"/>
            <a:ext cx="163338" cy="153035"/>
          </a:xfrm>
          <a:prstGeom prst="rect">
            <a:avLst/>
          </a:prstGeom>
          <a:solidFill>
            <a:srgbClr val="004CC0"/>
          </a:solidFill>
        </p:spPr>
      </p:sp>
      <p:sp>
        <p:nvSpPr>
          <p:cNvPr id="12" name="Text 10"/>
          <p:cNvSpPr/>
          <p:nvPr/>
        </p:nvSpPr>
        <p:spPr>
          <a:xfrm>
            <a:off x="582930" y="211455"/>
            <a:ext cx="10151745" cy="5867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122"/>
                <a:ea typeface="MiSans" pitchFamily="34" charset="-122"/>
                <a:cs typeface="MiSans" pitchFamily="34" charset="-120"/>
              </a:rPr>
              <a:t>研究成果贡献与未来优化方向</a:t>
            </a:r>
            <a:endParaRPr lang="en-US" sz="1600" dirty="0"/>
          </a:p>
        </p:txBody>
      </p:sp>
      <p:sp>
        <p:nvSpPr>
          <p:cNvPr id="13" name="Text 11"/>
          <p:cNvSpPr/>
          <p:nvPr>
            <p:custDataLst>
              <p:tags r:id="rId5"/>
            </p:custDataLst>
          </p:nvPr>
        </p:nvSpPr>
        <p:spPr>
          <a:xfrm>
            <a:off x="611505" y="2108835"/>
            <a:ext cx="4860925" cy="459740"/>
          </a:xfrm>
          <a:prstGeom prst="rect">
            <a:avLst/>
          </a:prstGeom>
          <a:noFill/>
        </p:spPr>
        <p:txBody>
          <a:bodyPr wrap="square" lIns="91440" tIns="45720" rIns="91440" bIns="45720" rtlCol="0" anchor="t">
            <a:spAutoFit/>
          </a:bodyPr>
          <a:lstStyle/>
          <a:p>
            <a:pPr algn="just">
              <a:lnSpc>
                <a:spcPct val="100000"/>
              </a:lnSpc>
            </a:pPr>
            <a:r>
              <a:rPr lang="en-US" sz="2400" dirty="0">
                <a:solidFill>
                  <a:srgbClr val="FFFFFF"/>
                </a:solidFill>
                <a:latin typeface="MiSans" pitchFamily="34" charset="-122"/>
                <a:ea typeface="MiSans" pitchFamily="34" charset="-122"/>
                <a:cs typeface="MiSans" pitchFamily="34" charset="-120"/>
              </a:rPr>
              <a:t>核心贡献</a:t>
            </a:r>
            <a:endParaRPr lang="en-US" sz="1600" dirty="0"/>
          </a:p>
        </p:txBody>
      </p:sp>
      <p:sp>
        <p:nvSpPr>
          <p:cNvPr id="14" name="Text 12"/>
          <p:cNvSpPr/>
          <p:nvPr>
            <p:custDataLst>
              <p:tags r:id="rId6"/>
            </p:custDataLst>
          </p:nvPr>
        </p:nvSpPr>
        <p:spPr>
          <a:xfrm>
            <a:off x="611505" y="3158490"/>
            <a:ext cx="4860290" cy="2230993"/>
          </a:xfrm>
          <a:prstGeom prst="rect">
            <a:avLst/>
          </a:prstGeom>
          <a:noFill/>
        </p:spPr>
        <p:txBody>
          <a:bodyPr wrap="square" lIns="91440" tIns="45720" rIns="91440" bIns="45720" rtlCol="0" anchor="t">
            <a:spAutoFit/>
          </a:bodyPr>
          <a:lstStyle/>
          <a:p>
            <a:pPr algn="just">
              <a:lnSpc>
                <a:spcPct val="130000"/>
              </a:lnSpc>
            </a:pPr>
            <a:r>
              <a:rPr lang="en-US" sz="1800" dirty="0">
                <a:solidFill>
                  <a:srgbClr val="FFFFFF"/>
                </a:solidFill>
                <a:latin typeface="MiSans" pitchFamily="34" charset="-122"/>
                <a:ea typeface="MiSans" pitchFamily="34" charset="-122"/>
                <a:cs typeface="MiSans" pitchFamily="34" charset="-120"/>
              </a:rPr>
              <a:t>实现从自然语言需求到结构化用户故事再到可执行任务链的端到端自动化，通过知识增强将LLM语义生成能力与领域规则约束相结合，弥补纯模型幻觉缺陷，形成完整智能化需求工程流程，为敏捷开发提供高效可靠的自动化手段。</a:t>
            </a:r>
            <a:endParaRPr lang="en-US" sz="1600" dirty="0"/>
          </a:p>
        </p:txBody>
      </p:sp>
      <p:sp>
        <p:nvSpPr>
          <p:cNvPr id="15" name="Text 13"/>
          <p:cNvSpPr/>
          <p:nvPr>
            <p:custDataLst>
              <p:tags r:id="rId7"/>
            </p:custDataLst>
          </p:nvPr>
        </p:nvSpPr>
        <p:spPr>
          <a:xfrm>
            <a:off x="6707505" y="2032635"/>
            <a:ext cx="4860925" cy="459740"/>
          </a:xfrm>
          <a:prstGeom prst="rect">
            <a:avLst/>
          </a:prstGeom>
          <a:noFill/>
        </p:spPr>
        <p:txBody>
          <a:bodyPr wrap="square" lIns="91440" tIns="45720" rIns="91440" bIns="45720" rtlCol="0" anchor="t">
            <a:spAutoFit/>
          </a:bodyPr>
          <a:lstStyle/>
          <a:p>
            <a:pPr algn="r">
              <a:lnSpc>
                <a:spcPct val="100000"/>
              </a:lnSpc>
            </a:pPr>
            <a:r>
              <a:rPr lang="en-US" sz="2400" dirty="0">
                <a:solidFill>
                  <a:srgbClr val="FFFFFF"/>
                </a:solidFill>
                <a:latin typeface="MiSans" pitchFamily="34" charset="-122"/>
                <a:ea typeface="MiSans" pitchFamily="34" charset="-122"/>
                <a:cs typeface="MiSans" pitchFamily="34" charset="-120"/>
              </a:rPr>
              <a:t>未来方向</a:t>
            </a:r>
            <a:endParaRPr lang="en-US" sz="1600" dirty="0"/>
          </a:p>
        </p:txBody>
      </p:sp>
      <p:sp>
        <p:nvSpPr>
          <p:cNvPr id="16" name="Text 14"/>
          <p:cNvSpPr/>
          <p:nvPr>
            <p:custDataLst>
              <p:tags r:id="rId8"/>
            </p:custDataLst>
          </p:nvPr>
        </p:nvSpPr>
        <p:spPr>
          <a:xfrm>
            <a:off x="6707505" y="3158490"/>
            <a:ext cx="4860290" cy="1874401"/>
          </a:xfrm>
          <a:prstGeom prst="rect">
            <a:avLst/>
          </a:prstGeom>
          <a:noFill/>
        </p:spPr>
        <p:txBody>
          <a:bodyPr wrap="square" lIns="91440" tIns="45720" rIns="91440" bIns="45720" rtlCol="0" anchor="t">
            <a:spAutoFit/>
          </a:bodyPr>
          <a:lstStyle/>
          <a:p>
            <a:pPr algn="r">
              <a:lnSpc>
                <a:spcPct val="130000"/>
              </a:lnSpc>
            </a:pPr>
            <a:r>
              <a:rPr lang="en-US" sz="1800" dirty="0">
                <a:solidFill>
                  <a:srgbClr val="FFFFFF"/>
                </a:solidFill>
                <a:latin typeface="MiSans" pitchFamily="34" charset="-122"/>
                <a:ea typeface="MiSans" pitchFamily="34" charset="-122"/>
                <a:cs typeface="MiSans" pitchFamily="34" charset="-120"/>
              </a:rPr>
              <a:t>扩大知识库规模与深度，引入动态更新和跨领域迁移学习；利用强化学习和人类偏好对齐保持多轮推理一致性；增强人机协作闭环，让用户自然语言修改自动反馈至知识库，形成持续进化能力。</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p:spPr>
      </p:sp>
      <p:sp>
        <p:nvSpPr>
          <p:cNvPr id="3" name="Shape 1"/>
          <p:cNvSpPr/>
          <p:nvPr/>
        </p:nvSpPr>
        <p:spPr>
          <a:xfrm>
            <a:off x="0" y="872490"/>
            <a:ext cx="12189611" cy="0"/>
          </a:xfrm>
          <a:prstGeom prst="line">
            <a:avLst/>
          </a:prstGeom>
          <a:noFill/>
          <a:ln w="19050">
            <a:solidFill>
              <a:srgbClr val="007FD4"/>
            </a:solidFill>
            <a:prstDash val="solid"/>
            <a:headEnd type="none"/>
            <a:tailEnd type="none"/>
          </a:ln>
        </p:spPr>
      </p:sp>
      <p:sp>
        <p:nvSpPr>
          <p:cNvPr id="4" name="Shape 2"/>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p:spPr>
      </p:sp>
      <p:sp>
        <p:nvSpPr>
          <p:cNvPr id="5" name="Shape 3"/>
          <p:cNvSpPr/>
          <p:nvPr/>
        </p:nvSpPr>
        <p:spPr>
          <a:xfrm>
            <a:off x="0" y="0"/>
            <a:ext cx="12191999" cy="6858000"/>
          </a:xfrm>
          <a:prstGeom prst="rect">
            <a:avLst/>
          </a:prstGeom>
          <a:gradFill flip="none" rotWithShape="1">
            <a:gsLst>
              <a:gs pos="0">
                <a:srgbClr val="00B0F0"/>
              </a:gs>
              <a:gs pos="57000">
                <a:srgbClr val="004CC0"/>
              </a:gs>
              <a:gs pos="100000">
                <a:srgbClr val="1D3EBF"/>
              </a:gs>
            </a:gsLst>
            <a:lin ang="2700000" scaled="1"/>
          </a:gradFill>
        </p:spPr>
      </p:sp>
      <p:pic>
        <p:nvPicPr>
          <p:cNvPr id="6" name="Image 0" descr="https://kimi-img.moonshot.cn/pub/slides/slides_tmpl/image/25-09-04-15:50:55-d2sk9nu1bb2p4onbqemg.png"/>
          <p:cNvPicPr>
            <a:picLocks noChangeAspect="1"/>
          </p:cNvPicPr>
          <p:nvPr/>
        </p:nvPicPr>
        <p:blipFill>
          <a:blip r:embed="rId1"/>
          <a:stretch>
            <a:fillRect/>
          </a:stretch>
        </p:blipFill>
        <p:spPr>
          <a:xfrm>
            <a:off x="5791835" y="1348105"/>
            <a:ext cx="6571615" cy="5681345"/>
          </a:xfrm>
          <a:prstGeom prst="rect">
            <a:avLst/>
          </a:prstGeom>
        </p:spPr>
      </p:pic>
      <p:sp>
        <p:nvSpPr>
          <p:cNvPr id="7" name="Shape 4"/>
          <p:cNvSpPr/>
          <p:nvPr/>
        </p:nvSpPr>
        <p:spPr>
          <a:xfrm>
            <a:off x="1049345" y="756100"/>
            <a:ext cx="237324" cy="0"/>
          </a:xfrm>
          <a:prstGeom prst="line">
            <a:avLst/>
          </a:prstGeom>
          <a:noFill/>
          <a:ln w="31750">
            <a:solidFill>
              <a:srgbClr val="004CC0"/>
            </a:solidFill>
            <a:prstDash val="solid"/>
            <a:headEnd type="none"/>
            <a:tailEnd type="none"/>
          </a:ln>
        </p:spPr>
      </p:sp>
      <p:sp>
        <p:nvSpPr>
          <p:cNvPr id="8" name="Shape 5"/>
          <p:cNvSpPr/>
          <p:nvPr/>
        </p:nvSpPr>
        <p:spPr>
          <a:xfrm>
            <a:off x="1049345" y="821637"/>
            <a:ext cx="237324" cy="0"/>
          </a:xfrm>
          <a:prstGeom prst="line">
            <a:avLst/>
          </a:prstGeom>
          <a:noFill/>
          <a:ln w="31750">
            <a:solidFill>
              <a:srgbClr val="004CC0"/>
            </a:solidFill>
            <a:prstDash val="solid"/>
            <a:headEnd type="none"/>
            <a:tailEnd type="none"/>
          </a:ln>
        </p:spPr>
      </p:sp>
      <p:sp>
        <p:nvSpPr>
          <p:cNvPr id="9" name="Shape 6"/>
          <p:cNvSpPr/>
          <p:nvPr/>
        </p:nvSpPr>
        <p:spPr>
          <a:xfrm>
            <a:off x="1049345" y="887173"/>
            <a:ext cx="237324" cy="0"/>
          </a:xfrm>
          <a:prstGeom prst="line">
            <a:avLst/>
          </a:prstGeom>
          <a:noFill/>
          <a:ln w="31750">
            <a:solidFill>
              <a:srgbClr val="004CC0"/>
            </a:solidFill>
            <a:prstDash val="solid"/>
            <a:headEnd type="none"/>
            <a:tailEnd type="none"/>
          </a:ln>
        </p:spPr>
      </p:sp>
      <p:sp>
        <p:nvSpPr>
          <p:cNvPr id="10" name="Shape 7"/>
          <p:cNvSpPr/>
          <p:nvPr/>
        </p:nvSpPr>
        <p:spPr>
          <a:xfrm>
            <a:off x="1" y="2"/>
            <a:ext cx="1739899" cy="1405430"/>
          </a:xfrm>
          <a:custGeom>
            <a:avLst/>
            <a:gdLst/>
            <a:ahLst/>
            <a:cxnLst/>
            <a:rect l="l" t="t" r="r" b="b"/>
            <a:pathLst>
              <a:path w="1739899" h="1405430">
                <a:moveTo>
                  <a:pt x="1146615" y="0"/>
                </a:moveTo>
                <a:lnTo>
                  <a:pt x="1739899" y="0"/>
                </a:lnTo>
                <a:lnTo>
                  <a:pt x="1724927" y="98105"/>
                </a:lnTo>
                <a:cubicBezTo>
                  <a:pt x="1572255" y="844194"/>
                  <a:pt x="912117" y="1405430"/>
                  <a:pt x="120894" y="1405430"/>
                </a:cubicBezTo>
                <a:lnTo>
                  <a:pt x="0" y="1399326"/>
                </a:lnTo>
                <a:lnTo>
                  <a:pt x="0" y="812861"/>
                </a:lnTo>
                <a:lnTo>
                  <a:pt x="13314" y="814893"/>
                </a:lnTo>
                <a:cubicBezTo>
                  <a:pt x="48685" y="818485"/>
                  <a:pt x="84574" y="820325"/>
                  <a:pt x="120894" y="820325"/>
                </a:cubicBezTo>
                <a:cubicBezTo>
                  <a:pt x="593045" y="820325"/>
                  <a:pt x="992562" y="509337"/>
                  <a:pt x="1125781" y="81022"/>
                </a:cubicBezTo>
                <a:close/>
              </a:path>
            </a:pathLst>
          </a:custGeom>
          <a:gradFill flip="none" rotWithShape="1">
            <a:gsLst>
              <a:gs pos="0">
                <a:srgbClr val="00B0F0">
                  <a:alpha val="0"/>
                </a:srgbClr>
              </a:gs>
              <a:gs pos="100000">
                <a:srgbClr val="00B0F0"/>
              </a:gs>
            </a:gsLst>
            <a:lin ang="2700000" scaled="1"/>
          </a:gradFill>
        </p:spPr>
      </p:sp>
      <p:sp>
        <p:nvSpPr>
          <p:cNvPr id="11" name="Shape 8"/>
          <p:cNvSpPr/>
          <p:nvPr/>
        </p:nvSpPr>
        <p:spPr>
          <a:xfrm rot="2100000">
            <a:off x="4903470" y="142875"/>
            <a:ext cx="1850390" cy="1850390"/>
          </a:xfrm>
          <a:custGeom>
            <a:avLst/>
            <a:gdLst/>
            <a:ahLst/>
            <a:cxnLst/>
            <a:rect l="l" t="t" r="r" b="b"/>
            <a:pathLst>
              <a:path w="1850390" h="1850390">
                <a:moveTo>
                  <a:pt x="677938" y="1818107"/>
                </a:moveTo>
                <a:cubicBezTo>
                  <a:pt x="677938" y="1818107"/>
                  <a:pt x="677938" y="1818107"/>
                  <a:pt x="1172451" y="1818107"/>
                </a:cubicBezTo>
                <a:cubicBezTo>
                  <a:pt x="1094561" y="1839630"/>
                  <a:pt x="1011235" y="1850390"/>
                  <a:pt x="924289" y="1850390"/>
                </a:cubicBezTo>
                <a:cubicBezTo>
                  <a:pt x="839153" y="1850390"/>
                  <a:pt x="755828" y="1839630"/>
                  <a:pt x="677938" y="1818107"/>
                </a:cubicBezTo>
                <a:close/>
                <a:moveTo>
                  <a:pt x="460762" y="1725662"/>
                </a:moveTo>
                <a:lnTo>
                  <a:pt x="1388159" y="1725662"/>
                </a:lnTo>
                <a:cubicBezTo>
                  <a:pt x="1350195" y="1747123"/>
                  <a:pt x="1312231" y="1766795"/>
                  <a:pt x="1270652" y="1782891"/>
                </a:cubicBezTo>
                <a:cubicBezTo>
                  <a:pt x="1270652" y="1782891"/>
                  <a:pt x="1270652" y="1782891"/>
                  <a:pt x="576461" y="1782891"/>
                </a:cubicBezTo>
                <a:cubicBezTo>
                  <a:pt x="536690" y="1766795"/>
                  <a:pt x="496918" y="1747123"/>
                  <a:pt x="460762" y="1725662"/>
                </a:cubicBezTo>
                <a:close/>
                <a:moveTo>
                  <a:pt x="330164" y="1634683"/>
                </a:moveTo>
                <a:lnTo>
                  <a:pt x="1518758" y="1634683"/>
                </a:lnTo>
                <a:cubicBezTo>
                  <a:pt x="1493430" y="1654469"/>
                  <a:pt x="1468103" y="1672457"/>
                  <a:pt x="1442775" y="1690444"/>
                </a:cubicBezTo>
                <a:cubicBezTo>
                  <a:pt x="1442775" y="1690444"/>
                  <a:pt x="1442775" y="1690444"/>
                  <a:pt x="406147" y="1690444"/>
                </a:cubicBezTo>
                <a:cubicBezTo>
                  <a:pt x="379011" y="1672457"/>
                  <a:pt x="353683" y="1654469"/>
                  <a:pt x="330164" y="1634683"/>
                </a:cubicBezTo>
                <a:close/>
                <a:moveTo>
                  <a:pt x="236251" y="1542236"/>
                </a:moveTo>
                <a:lnTo>
                  <a:pt x="1612671" y="1542236"/>
                </a:lnTo>
                <a:cubicBezTo>
                  <a:pt x="1594585" y="1562413"/>
                  <a:pt x="1576497" y="1582590"/>
                  <a:pt x="1556601" y="1600932"/>
                </a:cubicBezTo>
                <a:cubicBezTo>
                  <a:pt x="1556601" y="1600932"/>
                  <a:pt x="1556601" y="1600932"/>
                  <a:pt x="292321" y="1600932"/>
                </a:cubicBezTo>
                <a:cubicBezTo>
                  <a:pt x="272425" y="1582590"/>
                  <a:pt x="252529" y="1562413"/>
                  <a:pt x="236251" y="1542236"/>
                </a:cubicBezTo>
                <a:close/>
                <a:moveTo>
                  <a:pt x="164348" y="1452725"/>
                </a:moveTo>
                <a:lnTo>
                  <a:pt x="1686040" y="1452725"/>
                </a:lnTo>
                <a:cubicBezTo>
                  <a:pt x="1671565" y="1472511"/>
                  <a:pt x="1658900" y="1490499"/>
                  <a:pt x="1642616" y="1508487"/>
                </a:cubicBezTo>
                <a:cubicBezTo>
                  <a:pt x="1642616" y="1508487"/>
                  <a:pt x="1642616" y="1508487"/>
                  <a:pt x="205964" y="1508487"/>
                </a:cubicBezTo>
                <a:cubicBezTo>
                  <a:pt x="191488" y="1490499"/>
                  <a:pt x="177013" y="1472511"/>
                  <a:pt x="164348" y="1452725"/>
                </a:cubicBezTo>
                <a:close/>
                <a:moveTo>
                  <a:pt x="108587" y="1360279"/>
                </a:moveTo>
                <a:lnTo>
                  <a:pt x="1741802" y="1360279"/>
                </a:lnTo>
                <a:cubicBezTo>
                  <a:pt x="1730950" y="1379951"/>
                  <a:pt x="1720098" y="1399624"/>
                  <a:pt x="1707437" y="1417508"/>
                </a:cubicBezTo>
                <a:cubicBezTo>
                  <a:pt x="1707437" y="1417508"/>
                  <a:pt x="1707437" y="1417508"/>
                  <a:pt x="141142" y="1417508"/>
                </a:cubicBezTo>
                <a:cubicBezTo>
                  <a:pt x="130290" y="1399624"/>
                  <a:pt x="119438" y="1379951"/>
                  <a:pt x="108587" y="1360279"/>
                </a:cubicBezTo>
                <a:close/>
                <a:moveTo>
                  <a:pt x="64565" y="1269300"/>
                </a:moveTo>
                <a:lnTo>
                  <a:pt x="1782889" y="1269300"/>
                </a:lnTo>
                <a:cubicBezTo>
                  <a:pt x="1775654" y="1287287"/>
                  <a:pt x="1766610" y="1307074"/>
                  <a:pt x="1757566" y="1325061"/>
                </a:cubicBezTo>
                <a:cubicBezTo>
                  <a:pt x="1757566" y="1325061"/>
                  <a:pt x="1757566" y="1325061"/>
                  <a:pt x="89887" y="1325061"/>
                </a:cubicBezTo>
                <a:cubicBezTo>
                  <a:pt x="80843" y="1307074"/>
                  <a:pt x="73608" y="1287287"/>
                  <a:pt x="64565" y="1269300"/>
                </a:cubicBezTo>
                <a:close/>
                <a:moveTo>
                  <a:pt x="33750" y="1176855"/>
                </a:moveTo>
                <a:lnTo>
                  <a:pt x="1815172" y="1176855"/>
                </a:lnTo>
                <a:cubicBezTo>
                  <a:pt x="1809747" y="1197031"/>
                  <a:pt x="1802513" y="1217208"/>
                  <a:pt x="1795279" y="1235550"/>
                </a:cubicBezTo>
                <a:cubicBezTo>
                  <a:pt x="1795279" y="1235550"/>
                  <a:pt x="1795279" y="1235550"/>
                  <a:pt x="51835" y="1235550"/>
                </a:cubicBezTo>
                <a:cubicBezTo>
                  <a:pt x="44601" y="1217208"/>
                  <a:pt x="39176" y="1197031"/>
                  <a:pt x="33750" y="1176855"/>
                </a:cubicBezTo>
                <a:close/>
                <a:moveTo>
                  <a:pt x="11738" y="1087343"/>
                </a:moveTo>
                <a:lnTo>
                  <a:pt x="1835715" y="1087343"/>
                </a:lnTo>
                <a:cubicBezTo>
                  <a:pt x="1832096" y="1105330"/>
                  <a:pt x="1828477" y="1125116"/>
                  <a:pt x="1824858" y="1143104"/>
                </a:cubicBezTo>
                <a:cubicBezTo>
                  <a:pt x="1824858" y="1143104"/>
                  <a:pt x="1824858" y="1143104"/>
                  <a:pt x="24405" y="1143104"/>
                </a:cubicBezTo>
                <a:cubicBezTo>
                  <a:pt x="20786" y="1125116"/>
                  <a:pt x="15357" y="1105330"/>
                  <a:pt x="11738" y="1087343"/>
                </a:cubicBezTo>
                <a:close/>
                <a:moveTo>
                  <a:pt x="1467" y="994897"/>
                </a:moveTo>
                <a:lnTo>
                  <a:pt x="1848922" y="994897"/>
                </a:lnTo>
                <a:cubicBezTo>
                  <a:pt x="1847113" y="1014569"/>
                  <a:pt x="1845303" y="1034242"/>
                  <a:pt x="1841685" y="1052126"/>
                </a:cubicBezTo>
                <a:cubicBezTo>
                  <a:pt x="1841685" y="1052126"/>
                  <a:pt x="1841685" y="1052126"/>
                  <a:pt x="8705" y="1052126"/>
                </a:cubicBezTo>
                <a:cubicBezTo>
                  <a:pt x="5086" y="1034242"/>
                  <a:pt x="3277" y="1014569"/>
                  <a:pt x="1467" y="994897"/>
                </a:cubicBezTo>
                <a:close/>
                <a:moveTo>
                  <a:pt x="0" y="903918"/>
                </a:moveTo>
                <a:cubicBezTo>
                  <a:pt x="0" y="903918"/>
                  <a:pt x="0" y="903918"/>
                  <a:pt x="1850390" y="903918"/>
                </a:cubicBezTo>
                <a:cubicBezTo>
                  <a:pt x="1850390" y="911255"/>
                  <a:pt x="1850390" y="916758"/>
                  <a:pt x="1850390" y="924095"/>
                </a:cubicBezTo>
                <a:cubicBezTo>
                  <a:pt x="1850390" y="936935"/>
                  <a:pt x="1850390" y="949774"/>
                  <a:pt x="1850390" y="962614"/>
                </a:cubicBezTo>
                <a:cubicBezTo>
                  <a:pt x="1850390" y="962614"/>
                  <a:pt x="1850390" y="962614"/>
                  <a:pt x="0" y="962614"/>
                </a:cubicBezTo>
                <a:cubicBezTo>
                  <a:pt x="0" y="949774"/>
                  <a:pt x="0" y="936935"/>
                  <a:pt x="0" y="924095"/>
                </a:cubicBezTo>
                <a:cubicBezTo>
                  <a:pt x="0" y="916758"/>
                  <a:pt x="0" y="911255"/>
                  <a:pt x="0" y="903918"/>
                </a:cubicBezTo>
                <a:close/>
                <a:moveTo>
                  <a:pt x="5086" y="811472"/>
                </a:moveTo>
                <a:lnTo>
                  <a:pt x="1843493" y="811472"/>
                </a:lnTo>
                <a:cubicBezTo>
                  <a:pt x="1847113" y="831648"/>
                  <a:pt x="1847113" y="849991"/>
                  <a:pt x="1848922" y="870168"/>
                </a:cubicBezTo>
                <a:cubicBezTo>
                  <a:pt x="1848922" y="870168"/>
                  <a:pt x="1848922" y="870168"/>
                  <a:pt x="1467" y="870168"/>
                </a:cubicBezTo>
                <a:cubicBezTo>
                  <a:pt x="1467" y="849991"/>
                  <a:pt x="3277" y="831648"/>
                  <a:pt x="5086" y="811472"/>
                </a:cubicBezTo>
                <a:close/>
                <a:moveTo>
                  <a:pt x="21122" y="721961"/>
                </a:moveTo>
                <a:lnTo>
                  <a:pt x="1827800" y="721961"/>
                </a:lnTo>
                <a:cubicBezTo>
                  <a:pt x="1831417" y="739845"/>
                  <a:pt x="1835034" y="759517"/>
                  <a:pt x="1838651" y="779190"/>
                </a:cubicBezTo>
                <a:cubicBezTo>
                  <a:pt x="1838651" y="779190"/>
                  <a:pt x="1838651" y="779190"/>
                  <a:pt x="10271" y="779190"/>
                </a:cubicBezTo>
                <a:cubicBezTo>
                  <a:pt x="13888" y="759517"/>
                  <a:pt x="17505" y="739845"/>
                  <a:pt x="21122" y="721961"/>
                </a:cubicBezTo>
                <a:close/>
                <a:moveTo>
                  <a:pt x="47093" y="629514"/>
                </a:moveTo>
                <a:lnTo>
                  <a:pt x="1803296" y="629514"/>
                </a:lnTo>
                <a:cubicBezTo>
                  <a:pt x="1808722" y="649186"/>
                  <a:pt x="1814148" y="667071"/>
                  <a:pt x="1819574" y="686743"/>
                </a:cubicBezTo>
                <a:cubicBezTo>
                  <a:pt x="1819574" y="686743"/>
                  <a:pt x="1819574" y="686743"/>
                  <a:pt x="30815" y="686743"/>
                </a:cubicBezTo>
                <a:cubicBezTo>
                  <a:pt x="34432" y="667071"/>
                  <a:pt x="41667" y="649186"/>
                  <a:pt x="47093" y="629514"/>
                </a:cubicBezTo>
                <a:close/>
                <a:moveTo>
                  <a:pt x="82216" y="538536"/>
                </a:moveTo>
                <a:lnTo>
                  <a:pt x="1764895" y="538536"/>
                </a:lnTo>
                <a:cubicBezTo>
                  <a:pt x="1773942" y="556878"/>
                  <a:pt x="1782989" y="577055"/>
                  <a:pt x="1790226" y="597232"/>
                </a:cubicBezTo>
                <a:cubicBezTo>
                  <a:pt x="1790226" y="597232"/>
                  <a:pt x="1790226" y="597232"/>
                  <a:pt x="58695" y="597232"/>
                </a:cubicBezTo>
                <a:cubicBezTo>
                  <a:pt x="65933" y="577055"/>
                  <a:pt x="73169" y="556878"/>
                  <a:pt x="82216" y="538536"/>
                </a:cubicBezTo>
                <a:close/>
                <a:moveTo>
                  <a:pt x="132335" y="446090"/>
                </a:moveTo>
                <a:lnTo>
                  <a:pt x="1718394" y="446090"/>
                </a:lnTo>
                <a:cubicBezTo>
                  <a:pt x="1729245" y="466267"/>
                  <a:pt x="1740096" y="484609"/>
                  <a:pt x="1749139" y="504786"/>
                </a:cubicBezTo>
                <a:cubicBezTo>
                  <a:pt x="1749139" y="504786"/>
                  <a:pt x="1749139" y="504786"/>
                  <a:pt x="99782" y="504786"/>
                </a:cubicBezTo>
                <a:cubicBezTo>
                  <a:pt x="110633" y="484609"/>
                  <a:pt x="121484" y="466267"/>
                  <a:pt x="132335" y="446090"/>
                </a:cubicBezTo>
                <a:close/>
                <a:moveTo>
                  <a:pt x="195661" y="356578"/>
                </a:moveTo>
                <a:lnTo>
                  <a:pt x="1654728" y="356578"/>
                </a:lnTo>
                <a:cubicBezTo>
                  <a:pt x="1669192" y="374463"/>
                  <a:pt x="1683656" y="394134"/>
                  <a:pt x="1696313" y="413807"/>
                </a:cubicBezTo>
                <a:cubicBezTo>
                  <a:pt x="1696313" y="413807"/>
                  <a:pt x="1696313" y="413807"/>
                  <a:pt x="154076" y="413807"/>
                </a:cubicBezTo>
                <a:cubicBezTo>
                  <a:pt x="166733" y="394134"/>
                  <a:pt x="181197" y="374463"/>
                  <a:pt x="195661" y="356578"/>
                </a:cubicBezTo>
                <a:close/>
                <a:moveTo>
                  <a:pt x="275853" y="265600"/>
                </a:moveTo>
                <a:cubicBezTo>
                  <a:pt x="275853" y="265600"/>
                  <a:pt x="275853" y="265600"/>
                  <a:pt x="1573069" y="265600"/>
                </a:cubicBezTo>
                <a:cubicBezTo>
                  <a:pt x="1591161" y="283586"/>
                  <a:pt x="1609253" y="301574"/>
                  <a:pt x="1627345" y="321361"/>
                </a:cubicBezTo>
                <a:cubicBezTo>
                  <a:pt x="1627345" y="321361"/>
                  <a:pt x="1627345" y="321361"/>
                  <a:pt x="221577" y="321361"/>
                </a:cubicBezTo>
                <a:cubicBezTo>
                  <a:pt x="237860" y="301574"/>
                  <a:pt x="255952" y="283586"/>
                  <a:pt x="275853" y="265600"/>
                </a:cubicBezTo>
                <a:close/>
                <a:moveTo>
                  <a:pt x="383140" y="173154"/>
                </a:moveTo>
                <a:lnTo>
                  <a:pt x="1465439" y="173154"/>
                </a:lnTo>
                <a:cubicBezTo>
                  <a:pt x="1490777" y="191497"/>
                  <a:pt x="1514305" y="211673"/>
                  <a:pt x="1537833" y="231850"/>
                </a:cubicBezTo>
                <a:cubicBezTo>
                  <a:pt x="1537833" y="231850"/>
                  <a:pt x="1537833" y="231850"/>
                  <a:pt x="312556" y="231850"/>
                </a:cubicBezTo>
                <a:cubicBezTo>
                  <a:pt x="334274" y="211673"/>
                  <a:pt x="359612" y="191497"/>
                  <a:pt x="383140" y="173154"/>
                </a:cubicBezTo>
                <a:close/>
                <a:moveTo>
                  <a:pt x="541052" y="83642"/>
                </a:moveTo>
                <a:lnTo>
                  <a:pt x="1307869" y="83642"/>
                </a:lnTo>
                <a:cubicBezTo>
                  <a:pt x="1345848" y="99830"/>
                  <a:pt x="1380210" y="117818"/>
                  <a:pt x="1414572" y="139403"/>
                </a:cubicBezTo>
                <a:cubicBezTo>
                  <a:pt x="1414572" y="139403"/>
                  <a:pt x="1414572" y="139403"/>
                  <a:pt x="434349" y="139403"/>
                </a:cubicBezTo>
                <a:cubicBezTo>
                  <a:pt x="468711" y="117818"/>
                  <a:pt x="504881" y="99830"/>
                  <a:pt x="541052" y="83642"/>
                </a:cubicBezTo>
                <a:close/>
                <a:moveTo>
                  <a:pt x="923727" y="0"/>
                </a:moveTo>
                <a:cubicBezTo>
                  <a:pt x="1028694" y="0"/>
                  <a:pt x="1128233" y="16142"/>
                  <a:pt x="1222342" y="48425"/>
                </a:cubicBezTo>
                <a:cubicBezTo>
                  <a:pt x="1222342" y="48425"/>
                  <a:pt x="1222342" y="48425"/>
                  <a:pt x="625111" y="48425"/>
                </a:cubicBezTo>
                <a:cubicBezTo>
                  <a:pt x="719221" y="16142"/>
                  <a:pt x="820569" y="0"/>
                  <a:pt x="923727" y="0"/>
                </a:cubicBezTo>
                <a:close/>
              </a:path>
            </a:pathLst>
          </a:custGeom>
          <a:gradFill flip="none" rotWithShape="1">
            <a:gsLst>
              <a:gs pos="0">
                <a:srgbClr val="00B0F0">
                  <a:alpha val="34000"/>
                </a:srgbClr>
              </a:gs>
              <a:gs pos="76000">
                <a:srgbClr val="00B0F0">
                  <a:alpha val="3000"/>
                </a:srgbClr>
              </a:gs>
              <a:gs pos="100000">
                <a:srgbClr val="00B0F0">
                  <a:alpha val="3000"/>
                </a:srgbClr>
              </a:gs>
            </a:gsLst>
            <a:lin ang="0" scaled="1"/>
          </a:gradFill>
        </p:spPr>
      </p:sp>
      <p:sp>
        <p:nvSpPr>
          <p:cNvPr id="12" name="Text 9"/>
          <p:cNvSpPr/>
          <p:nvPr/>
        </p:nvSpPr>
        <p:spPr>
          <a:xfrm>
            <a:off x="672465" y="1646555"/>
            <a:ext cx="7708900" cy="1864677"/>
          </a:xfrm>
          <a:prstGeom prst="rect">
            <a:avLst/>
          </a:prstGeom>
          <a:noFill/>
        </p:spPr>
        <p:txBody>
          <a:bodyPr wrap="square" lIns="91440" tIns="45720" rIns="91440" bIns="45720" rtlCol="0" anchor="t">
            <a:spAutoFit/>
          </a:bodyPr>
          <a:lstStyle/>
          <a:p>
            <a:pPr algn="just">
              <a:lnSpc>
                <a:spcPct val="100000"/>
              </a:lnSpc>
            </a:pPr>
            <a:r>
              <a:rPr lang="en-US" sz="11500" b="1" dirty="0">
                <a:gradFill flip="none" rotWithShape="0">
                  <a:gsLst>
                    <a:gs pos="0">
                      <a:srgbClr val="EFF6FF">
                        <a:alpha val="0"/>
                      </a:srgbClr>
                    </a:gs>
                    <a:gs pos="62000">
                      <a:srgbClr val="FFFFFF"/>
                    </a:gs>
                    <a:gs pos="100000">
                      <a:srgbClr val="FFFFFF"/>
                    </a:gs>
                  </a:gsLst>
                  <a:lin ang="16200000" scaled="1"/>
                </a:gradFill>
                <a:latin typeface="MiSans" pitchFamily="34" charset="-122"/>
                <a:ea typeface="MiSans" pitchFamily="34" charset="-122"/>
                <a:cs typeface="MiSans" pitchFamily="34" charset="-120"/>
              </a:rPr>
              <a:t>THANKS</a:t>
            </a:r>
            <a:endParaRPr lang="en-US" sz="1600" dirty="0"/>
          </a:p>
        </p:txBody>
      </p:sp>
      <p:sp>
        <p:nvSpPr>
          <p:cNvPr id="13" name="Shape 10"/>
          <p:cNvSpPr/>
          <p:nvPr/>
        </p:nvSpPr>
        <p:spPr>
          <a:xfrm>
            <a:off x="6295131" y="1899285"/>
            <a:ext cx="5896869" cy="4958715"/>
          </a:xfrm>
          <a:custGeom>
            <a:avLst/>
            <a:gdLst/>
            <a:ahLst/>
            <a:cxnLst/>
            <a:rect l="l" t="t" r="r" b="b"/>
            <a:pathLst>
              <a:path w="5896869" h="4958715">
                <a:moveTo>
                  <a:pt x="3824288" y="0"/>
                </a:moveTo>
                <a:cubicBezTo>
                  <a:pt x="4550321" y="0"/>
                  <a:pt x="5229100" y="202320"/>
                  <a:pt x="5807321" y="553655"/>
                </a:cubicBezTo>
                <a:lnTo>
                  <a:pt x="5896869" y="611064"/>
                </a:lnTo>
                <a:lnTo>
                  <a:pt x="5896869" y="4958715"/>
                </a:lnTo>
                <a:lnTo>
                  <a:pt x="171213" y="4958715"/>
                </a:lnTo>
                <a:lnTo>
                  <a:pt x="77696" y="4595016"/>
                </a:lnTo>
                <a:cubicBezTo>
                  <a:pt x="26753" y="4346064"/>
                  <a:pt x="0" y="4088300"/>
                  <a:pt x="0" y="3824288"/>
                </a:cubicBezTo>
                <a:cubicBezTo>
                  <a:pt x="0" y="1712192"/>
                  <a:pt x="1712192" y="0"/>
                  <a:pt x="3824288" y="0"/>
                </a:cubicBezTo>
                <a:close/>
              </a:path>
            </a:pathLst>
          </a:custGeom>
          <a:gradFill flip="none" rotWithShape="1">
            <a:gsLst>
              <a:gs pos="0">
                <a:srgbClr val="004CC0"/>
              </a:gs>
              <a:gs pos="30000">
                <a:srgbClr val="004CC0"/>
              </a:gs>
              <a:gs pos="79000">
                <a:srgbClr val="0084B4"/>
              </a:gs>
              <a:gs pos="100000">
                <a:srgbClr val="0084B4"/>
              </a:gs>
            </a:gsLst>
            <a:lin ang="4800000" scaled="1"/>
          </a:gradFill>
        </p:spPr>
      </p:sp>
      <p:sp>
        <p:nvSpPr>
          <p:cNvPr id="14" name="Shape 11"/>
          <p:cNvSpPr/>
          <p:nvPr/>
        </p:nvSpPr>
        <p:spPr>
          <a:xfrm>
            <a:off x="10586534" y="732719"/>
            <a:ext cx="127370" cy="127370"/>
          </a:xfrm>
          <a:prstGeom prst="ellipse">
            <a:avLst/>
          </a:prstGeom>
          <a:solidFill>
            <a:srgbClr val="000000">
              <a:alpha val="0"/>
            </a:srgbClr>
          </a:solidFill>
          <a:ln w="9525">
            <a:solidFill>
              <a:srgbClr val="004CC0"/>
            </a:solidFill>
            <a:prstDash val="solid"/>
          </a:ln>
        </p:spPr>
      </p:sp>
      <p:sp>
        <p:nvSpPr>
          <p:cNvPr id="15" name="Shape 12"/>
          <p:cNvSpPr/>
          <p:nvPr/>
        </p:nvSpPr>
        <p:spPr>
          <a:xfrm>
            <a:off x="10824716" y="732719"/>
            <a:ext cx="127370" cy="127370"/>
          </a:xfrm>
          <a:prstGeom prst="ellipse">
            <a:avLst/>
          </a:prstGeom>
          <a:solidFill>
            <a:srgbClr val="004CC0"/>
          </a:solidFill>
          <a:ln w="9525">
            <a:solidFill>
              <a:srgbClr val="004CC0"/>
            </a:solidFill>
            <a:prstDash val="solid"/>
          </a:ln>
        </p:spPr>
      </p:sp>
      <p:sp>
        <p:nvSpPr>
          <p:cNvPr id="16" name="Shape 13"/>
          <p:cNvSpPr/>
          <p:nvPr/>
        </p:nvSpPr>
        <p:spPr>
          <a:xfrm>
            <a:off x="11064171" y="732719"/>
            <a:ext cx="127370" cy="127370"/>
          </a:xfrm>
          <a:prstGeom prst="ellipse">
            <a:avLst/>
          </a:prstGeom>
          <a:solidFill>
            <a:srgbClr val="000000">
              <a:alpha val="0"/>
            </a:srgbClr>
          </a:solidFill>
          <a:ln w="9525">
            <a:solidFill>
              <a:srgbClr val="004CC0"/>
            </a:solidFill>
            <a:prstDash val="solid"/>
          </a:ln>
        </p:spPr>
      </p:sp>
      <p:sp>
        <p:nvSpPr>
          <p:cNvPr id="17" name="Shape 14"/>
          <p:cNvSpPr/>
          <p:nvPr/>
        </p:nvSpPr>
        <p:spPr>
          <a:xfrm>
            <a:off x="11302353" y="732719"/>
            <a:ext cx="127370" cy="127370"/>
          </a:xfrm>
          <a:prstGeom prst="ellipse">
            <a:avLst/>
          </a:prstGeom>
          <a:solidFill>
            <a:srgbClr val="004CC0"/>
          </a:solidFill>
          <a:ln w="9525">
            <a:solidFill>
              <a:srgbClr val="004CC0"/>
            </a:solidFill>
            <a:prstDash val="solid"/>
          </a:ln>
        </p:spPr>
      </p:sp>
      <p:sp>
        <p:nvSpPr>
          <p:cNvPr id="18" name="Text 15"/>
          <p:cNvSpPr/>
          <p:nvPr/>
        </p:nvSpPr>
        <p:spPr>
          <a:xfrm>
            <a:off x="672465" y="3212465"/>
            <a:ext cx="5298440" cy="1012190"/>
          </a:xfrm>
          <a:prstGeom prst="rect">
            <a:avLst/>
          </a:prstGeom>
          <a:noFill/>
        </p:spPr>
        <p:txBody>
          <a:bodyPr wrap="square" lIns="91440" tIns="45720" rIns="91440" bIns="45720" rtlCol="0" anchor="t">
            <a:spAutoFit/>
          </a:bodyPr>
          <a:lstStyle/>
          <a:p>
            <a:pPr>
              <a:lnSpc>
                <a:spcPct val="100000"/>
              </a:lnSpc>
            </a:pPr>
            <a:r>
              <a:rPr lang="en-US" sz="6000" dirty="0">
                <a:solidFill>
                  <a:srgbClr val="FFFFFF"/>
                </a:solidFill>
                <a:latin typeface="MiSans" pitchFamily="34" charset="-122"/>
                <a:ea typeface="MiSans" pitchFamily="34" charset="-122"/>
                <a:cs typeface="MiSans" pitchFamily="34" charset="-120"/>
              </a:rPr>
              <a:t>感谢您的观看</a:t>
            </a:r>
            <a:endParaRPr lang="en-US" sz="1600" dirty="0"/>
          </a:p>
        </p:txBody>
      </p:sp>
      <p:sp>
        <p:nvSpPr>
          <p:cNvPr id="20" name="Shape 16"/>
          <p:cNvSpPr/>
          <p:nvPr/>
        </p:nvSpPr>
        <p:spPr>
          <a:xfrm>
            <a:off x="0" y="5358130"/>
            <a:ext cx="12106275" cy="860425"/>
          </a:xfrm>
          <a:prstGeom prst="rect">
            <a:avLst/>
          </a:prstGeom>
          <a:gradFill flip="none" rotWithShape="1">
            <a:gsLst>
              <a:gs pos="0">
                <a:srgbClr val="FFFFFF">
                  <a:alpha val="50000"/>
                </a:srgbClr>
              </a:gs>
              <a:gs pos="55000">
                <a:srgbClr val="FFFFFF">
                  <a:alpha val="30000"/>
                </a:srgbClr>
              </a:gs>
              <a:gs pos="100000">
                <a:srgbClr val="FFFFFF">
                  <a:alpha val="0"/>
                </a:srgbClr>
              </a:gs>
            </a:gsLst>
            <a:lin ang="0" scaled="1"/>
          </a:gradFill>
        </p:spPr>
      </p:sp>
      <p:sp>
        <p:nvSpPr>
          <p:cNvPr id="21" name="Shape 17"/>
          <p:cNvSpPr/>
          <p:nvPr/>
        </p:nvSpPr>
        <p:spPr>
          <a:xfrm rot="5400000">
            <a:off x="11222990" y="5725160"/>
            <a:ext cx="159385" cy="137795"/>
          </a:xfrm>
          <a:prstGeom prst="triangle">
            <a:avLst>
              <a:gd name="adj" fmla="val 50000"/>
            </a:avLst>
          </a:prstGeom>
          <a:solidFill>
            <a:srgbClr val="00B0F0"/>
          </a:solidFill>
        </p:spPr>
      </p:sp>
      <p:sp>
        <p:nvSpPr>
          <p:cNvPr id="22" name="Shape 18"/>
          <p:cNvSpPr/>
          <p:nvPr/>
        </p:nvSpPr>
        <p:spPr>
          <a:xfrm rot="5400000" flipV="1">
            <a:off x="10981690" y="5725160"/>
            <a:ext cx="159385" cy="137795"/>
          </a:xfrm>
          <a:prstGeom prst="triangle">
            <a:avLst>
              <a:gd name="adj" fmla="val 50000"/>
            </a:avLst>
          </a:prstGeom>
          <a:solidFill>
            <a:srgbClr val="00B0F0"/>
          </a:solidFill>
        </p:spPr>
      </p:sp>
      <p:sp>
        <p:nvSpPr>
          <p:cNvPr id="23" name="Shape 19"/>
          <p:cNvSpPr/>
          <p:nvPr/>
        </p:nvSpPr>
        <p:spPr>
          <a:xfrm>
            <a:off x="1858645" y="5788660"/>
            <a:ext cx="7811770" cy="0"/>
          </a:xfrm>
          <a:prstGeom prst="line">
            <a:avLst/>
          </a:prstGeom>
          <a:noFill/>
          <a:ln w="12700">
            <a:solidFill>
              <a:srgbClr val="004CC0"/>
            </a:solidFill>
            <a:prstDash val="solid"/>
            <a:headEnd type="none"/>
            <a:tailEnd type="none"/>
          </a:ln>
        </p:spPr>
      </p:sp>
      <p:sp>
        <p:nvSpPr>
          <p:cNvPr id="24" name="Shape 20"/>
          <p:cNvSpPr/>
          <p:nvPr/>
        </p:nvSpPr>
        <p:spPr>
          <a:xfrm rot="5400000">
            <a:off x="969010" y="5621655"/>
            <a:ext cx="400050" cy="285750"/>
          </a:xfrm>
          <a:prstGeom prst="triangle">
            <a:avLst>
              <a:gd name="adj" fmla="val 50000"/>
            </a:avLst>
          </a:prstGeom>
          <a:solidFill>
            <a:srgbClr val="004CC0"/>
          </a:solidFill>
        </p:spPr>
      </p:sp>
      <p:sp>
        <p:nvSpPr>
          <p:cNvPr id="25" name="Shape 21"/>
          <p:cNvSpPr/>
          <p:nvPr/>
        </p:nvSpPr>
        <p:spPr>
          <a:xfrm rot="5400000">
            <a:off x="1362710" y="5621655"/>
            <a:ext cx="400050" cy="285750"/>
          </a:xfrm>
          <a:prstGeom prst="triangle">
            <a:avLst>
              <a:gd name="adj" fmla="val 50000"/>
            </a:avLst>
          </a:prstGeom>
          <a:solidFill>
            <a:srgbClr val="004CC0"/>
          </a:solidFill>
        </p:spPr>
      </p:sp>
      <p:sp>
        <p:nvSpPr>
          <p:cNvPr id="26" name="Shape 22"/>
          <p:cNvSpPr/>
          <p:nvPr>
            <p:custDataLst>
              <p:tags r:id="rId2"/>
            </p:custDataLst>
          </p:nvPr>
        </p:nvSpPr>
        <p:spPr>
          <a:xfrm>
            <a:off x="810341" y="4438015"/>
            <a:ext cx="2059142" cy="438785"/>
          </a:xfrm>
          <a:prstGeom prst="roundRect">
            <a:avLst>
              <a:gd name="adj" fmla="val 50000"/>
            </a:avLst>
          </a:prstGeom>
          <a:solidFill>
            <a:srgbClr val="FFFFFF"/>
          </a:solidFill>
        </p:spPr>
      </p:sp>
      <p:sp>
        <p:nvSpPr>
          <p:cNvPr id="27" name="Text 23"/>
          <p:cNvSpPr/>
          <p:nvPr>
            <p:custDataLst>
              <p:tags r:id="rId3"/>
            </p:custDataLst>
          </p:nvPr>
        </p:nvSpPr>
        <p:spPr>
          <a:xfrm>
            <a:off x="714375" y="4488561"/>
            <a:ext cx="2251710" cy="368300"/>
          </a:xfrm>
          <a:prstGeom prst="rect">
            <a:avLst/>
          </a:prstGeom>
          <a:noFill/>
        </p:spPr>
        <p:txBody>
          <a:bodyPr wrap="square" lIns="91440" tIns="45720" rIns="91440" bIns="45720" rtlCol="0" anchor="t">
            <a:spAutoFit/>
          </a:bodyPr>
          <a:lstStyle/>
          <a:p>
            <a:pPr algn="ctr">
              <a:lnSpc>
                <a:spcPct val="100000"/>
              </a:lnSpc>
            </a:pPr>
            <a:r>
              <a:rPr lang="en-US" sz="1800" dirty="0">
                <a:solidFill>
                  <a:srgbClr val="000000"/>
                </a:solidFill>
                <a:latin typeface="MiSans" pitchFamily="34" charset="-122"/>
                <a:ea typeface="MiSans" pitchFamily="34" charset="-122"/>
                <a:cs typeface="MiSans" pitchFamily="34" charset="-120"/>
              </a:rPr>
              <a:t>汇报人:</a:t>
            </a:r>
            <a:r>
              <a:rPr lang="zh-CN" altLang="en-US" sz="1800" dirty="0">
                <a:solidFill>
                  <a:srgbClr val="000000"/>
                </a:solidFill>
                <a:latin typeface="MiSans" pitchFamily="34" charset="-122"/>
                <a:ea typeface="MiSans" pitchFamily="34" charset="-122"/>
                <a:cs typeface="MiSans" pitchFamily="34" charset="-120"/>
              </a:rPr>
              <a:t>翁艺恺</a:t>
            </a:r>
            <a:endParaRPr lang="zh-CN" altLang="en-US" sz="1800" dirty="0">
              <a:solidFill>
                <a:srgbClr val="000000"/>
              </a:solidFill>
              <a:latin typeface="MiSans" pitchFamily="34" charset="-122"/>
              <a:ea typeface="MiSans" pitchFamily="34" charset="-122"/>
              <a:cs typeface="MiSans" pitchFamily="34" charset="-120"/>
            </a:endParaRPr>
          </a:p>
        </p:txBody>
      </p:sp>
      <p:sp>
        <p:nvSpPr>
          <p:cNvPr id="28" name="Shape 24"/>
          <p:cNvSpPr/>
          <p:nvPr>
            <p:custDataLst>
              <p:tags r:id="rId4"/>
            </p:custDataLst>
          </p:nvPr>
        </p:nvSpPr>
        <p:spPr>
          <a:xfrm>
            <a:off x="3029524" y="4438015"/>
            <a:ext cx="2151472" cy="438785"/>
          </a:xfrm>
          <a:prstGeom prst="roundRect">
            <a:avLst>
              <a:gd name="adj" fmla="val 50000"/>
            </a:avLst>
          </a:prstGeom>
          <a:solidFill>
            <a:srgbClr val="FFFFFF"/>
          </a:solidFill>
        </p:spPr>
      </p:sp>
      <p:sp>
        <p:nvSpPr>
          <p:cNvPr id="29" name="Text 25"/>
          <p:cNvSpPr/>
          <p:nvPr>
            <p:custDataLst>
              <p:tags r:id="rId5"/>
            </p:custDataLst>
          </p:nvPr>
        </p:nvSpPr>
        <p:spPr>
          <a:xfrm>
            <a:off x="2929255" y="4488561"/>
            <a:ext cx="2352675" cy="368300"/>
          </a:xfrm>
          <a:prstGeom prst="rect">
            <a:avLst/>
          </a:prstGeom>
          <a:noFill/>
        </p:spPr>
        <p:txBody>
          <a:bodyPr wrap="square" lIns="91440" tIns="45720" rIns="91440" bIns="45720" rtlCol="0" anchor="t">
            <a:spAutoFit/>
          </a:bodyPr>
          <a:lstStyle/>
          <a:p>
            <a:pPr algn="ctr">
              <a:lnSpc>
                <a:spcPct val="100000"/>
              </a:lnSpc>
            </a:pPr>
            <a:r>
              <a:rPr lang="en-US" sz="1800" dirty="0">
                <a:solidFill>
                  <a:srgbClr val="000000"/>
                </a:solidFill>
                <a:latin typeface="MiSans" pitchFamily="34" charset="-122"/>
                <a:ea typeface="MiSans" pitchFamily="34" charset="-122"/>
                <a:cs typeface="MiSans" pitchFamily="34" charset="-120"/>
              </a:rPr>
              <a:t>时间:2026/05/18</a:t>
            </a:r>
            <a:endParaRPr lang="en-US" sz="1600" dirty="0"/>
          </a:p>
        </p:txBody>
      </p:sp>
    </p:spTree>
  </p:cSld>
  <p:clrMapOvr>
    <a:masterClrMapping/>
  </p:clrMapOvr>
</p:sld>
</file>

<file path=ppt/tags/tag1.xml><?xml version="1.0" encoding="utf-8"?>
<p:tagLst xmlns:p="http://schemas.openxmlformats.org/presentationml/2006/main">
  <p:tag name="KSO_WM_DIAGRAM_VIRTUALLY_FRAME" val="{&quot;height&quot;:275.05,&quot;left&quot;:99.05,&quot;top&quot;:199,&quot;width&quot;:761.9}"/>
</p:tagLst>
</file>

<file path=ppt/tags/tag2.xml><?xml version="1.0" encoding="utf-8"?>
<p:tagLst xmlns:p="http://schemas.openxmlformats.org/presentationml/2006/main">
  <p:tag name="KSO_WM_DIAGRAM_VIRTUALLY_FRAME" val="{&quot;height&quot;:275.05,&quot;left&quot;:99.05,&quot;top&quot;:199,&quot;width&quot;:761.9}"/>
</p:tagLst>
</file>

<file path=ppt/tags/tag3.xml><?xml version="1.0" encoding="utf-8"?>
<p:tagLst xmlns:p="http://schemas.openxmlformats.org/presentationml/2006/main">
  <p:tag name="KSO_WM_DIAGRAM_VIRTUALLY_FRAME" val="{&quot;height&quot;:275.05,&quot;left&quot;:99.05,&quot;top&quot;:199,&quot;width&quot;:761.9}"/>
</p:tagLst>
</file>

<file path=ppt/tags/tag4.xml><?xml version="1.0" encoding="utf-8"?>
<p:tagLst xmlns:p="http://schemas.openxmlformats.org/presentationml/2006/main">
  <p:tag name="KSO_WM_DIAGRAM_VIRTUALLY_FRAME" val="{&quot;height&quot;:275.05,&quot;left&quot;:99.05,&quot;top&quot;:199,&quot;width&quot;:761.9}"/>
</p:tagLst>
</file>

<file path=ppt/tags/tag5.xml><?xml version="1.0" encoding="utf-8"?>
<p:tagLst xmlns:p="http://schemas.openxmlformats.org/presentationml/2006/main">
  <p:tag name="KSO_WM_DIAGRAM_VIRTUALLY_FRAME" val="{&quot;height&quot;:275.05,&quot;left&quot;:99.05,&quot;top&quot;:199,&quot;width&quot;:761.9}"/>
</p:tagLst>
</file>

<file path=ppt/tags/tag6.xml><?xml version="1.0" encoding="utf-8"?>
<p:tagLst xmlns:p="http://schemas.openxmlformats.org/presentationml/2006/main">
  <p:tag name="KSO_WM_DIAGRAM_VIRTUALLY_FRAME" val="{&quot;height&quot;:275.05,&quot;left&quot;:99.05,&quot;top&quot;:199,&quot;width&quot;:761.9}"/>
</p:tagLst>
</file>

<file path=ppt/tags/tag7.xml><?xml version="1.0" encoding="utf-8"?>
<p:tagLst xmlns:p="http://schemas.openxmlformats.org/presentationml/2006/main">
  <p:tag name="KSO_WM_DIAGRAM_VIRTUALLY_FRAME" val="{&quot;height&quot;:275.05,&quot;left&quot;:99.05,&quot;top&quot;:199,&quot;width&quot;:761.9}"/>
</p:tagLst>
</file>

<file path=ppt/tags/tag8.xml><?xml version="1.0" encoding="utf-8"?>
<p:tagLst xmlns:p="http://schemas.openxmlformats.org/presentationml/2006/main">
  <p:tag name="KSO_WM_DIAGRAM_VIRTUALLY_FRAME" val="{&quot;height&quot;:275.05,&quot;left&quot;:99.05,&quot;top&quot;:199,&quot;width&quot;:761.9}"/>
</p:tagLst>
</file>

<file path=ppt/tags/tag9.xml><?xml version="1.0" encoding="utf-8"?>
<p:tagLst xmlns:p="http://schemas.openxmlformats.org/presentationml/2006/main">
  <p:tag name="KSO_WM_DIAGRAM_VIRTUALLY_FRAME" val="{&quot;height&quot;:275.05,&quot;left&quot;:99.05,&quot;top&quot;:199,&quot;width&quot;:761.9}"/>
</p:tagLst>
</file>

<file path=ppt/tags/tag10.xml><?xml version="1.0" encoding="utf-8"?>
<p:tagLst xmlns:p="http://schemas.openxmlformats.org/presentationml/2006/main">
  <p:tag name="KSO_WM_DIAGRAM_VIRTUALLY_FRAME" val="{&quot;height&quot;:275.05,&quot;left&quot;:99.05,&quot;top&quot;:199,&quot;width&quot;:761.9}"/>
</p:tagLst>
</file>

<file path=ppt/tags/tag11.xml><?xml version="1.0" encoding="utf-8"?>
<p:tagLst xmlns:p="http://schemas.openxmlformats.org/presentationml/2006/main">
  <p:tag name="KSO_WM_DIAGRAM_VIRTUALLY_FRAME" val="{&quot;height&quot;:275.05,&quot;left&quot;:99.05,&quot;top&quot;:199,&quot;width&quot;:761.9}"/>
</p:tagLst>
</file>

<file path=ppt/tags/tag12.xml><?xml version="1.0" encoding="utf-8"?>
<p:tagLst xmlns:p="http://schemas.openxmlformats.org/presentationml/2006/main">
  <p:tag name="KSO_WM_DIAGRAM_VIRTUALLY_FRAME" val="{&quot;height&quot;:275.05,&quot;left&quot;:99.05,&quot;top&quot;:199,&quot;width&quot;:761.9}"/>
</p:tagLst>
</file>

<file path=ppt/tags/tag13.xml><?xml version="1.0" encoding="utf-8"?>
<p:tagLst xmlns:p="http://schemas.openxmlformats.org/presentationml/2006/main">
  <p:tag name="KSO_WM_DIAGRAM_VIRTUALLY_FRAME" val="{&quot;height&quot;:275.05,&quot;left&quot;:99.05,&quot;top&quot;:199,&quot;width&quot;:761.9}"/>
</p:tagLst>
</file>

<file path=ppt/tags/tag14.xml><?xml version="1.0" encoding="utf-8"?>
<p:tagLst xmlns:p="http://schemas.openxmlformats.org/presentationml/2006/main">
  <p:tag name="KSO_WM_DIAGRAM_VIRTUALLY_FRAME" val="{&quot;height&quot;:275.05,&quot;left&quot;:99.05,&quot;top&quot;:199,&quot;width&quot;:761.9}"/>
</p:tagLst>
</file>

<file path=ppt/tags/tag15.xml><?xml version="1.0" encoding="utf-8"?>
<p:tagLst xmlns:p="http://schemas.openxmlformats.org/presentationml/2006/main">
  <p:tag name="KSO_WM_DIAGRAM_VIRTUALLY_FRAME" val="{&quot;height&quot;:275.05,&quot;left&quot;:99.05,&quot;top&quot;:199,&quot;width&quot;:761.9}"/>
</p:tagLst>
</file>

<file path=ppt/tags/tag16.xml><?xml version="1.0" encoding="utf-8"?>
<p:tagLst xmlns:p="http://schemas.openxmlformats.org/presentationml/2006/main">
  <p:tag name="KSO_WM_DIAGRAM_VIRTUALLY_FRAME" val="{&quot;height&quot;:275.05,&quot;left&quot;:99.05,&quot;top&quot;:199,&quot;width&quot;:761.9}"/>
</p:tagLst>
</file>

<file path=ppt/tags/tag17.xml><?xml version="1.0" encoding="utf-8"?>
<p:tagLst xmlns:p="http://schemas.openxmlformats.org/presentationml/2006/main">
  <p:tag name="KSO_WM_DIAGRAM_VIRTUALLY_FRAME" val="{&quot;height&quot;:275.05,&quot;left&quot;:99.05,&quot;top&quot;:199,&quot;width&quot;:761.9}"/>
</p:tagLst>
</file>

<file path=ppt/tags/tag18.xml><?xml version="1.0" encoding="utf-8"?>
<p:tagLst xmlns:p="http://schemas.openxmlformats.org/presentationml/2006/main">
  <p:tag name="KSO_WM_DIAGRAM_VIRTUALLY_FRAME" val="{&quot;height&quot;:275.05,&quot;left&quot;:99.05,&quot;top&quot;:199,&quot;width&quot;:761.9}"/>
</p:tagLst>
</file>

<file path=ppt/tags/tag19.xml><?xml version="1.0" encoding="utf-8"?>
<p:tagLst xmlns:p="http://schemas.openxmlformats.org/presentationml/2006/main">
  <p:tag name="KSO_WM_DIAGRAM_VIRTUALLY_FRAME" val="{&quot;height&quot;:368,&quot;left&quot;:59.9,&quot;top&quot;:115.95,&quot;width&quot;:819.7}"/>
</p:tagLst>
</file>

<file path=ppt/tags/tag20.xml><?xml version="1.0" encoding="utf-8"?>
<p:tagLst xmlns:p="http://schemas.openxmlformats.org/presentationml/2006/main">
  <p:tag name="KSO_WM_DIAGRAM_VIRTUALLY_FRAME" val="{&quot;height&quot;:368,&quot;left&quot;:59.9,&quot;top&quot;:115.95,&quot;width&quot;:819.7}"/>
</p:tagLst>
</file>

<file path=ppt/tags/tag21.xml><?xml version="1.0" encoding="utf-8"?>
<p:tagLst xmlns:p="http://schemas.openxmlformats.org/presentationml/2006/main">
  <p:tag name="KSO_WM_DIAGRAM_VIRTUALLY_FRAME" val="{&quot;height&quot;:368,&quot;left&quot;:59.9,&quot;top&quot;:115.95,&quot;width&quot;:819.7}"/>
</p:tagLst>
</file>

<file path=ppt/tags/tag22.xml><?xml version="1.0" encoding="utf-8"?>
<p:tagLst xmlns:p="http://schemas.openxmlformats.org/presentationml/2006/main">
  <p:tag name="KSO_WM_DIAGRAM_VIRTUALLY_FRAME" val="{&quot;height&quot;:368,&quot;left&quot;:59.9,&quot;top&quot;:115.95,&quot;width&quot;:819.7}"/>
</p:tagLst>
</file>

<file path=ppt/tags/tag23.xml><?xml version="1.0" encoding="utf-8"?>
<p:tagLst xmlns:p="http://schemas.openxmlformats.org/presentationml/2006/main">
  <p:tag name="KSO_WM_DIAGRAM_VIRTUALLY_FRAME" val="{&quot;height&quot;:368,&quot;left&quot;:59.9,&quot;top&quot;:115.95,&quot;width&quot;:819.7}"/>
</p:tagLst>
</file>

<file path=ppt/tags/tag24.xml><?xml version="1.0" encoding="utf-8"?>
<p:tagLst xmlns:p="http://schemas.openxmlformats.org/presentationml/2006/main">
  <p:tag name="KSO_WM_DIAGRAM_VIRTUALLY_FRAME" val="{&quot;height&quot;:368,&quot;left&quot;:59.9,&quot;top&quot;:115.95,&quot;width&quot;:819.7}"/>
</p:tagLst>
</file>

<file path=ppt/tags/tag25.xml><?xml version="1.0" encoding="utf-8"?>
<p:tagLst xmlns:p="http://schemas.openxmlformats.org/presentationml/2006/main">
  <p:tag name="KSO_WM_DIAGRAM_VIRTUALLY_FRAME" val="{&quot;height&quot;:368,&quot;left&quot;:59.9,&quot;top&quot;:115.95,&quot;width&quot;:819.7}"/>
</p:tagLst>
</file>

<file path=ppt/tags/tag26.xml><?xml version="1.0" encoding="utf-8"?>
<p:tagLst xmlns:p="http://schemas.openxmlformats.org/presentationml/2006/main">
  <p:tag name="KSO_WM_DIAGRAM_VIRTUALLY_FRAME" val="{&quot;height&quot;:368,&quot;left&quot;:59.9,&quot;top&quot;:115.95,&quot;width&quot;:819.7}"/>
</p:tagLst>
</file>

<file path=ppt/tags/tag27.xml><?xml version="1.0" encoding="utf-8"?>
<p:tagLst xmlns:p="http://schemas.openxmlformats.org/presentationml/2006/main">
  <p:tag name="KSO_WM_DIAGRAM_VIRTUALLY_FRAME" val="{&quot;height&quot;:368,&quot;left&quot;:59.9,&quot;top&quot;:115.95,&quot;width&quot;:819.7}"/>
</p:tagLst>
</file>

<file path=ppt/tags/tag28.xml><?xml version="1.0" encoding="utf-8"?>
<p:tagLst xmlns:p="http://schemas.openxmlformats.org/presentationml/2006/main">
  <p:tag name="KSO_WM_DIAGRAM_VIRTUALLY_FRAME" val="{&quot;height&quot;:368,&quot;left&quot;:59.9,&quot;top&quot;:115.95,&quot;width&quot;:819.7}"/>
</p:tagLst>
</file>

<file path=ppt/tags/tag29.xml><?xml version="1.0" encoding="utf-8"?>
<p:tagLst xmlns:p="http://schemas.openxmlformats.org/presentationml/2006/main">
  <p:tag name="KSO_WM_DIAGRAM_VIRTUALLY_FRAME" val="{&quot;height&quot;:368,&quot;left&quot;:59.9,&quot;top&quot;:115.95,&quot;width&quot;:819.7}"/>
</p:tagLst>
</file>

<file path=ppt/tags/tag30.xml><?xml version="1.0" encoding="utf-8"?>
<p:tagLst xmlns:p="http://schemas.openxmlformats.org/presentationml/2006/main">
  <p:tag name="KSO_WM_DIAGRAM_VIRTUALLY_FRAME" val="{&quot;height&quot;:368,&quot;left&quot;:59.9,&quot;top&quot;:115.95,&quot;width&quot;:819.7}"/>
</p:tagLst>
</file>

<file path=ppt/tags/tag31.xml><?xml version="1.0" encoding="utf-8"?>
<p:tagLst xmlns:p="http://schemas.openxmlformats.org/presentationml/2006/main">
  <p:tag name="KSO_WM_DIAGRAM_VIRTUALLY_FRAME" val="{&quot;height&quot;:380.35,&quot;left&quot;:55.65,&quot;top&quot;:92.5,&quot;width&quot;:840.35}"/>
</p:tagLst>
</file>

<file path=ppt/tags/tag32.xml><?xml version="1.0" encoding="utf-8"?>
<p:tagLst xmlns:p="http://schemas.openxmlformats.org/presentationml/2006/main">
  <p:tag name="KSO_WM_DIAGRAM_VIRTUALLY_FRAME" val="{&quot;height&quot;:380.35,&quot;left&quot;:55.65,&quot;top&quot;:92.5,&quot;width&quot;:840.35}"/>
</p:tagLst>
</file>

<file path=ppt/tags/tag33.xml><?xml version="1.0" encoding="utf-8"?>
<p:tagLst xmlns:p="http://schemas.openxmlformats.org/presentationml/2006/main">
  <p:tag name="KSO_WM_DIAGRAM_VIRTUALLY_FRAME" val="{&quot;height&quot;:380.35,&quot;left&quot;:55.65,&quot;top&quot;:92.5,&quot;width&quot;:840.35}"/>
</p:tagLst>
</file>

<file path=ppt/tags/tag34.xml><?xml version="1.0" encoding="utf-8"?>
<p:tagLst xmlns:p="http://schemas.openxmlformats.org/presentationml/2006/main">
  <p:tag name="KSO_WM_DIAGRAM_VIRTUALLY_FRAME" val="{&quot;height&quot;:380.35,&quot;left&quot;:55.65,&quot;top&quot;:92.5,&quot;width&quot;:840.35}"/>
</p:tagLst>
</file>

<file path=ppt/tags/tag35.xml><?xml version="1.0" encoding="utf-8"?>
<p:tagLst xmlns:p="http://schemas.openxmlformats.org/presentationml/2006/main">
  <p:tag name="KSO_WM_DIAGRAM_VIRTUALLY_FRAME" val="{&quot;height&quot;:380.35,&quot;left&quot;:55.65,&quot;top&quot;:92.5,&quot;width&quot;:840.35}"/>
</p:tagLst>
</file>

<file path=ppt/tags/tag36.xml><?xml version="1.0" encoding="utf-8"?>
<p:tagLst xmlns:p="http://schemas.openxmlformats.org/presentationml/2006/main">
  <p:tag name="KSO_WM_DIAGRAM_VIRTUALLY_FRAME" val="{&quot;height&quot;:380.35,&quot;left&quot;:55.65,&quot;top&quot;:92.5,&quot;width&quot;:840.35}"/>
</p:tagLst>
</file>

<file path=ppt/tags/tag37.xml><?xml version="1.0" encoding="utf-8"?>
<p:tagLst xmlns:p="http://schemas.openxmlformats.org/presentationml/2006/main">
  <p:tag name="KSO_WM_DIAGRAM_VIRTUALLY_FRAME" val="{&quot;height&quot;:380.35,&quot;left&quot;:55.65,&quot;top&quot;:92.5,&quot;width&quot;:840.35}"/>
</p:tagLst>
</file>

<file path=ppt/tags/tag38.xml><?xml version="1.0" encoding="utf-8"?>
<p:tagLst xmlns:p="http://schemas.openxmlformats.org/presentationml/2006/main">
  <p:tag name="KSO_WM_DIAGRAM_VIRTUALLY_FRAME" val="{&quot;height&quot;:380.35,&quot;left&quot;:55.65,&quot;top&quot;:92.5,&quot;width&quot;:840.35}"/>
</p:tagLst>
</file>

<file path=ppt/tags/tag39.xml><?xml version="1.0" encoding="utf-8"?>
<p:tagLst xmlns:p="http://schemas.openxmlformats.org/presentationml/2006/main">
  <p:tag name="KSO_WM_DIAGRAM_VIRTUALLY_FRAME" val="{&quot;height&quot;:380.35,&quot;left&quot;:55.65,&quot;top&quot;:92.5,&quot;width&quot;:840.35}"/>
</p:tagLst>
</file>

<file path=ppt/tags/tag40.xml><?xml version="1.0" encoding="utf-8"?>
<p:tagLst xmlns:p="http://schemas.openxmlformats.org/presentationml/2006/main">
  <p:tag name="KSO_WM_DIAGRAM_VIRTUALLY_FRAME" val="{&quot;height&quot;:380.35,&quot;left&quot;:55.65,&quot;top&quot;:92.5,&quot;width&quot;:840.35}"/>
</p:tagLst>
</file>

<file path=ppt/tags/tag41.xml><?xml version="1.0" encoding="utf-8"?>
<p:tagLst xmlns:p="http://schemas.openxmlformats.org/presentationml/2006/main">
  <p:tag name="KSO_WM_DIAGRAM_VIRTUALLY_FRAME" val="{&quot;height&quot;:380.35,&quot;left&quot;:55.65,&quot;top&quot;:92.5,&quot;width&quot;:840.35}"/>
</p:tagLst>
</file>

<file path=ppt/tags/tag42.xml><?xml version="1.0" encoding="utf-8"?>
<p:tagLst xmlns:p="http://schemas.openxmlformats.org/presentationml/2006/main">
  <p:tag name="KSO_WM_DIAGRAM_VIRTUALLY_FRAME" val="{&quot;height&quot;:380.35,&quot;left&quot;:55.65,&quot;top&quot;:92.5,&quot;width&quot;:840.35}"/>
</p:tagLst>
</file>

<file path=ppt/tags/tag43.xml><?xml version="1.0" encoding="utf-8"?>
<p:tagLst xmlns:p="http://schemas.openxmlformats.org/presentationml/2006/main">
  <p:tag name="KSO_WM_DIAGRAM_VIRTUALLY_FRAME" val="{&quot;height&quot;:380.35,&quot;left&quot;:55.65,&quot;top&quot;:92.5,&quot;width&quot;:840.35}"/>
</p:tagLst>
</file>

<file path=ppt/tags/tag44.xml><?xml version="1.0" encoding="utf-8"?>
<p:tagLst xmlns:p="http://schemas.openxmlformats.org/presentationml/2006/main">
  <p:tag name="KSO_WM_DIAGRAM_VIRTUALLY_FRAME" val="{&quot;height&quot;:380.35,&quot;left&quot;:55.65,&quot;top&quot;:92.5,&quot;width&quot;:840.35}"/>
</p:tagLst>
</file>

<file path=ppt/tags/tag45.xml><?xml version="1.0" encoding="utf-8"?>
<p:tagLst xmlns:p="http://schemas.openxmlformats.org/presentationml/2006/main">
  <p:tag name="KSO_WM_DIAGRAM_VIRTUALLY_FRAME" val="{&quot;height&quot;:380.35,&quot;left&quot;:55.65,&quot;top&quot;:92.5,&quot;width&quot;:840.35}"/>
</p:tagLst>
</file>

<file path=ppt/tags/tag46.xml><?xml version="1.0" encoding="utf-8"?>
<p:tagLst xmlns:p="http://schemas.openxmlformats.org/presentationml/2006/main">
  <p:tag name="KSO_WM_DIAGRAM_VIRTUALLY_FRAME" val="{&quot;height&quot;:380.35,&quot;left&quot;:55.65,&quot;top&quot;:92.5,&quot;width&quot;:840.35}"/>
</p:tagLst>
</file>

<file path=ppt/tags/tag47.xml><?xml version="1.0" encoding="utf-8"?>
<p:tagLst xmlns:p="http://schemas.openxmlformats.org/presentationml/2006/main">
  <p:tag name="KSO_WM_DIAGRAM_VIRTUALLY_FRAME" val="{&quot;height&quot;:380.35,&quot;left&quot;:55.65,&quot;top&quot;:92.5,&quot;width&quot;:840.35}"/>
</p:tagLst>
</file>

<file path=ppt/tags/tag48.xml><?xml version="1.0" encoding="utf-8"?>
<p:tagLst xmlns:p="http://schemas.openxmlformats.org/presentationml/2006/main">
  <p:tag name="KSO_WM_DIAGRAM_VIRTUALLY_FRAME" val="{&quot;height&quot;:380.35,&quot;left&quot;:55.65,&quot;top&quot;:92.5,&quot;width&quot;:840.35}"/>
</p:tagLst>
</file>

<file path=ppt/tags/tag49.xml><?xml version="1.0" encoding="utf-8"?>
<p:tagLst xmlns:p="http://schemas.openxmlformats.org/presentationml/2006/main">
  <p:tag name="KSO_WM_DIAGRAM_VIRTUALLY_FRAME" val="{&quot;height&quot;:380.35,&quot;left&quot;:55.65,&quot;top&quot;:92.5,&quot;width&quot;:840.35}"/>
</p:tagLst>
</file>

<file path=ppt/tags/tag50.xml><?xml version="1.0" encoding="utf-8"?>
<p:tagLst xmlns:p="http://schemas.openxmlformats.org/presentationml/2006/main">
  <p:tag name="KSO_WM_DIAGRAM_VIRTUALLY_FRAME" val="{&quot;height&quot;:380.35,&quot;left&quot;:55.65,&quot;top&quot;:92.5,&quot;width&quot;:840.35}"/>
</p:tagLst>
</file>

<file path=ppt/tags/tag51.xml><?xml version="1.0" encoding="utf-8"?>
<p:tagLst xmlns:p="http://schemas.openxmlformats.org/presentationml/2006/main">
  <p:tag name="KSO_WM_DIAGRAM_VIRTUALLY_FRAME" val="{&quot;height&quot;:380.35,&quot;left&quot;:55.65,&quot;top&quot;:92.5,&quot;width&quot;:840.35}"/>
</p:tagLst>
</file>

<file path=ppt/tags/tag52.xml><?xml version="1.0" encoding="utf-8"?>
<p:tagLst xmlns:p="http://schemas.openxmlformats.org/presentationml/2006/main">
  <p:tag name="KSO_WM_DIAGRAM_VIRTUALLY_FRAME" val="{&quot;height&quot;:380.35,&quot;left&quot;:55.65,&quot;top&quot;:92.5,&quot;width&quot;:840.35}"/>
</p:tagLst>
</file>

<file path=ppt/tags/tag53.xml><?xml version="1.0" encoding="utf-8"?>
<p:tagLst xmlns:p="http://schemas.openxmlformats.org/presentationml/2006/main">
  <p:tag name="KSO_WM_DIAGRAM_VIRTUALLY_FRAME" val="{&quot;height&quot;:380.35,&quot;left&quot;:55.65,&quot;top&quot;:92.5,&quot;width&quot;:840.35}"/>
</p:tagLst>
</file>

<file path=ppt/tags/tag54.xml><?xml version="1.0" encoding="utf-8"?>
<p:tagLst xmlns:p="http://schemas.openxmlformats.org/presentationml/2006/main">
  <p:tag name="KSO_WM_DIAGRAM_VIRTUALLY_FRAME" val="{&quot;height&quot;:380.35,&quot;left&quot;:55.65,&quot;top&quot;:92.5,&quot;width&quot;:840.35}"/>
</p:tagLst>
</file>

<file path=ppt/tags/tag55.xml><?xml version="1.0" encoding="utf-8"?>
<p:tagLst xmlns:p="http://schemas.openxmlformats.org/presentationml/2006/main">
  <p:tag name="KSO_WM_DIAGRAM_VIRTUALLY_FRAME" val="{&quot;height&quot;:346.50157480314965,&quot;left&quot;:53.9,&quot;top&quot;:109.61094488188976,&quot;width&quot;:491.85}"/>
</p:tagLst>
</file>

<file path=ppt/tags/tag56.xml><?xml version="1.0" encoding="utf-8"?>
<p:tagLst xmlns:p="http://schemas.openxmlformats.org/presentationml/2006/main">
  <p:tag name="KSO_WM_DIAGRAM_VIRTUALLY_FRAME" val="{&quot;height&quot;:346.50157480314965,&quot;left&quot;:53.9,&quot;top&quot;:109.61094488188976,&quot;width&quot;:491.85}"/>
</p:tagLst>
</file>

<file path=ppt/tags/tag57.xml><?xml version="1.0" encoding="utf-8"?>
<p:tagLst xmlns:p="http://schemas.openxmlformats.org/presentationml/2006/main">
  <p:tag name="KSO_WM_DIAGRAM_VIRTUALLY_FRAME" val="{&quot;height&quot;:346.50157480314965,&quot;left&quot;:53.9,&quot;top&quot;:109.61094488188976,&quot;width&quot;:491.85}"/>
</p:tagLst>
</file>

<file path=ppt/tags/tag58.xml><?xml version="1.0" encoding="utf-8"?>
<p:tagLst xmlns:p="http://schemas.openxmlformats.org/presentationml/2006/main">
  <p:tag name="KSO_WM_DIAGRAM_VIRTUALLY_FRAME" val="{&quot;height&quot;:346.50157480314965,&quot;left&quot;:53.9,&quot;top&quot;:109.61094488188976,&quot;width&quot;:491.85}"/>
</p:tagLst>
</file>

<file path=ppt/tags/tag59.xml><?xml version="1.0" encoding="utf-8"?>
<p:tagLst xmlns:p="http://schemas.openxmlformats.org/presentationml/2006/main">
  <p:tag name="KSO_WM_DIAGRAM_VIRTUALLY_FRAME" val="{&quot;height&quot;:346.50157480314965,&quot;left&quot;:53.9,&quot;top&quot;:109.61094488188976,&quot;width&quot;:491.85}"/>
</p:tagLst>
</file>

<file path=ppt/tags/tag60.xml><?xml version="1.0" encoding="utf-8"?>
<p:tagLst xmlns:p="http://schemas.openxmlformats.org/presentationml/2006/main">
  <p:tag name="KSO_WM_DIAGRAM_VIRTUALLY_FRAME" val="{&quot;height&quot;:346.50157480314965,&quot;left&quot;:53.9,&quot;top&quot;:109.61094488188976,&quot;width&quot;:491.85}"/>
</p:tagLst>
</file>

<file path=ppt/tags/tag61.xml><?xml version="1.0" encoding="utf-8"?>
<p:tagLst xmlns:p="http://schemas.openxmlformats.org/presentationml/2006/main">
  <p:tag name="KSO_WM_DIAGRAM_VIRTUALLY_FRAME" val="{&quot;height&quot;:286.1477165354331,&quot;left&quot;:76.07228346456694,&quot;top&quot;:213.18,&quot;width&quot;:811.8146456692913}"/>
</p:tagLst>
</file>

<file path=ppt/tags/tag62.xml><?xml version="1.0" encoding="utf-8"?>
<p:tagLst xmlns:p="http://schemas.openxmlformats.org/presentationml/2006/main">
  <p:tag name="KSO_WM_DIAGRAM_VIRTUALLY_FRAME" val="{&quot;height&quot;:286.1477165354331,&quot;left&quot;:76.07228346456694,&quot;top&quot;:213.18,&quot;width&quot;:811.8146456692913}"/>
</p:tagLst>
</file>

<file path=ppt/tags/tag63.xml><?xml version="1.0" encoding="utf-8"?>
<p:tagLst xmlns:p="http://schemas.openxmlformats.org/presentationml/2006/main">
  <p:tag name="KSO_WM_DIAGRAM_VIRTUALLY_FRAME" val="{&quot;height&quot;:286.1477165354331,&quot;left&quot;:76.07228346456694,&quot;top&quot;:213.18,&quot;width&quot;:811.8146456692913}"/>
</p:tagLst>
</file>

<file path=ppt/tags/tag64.xml><?xml version="1.0" encoding="utf-8"?>
<p:tagLst xmlns:p="http://schemas.openxmlformats.org/presentationml/2006/main">
  <p:tag name="KSO_WM_DIAGRAM_VIRTUALLY_FRAME" val="{&quot;height&quot;:286.1477165354331,&quot;left&quot;:76.07228346456694,&quot;top&quot;:213.18,&quot;width&quot;:811.8146456692913}"/>
</p:tagLst>
</file>

<file path=ppt/tags/tag65.xml><?xml version="1.0" encoding="utf-8"?>
<p:tagLst xmlns:p="http://schemas.openxmlformats.org/presentationml/2006/main">
  <p:tag name="KSO_WM_DIAGRAM_VIRTUALLY_FRAME" val="{&quot;height&quot;:286.1477165354331,&quot;left&quot;:76.07228346456694,&quot;top&quot;:213.18,&quot;width&quot;:811.8146456692913}"/>
</p:tagLst>
</file>

<file path=ppt/tags/tag66.xml><?xml version="1.0" encoding="utf-8"?>
<p:tagLst xmlns:p="http://schemas.openxmlformats.org/presentationml/2006/main">
  <p:tag name="KSO_WM_DIAGRAM_VIRTUALLY_FRAME" val="{&quot;height&quot;:286.1477165354331,&quot;left&quot;:76.07228346456694,&quot;top&quot;:213.18,&quot;width&quot;:811.8146456692913}"/>
</p:tagLst>
</file>

<file path=ppt/tags/tag67.xml><?xml version="1.0" encoding="utf-8"?>
<p:tagLst xmlns:p="http://schemas.openxmlformats.org/presentationml/2006/main">
  <p:tag name="KSO_WM_DIAGRAM_VIRTUALLY_FRAME" val="{&quot;height&quot;:286.1477165354331,&quot;left&quot;:76.07228346456694,&quot;top&quot;:213.18,&quot;width&quot;:811.8146456692913}"/>
</p:tagLst>
</file>

<file path=ppt/tags/tag68.xml><?xml version="1.0" encoding="utf-8"?>
<p:tagLst xmlns:p="http://schemas.openxmlformats.org/presentationml/2006/main">
  <p:tag name="KSO_WM_DIAGRAM_VIRTUALLY_FRAME" val="{&quot;height&quot;:286.1477165354331,&quot;left&quot;:76.07228346456694,&quot;top&quot;:213.18,&quot;width&quot;:811.8146456692913}"/>
</p:tagLst>
</file>

<file path=ppt/tags/tag69.xml><?xml version="1.0" encoding="utf-8"?>
<p:tagLst xmlns:p="http://schemas.openxmlformats.org/presentationml/2006/main">
  <p:tag name="KSO_WM_DIAGRAM_VIRTUALLY_FRAME" val="{&quot;height&quot;:286.1477165354331,&quot;left&quot;:76.07228346456694,&quot;top&quot;:213.18,&quot;width&quot;:811.8146456692913}"/>
</p:tagLst>
</file>

<file path=ppt/tags/tag70.xml><?xml version="1.0" encoding="utf-8"?>
<p:tagLst xmlns:p="http://schemas.openxmlformats.org/presentationml/2006/main">
  <p:tag name="KSO_WM_DIAGRAM_VIRTUALLY_FRAME" val="{&quot;height&quot;:286.1477165354331,&quot;left&quot;:76.07228346456694,&quot;top&quot;:213.18,&quot;width&quot;:811.8146456692913}"/>
</p:tagLst>
</file>

<file path=ppt/tags/tag71.xml><?xml version="1.0" encoding="utf-8"?>
<p:tagLst xmlns:p="http://schemas.openxmlformats.org/presentationml/2006/main">
  <p:tag name="KSO_WM_DIAGRAM_VIRTUALLY_FRAME" val="{&quot;height&quot;:286.1477165354331,&quot;left&quot;:76.07228346456694,&quot;top&quot;:213.18,&quot;width&quot;:811.8146456692913}"/>
</p:tagLst>
</file>

<file path=ppt/tags/tag72.xml><?xml version="1.0" encoding="utf-8"?>
<p:tagLst xmlns:p="http://schemas.openxmlformats.org/presentationml/2006/main">
  <p:tag name="KSO_WM_DIAGRAM_VIRTUALLY_FRAME" val="{&quot;height&quot;:286.1477165354331,&quot;left&quot;:76.07228346456694,&quot;top&quot;:213.18,&quot;width&quot;:811.8146456692913}"/>
</p:tagLst>
</file>

<file path=ppt/tags/tag73.xml><?xml version="1.0" encoding="utf-8"?>
<p:tagLst xmlns:p="http://schemas.openxmlformats.org/presentationml/2006/main">
  <p:tag name="KSO_WM_DIAGRAM_VIRTUALLY_FRAME" val="{&quot;height&quot;:375.50000000000006,&quot;left&quot;:52.25,&quot;top&quot;:97.77503937007874,&quot;width&quot;:855.448188976378}"/>
</p:tagLst>
</file>

<file path=ppt/tags/tag74.xml><?xml version="1.0" encoding="utf-8"?>
<p:tagLst xmlns:p="http://schemas.openxmlformats.org/presentationml/2006/main">
  <p:tag name="KSO_WM_DIAGRAM_VIRTUALLY_FRAME" val="{&quot;height&quot;:375.50000000000006,&quot;left&quot;:52.25,&quot;top&quot;:97.77503937007874,&quot;width&quot;:855.448188976378}"/>
</p:tagLst>
</file>

<file path=ppt/tags/tag75.xml><?xml version="1.0" encoding="utf-8"?>
<p:tagLst xmlns:p="http://schemas.openxmlformats.org/presentationml/2006/main">
  <p:tag name="KSO_WM_DIAGRAM_VIRTUALLY_FRAME" val="{&quot;height&quot;:375.50000000000006,&quot;left&quot;:52.25,&quot;top&quot;:97.77503937007874,&quot;width&quot;:855.448188976378}"/>
</p:tagLst>
</file>

<file path=ppt/tags/tag76.xml><?xml version="1.0" encoding="utf-8"?>
<p:tagLst xmlns:p="http://schemas.openxmlformats.org/presentationml/2006/main">
  <p:tag name="KSO_WM_DIAGRAM_VIRTUALLY_FRAME" val="{&quot;height&quot;:375.50000000000006,&quot;left&quot;:52.25,&quot;top&quot;:97.77503937007874,&quot;width&quot;:855.448188976378}"/>
</p:tagLst>
</file>

<file path=ppt/tags/tag77.xml><?xml version="1.0" encoding="utf-8"?>
<p:tagLst xmlns:p="http://schemas.openxmlformats.org/presentationml/2006/main">
  <p:tag name="KSO_WM_DIAGRAM_VIRTUALLY_FRAME" val="{&quot;height&quot;:375.50000000000006,&quot;left&quot;:52.25,&quot;top&quot;:97.77503937007874,&quot;width&quot;:855.448188976378}"/>
</p:tagLst>
</file>

<file path=ppt/tags/tag78.xml><?xml version="1.0" encoding="utf-8"?>
<p:tagLst xmlns:p="http://schemas.openxmlformats.org/presentationml/2006/main">
  <p:tag name="KSO_WM_DIAGRAM_VIRTUALLY_FRAME" val="{&quot;height&quot;:375.50000000000006,&quot;left&quot;:52.25,&quot;top&quot;:97.77503937007874,&quot;width&quot;:855.448188976378}"/>
</p:tagLst>
</file>

<file path=ppt/tags/tag79.xml><?xml version="1.0" encoding="utf-8"?>
<p:tagLst xmlns:p="http://schemas.openxmlformats.org/presentationml/2006/main">
  <p:tag name="KSO_WM_DIAGRAM_VIRTUALLY_FRAME" val="{&quot;height&quot;:375.50000000000006,&quot;left&quot;:52.25,&quot;top&quot;:97.77503937007874,&quot;width&quot;:855.448188976378}"/>
</p:tagLst>
</file>

<file path=ppt/tags/tag80.xml><?xml version="1.0" encoding="utf-8"?>
<p:tagLst xmlns:p="http://schemas.openxmlformats.org/presentationml/2006/main">
  <p:tag name="KSO_WM_DIAGRAM_VIRTUALLY_FRAME" val="{&quot;height&quot;:375.50000000000006,&quot;left&quot;:52.25,&quot;top&quot;:97.77503937007874,&quot;width&quot;:855.448188976378}"/>
</p:tagLst>
</file>

<file path=ppt/tags/tag81.xml><?xml version="1.0" encoding="utf-8"?>
<p:tagLst xmlns:p="http://schemas.openxmlformats.org/presentationml/2006/main">
  <p:tag name="KSO_WM_DIAGRAM_VIRTUALLY_FRAME" val="{&quot;height&quot;:375.50000000000006,&quot;left&quot;:52.25,&quot;top&quot;:97.77503937007874,&quot;width&quot;:855.448188976378}"/>
</p:tagLst>
</file>

<file path=ppt/tags/tag82.xml><?xml version="1.0" encoding="utf-8"?>
<p:tagLst xmlns:p="http://schemas.openxmlformats.org/presentationml/2006/main">
  <p:tag name="KSO_WM_DIAGRAM_VIRTUALLY_FRAME" val="{&quot;height&quot;:375.50000000000006,&quot;left&quot;:52.25,&quot;top&quot;:97.77503937007874,&quot;width&quot;:855.448188976378}"/>
</p:tagLst>
</file>

<file path=ppt/tags/tag83.xml><?xml version="1.0" encoding="utf-8"?>
<p:tagLst xmlns:p="http://schemas.openxmlformats.org/presentationml/2006/main">
  <p:tag name="KSO_WM_DIAGRAM_VIRTUALLY_FRAME" val="{&quot;height&quot;:375.50000000000006,&quot;left&quot;:52.25,&quot;top&quot;:97.77503937007874,&quot;width&quot;:855.448188976378}"/>
</p:tagLst>
</file>

<file path=ppt/tags/tag84.xml><?xml version="1.0" encoding="utf-8"?>
<p:tagLst xmlns:p="http://schemas.openxmlformats.org/presentationml/2006/main">
  <p:tag name="KSO_WM_DIAGRAM_VIRTUALLY_FRAME" val="{&quot;height&quot;:375.50000000000006,&quot;left&quot;:52.25,&quot;top&quot;:97.77503937007874,&quot;width&quot;:855.448188976378}"/>
</p:tagLst>
</file>

<file path=ppt/tags/tag85.xml><?xml version="1.0" encoding="utf-8"?>
<p:tagLst xmlns:p="http://schemas.openxmlformats.org/presentationml/2006/main">
  <p:tag name="KSO_WM_DIAGRAM_VIRTUALLY_FRAME" val="{&quot;height&quot;:374,&quot;left&quot;:52.876141732283486,&quot;top&quot;:112,&quot;width&quot;:854.2476377952756}"/>
</p:tagLst>
</file>

<file path=ppt/tags/tag86.xml><?xml version="1.0" encoding="utf-8"?>
<p:tagLst xmlns:p="http://schemas.openxmlformats.org/presentationml/2006/main">
  <p:tag name="KSO_WM_DIAGRAM_VIRTUALLY_FRAME" val="{&quot;height&quot;:374,&quot;left&quot;:52.876141732283486,&quot;top&quot;:112,&quot;width&quot;:854.2476377952756}"/>
</p:tagLst>
</file>

<file path=ppt/tags/tag87.xml><?xml version="1.0" encoding="utf-8"?>
<p:tagLst xmlns:p="http://schemas.openxmlformats.org/presentationml/2006/main">
  <p:tag name="KSO_WM_DIAGRAM_VIRTUALLY_FRAME" val="{&quot;height&quot;:374,&quot;left&quot;:52.876141732283486,&quot;top&quot;:112,&quot;width&quot;:854.2476377952756}"/>
</p:tagLst>
</file>

<file path=ppt/tags/tag88.xml><?xml version="1.0" encoding="utf-8"?>
<p:tagLst xmlns:p="http://schemas.openxmlformats.org/presentationml/2006/main">
  <p:tag name="KSO_WM_DIAGRAM_VIRTUALLY_FRAME" val="{&quot;height&quot;:374,&quot;left&quot;:52.876141732283486,&quot;top&quot;:112,&quot;width&quot;:854.2476377952756}"/>
</p:tagLst>
</file>

<file path=ppt/tags/tag89.xml><?xml version="1.0" encoding="utf-8"?>
<p:tagLst xmlns:p="http://schemas.openxmlformats.org/presentationml/2006/main">
  <p:tag name="KSO_WM_DIAGRAM_VIRTUALLY_FRAME" val="{&quot;height&quot;:374,&quot;left&quot;:52.876141732283486,&quot;top&quot;:112,&quot;width&quot;:854.2476377952756}"/>
</p:tagLst>
</file>

<file path=ppt/tags/tag90.xml><?xml version="1.0" encoding="utf-8"?>
<p:tagLst xmlns:p="http://schemas.openxmlformats.org/presentationml/2006/main">
  <p:tag name="KSO_WM_DIAGRAM_VIRTUALLY_FRAME" val="{&quot;height&quot;:374,&quot;left&quot;:52.876141732283486,&quot;top&quot;:112,&quot;width&quot;:854.2476377952756}"/>
</p:tagLst>
</file>

<file path=ppt/tags/tag91.xml><?xml version="1.0" encoding="utf-8"?>
<p:tagLst xmlns:p="http://schemas.openxmlformats.org/presentationml/2006/main">
  <p:tag name="KSO_WM_DIAGRAM_VIRTUALLY_FRAME" val="{&quot;height&quot;:372.9,&quot;left&quot;:50.35,&quot;top&quot;:99.25,&quot;width&quot;:723.7}"/>
</p:tagLst>
</file>

<file path=ppt/tags/tag92.xml><?xml version="1.0" encoding="utf-8"?>
<p:tagLst xmlns:p="http://schemas.openxmlformats.org/presentationml/2006/main">
  <p:tag name="KSO_WM_DIAGRAM_VIRTUALLY_FRAME" val="{&quot;height&quot;:372.9,&quot;left&quot;:50.35,&quot;top&quot;:99.25,&quot;width&quot;:723.7}"/>
</p:tagLst>
</file>

<file path=ppt/tags/tag93.xml><?xml version="1.0" encoding="utf-8"?>
<p:tagLst xmlns:p="http://schemas.openxmlformats.org/presentationml/2006/main">
  <p:tag name="KSO_WM_DIAGRAM_VIRTUALLY_FRAME" val="{&quot;height&quot;:372.9,&quot;left&quot;:50.35,&quot;top&quot;:99.25,&quot;width&quot;:723.7}"/>
</p:tagLst>
</file>

<file path=ppt/tags/tag94.xml><?xml version="1.0" encoding="utf-8"?>
<p:tagLst xmlns:p="http://schemas.openxmlformats.org/presentationml/2006/main">
  <p:tag name="KSO_WM_DIAGRAM_VIRTUALLY_FRAME" val="{&quot;height&quot;:372.9,&quot;left&quot;:50.35,&quot;top&quot;:99.25,&quot;width&quot;:723.7}"/>
</p:tagLst>
</file>

<file path=ppt/tags/tag95.xml><?xml version="1.0" encoding="utf-8"?>
<p:tagLst xmlns:p="http://schemas.openxmlformats.org/presentationml/2006/main">
  <p:tag name="KSO_WM_DIAGRAM_VIRTUALLY_FRAME" val="{&quot;height&quot;:372.9,&quot;left&quot;:50.35,&quot;top&quot;:99.25,&quot;width&quot;:723.7}"/>
</p:tagLst>
</file>

<file path=ppt/tags/tag96.xml><?xml version="1.0" encoding="utf-8"?>
<p:tagLst xmlns:p="http://schemas.openxmlformats.org/presentationml/2006/main">
  <p:tag name="KSO_WM_DIAGRAM_VIRTUALLY_FRAME" val="{&quot;height&quot;:372.9,&quot;left&quot;:50.35,&quot;top&quot;:99.25,&quot;width&quot;:723.7}"/>
</p:tagLst>
</file>

<file path=ppt/tags/tag97.xml><?xml version="1.0" encoding="utf-8"?>
<p:tagLst xmlns:p="http://schemas.openxmlformats.org/presentationml/2006/main">
  <p:tag name="KSO_WM_DIAGRAM_VIRTUALLY_FRAME" val="{&quot;height&quot;:372.9,&quot;left&quot;:50.35,&quot;top&quot;:99.25,&quot;width&quot;:723.7}"/>
</p:tagLst>
</file>

<file path=ppt/tags/tag98.xml><?xml version="1.0" encoding="utf-8"?>
<p:tagLst xmlns:p="http://schemas.openxmlformats.org/presentationml/2006/main">
  <p:tag name="KSO_WM_DIAGRAM_VIRTUALLY_FRAME" val="{&quot;height&quot;:372.9,&quot;left&quot;:50.35,&quot;top&quot;:99.25,&quot;width&quot;:723.7}"/>
</p:tagLst>
</file>

<file path=ppt/tags/tag99.xml><?xml version="1.0" encoding="utf-8"?>
<p:tagLst xmlns:p="http://schemas.openxmlformats.org/presentationml/2006/main">
  <p:tag name="KSO_WM_DIAGRAM_VIRTUALLY_FRAME" val="{&quot;height&quot;:372.9,&quot;left&quot;:50.35,&quot;top&quot;:99.25,&quot;width&quot;:723.7}"/>
</p:tagLst>
</file>

<file path=ppt/tags/tag100.xml><?xml version="1.0" encoding="utf-8"?>
<p:tagLst xmlns:p="http://schemas.openxmlformats.org/presentationml/2006/main">
  <p:tag name="KSO_WM_DIAGRAM_VIRTUALLY_FRAME" val="{&quot;height&quot;:372.9,&quot;left&quot;:50.35,&quot;top&quot;:99.25,&quot;width&quot;:723.7}"/>
</p:tagLst>
</file>

<file path=ppt/tags/tag101.xml><?xml version="1.0" encoding="utf-8"?>
<p:tagLst xmlns:p="http://schemas.openxmlformats.org/presentationml/2006/main">
  <p:tag name="KSO_WM_DIAGRAM_VIRTUALLY_FRAME" val="{&quot;height&quot;:372.9,&quot;left&quot;:50.35,&quot;top&quot;:99.25,&quot;width&quot;:723.7}"/>
</p:tagLst>
</file>

<file path=ppt/tags/tag102.xml><?xml version="1.0" encoding="utf-8"?>
<p:tagLst xmlns:p="http://schemas.openxmlformats.org/presentationml/2006/main">
  <p:tag name="KSO_WM_DIAGRAM_VIRTUALLY_FRAME" val="{&quot;height&quot;:372.9,&quot;left&quot;:50.35,&quot;top&quot;:99.25,&quot;width&quot;:723.7}"/>
</p:tagLst>
</file>

<file path=ppt/tags/tag103.xml><?xml version="1.0" encoding="utf-8"?>
<p:tagLst xmlns:p="http://schemas.openxmlformats.org/presentationml/2006/main">
  <p:tag name="KSO_WM_DIAGRAM_VIRTUALLY_FRAME" val="{&quot;height&quot;:372.9,&quot;left&quot;:50.35,&quot;top&quot;:99.25,&quot;width&quot;:723.7}"/>
</p:tagLst>
</file>

<file path=ppt/tags/tag104.xml><?xml version="1.0" encoding="utf-8"?>
<p:tagLst xmlns:p="http://schemas.openxmlformats.org/presentationml/2006/main">
  <p:tag name="KSO_WM_DIAGRAM_VIRTUALLY_FRAME" val="{&quot;height&quot;:372.9,&quot;left&quot;:50.35,&quot;top&quot;:99.25,&quot;width&quot;:723.7}"/>
</p:tagLst>
</file>

<file path=ppt/tags/tag105.xml><?xml version="1.0" encoding="utf-8"?>
<p:tagLst xmlns:p="http://schemas.openxmlformats.org/presentationml/2006/main">
  <p:tag name="KSO_WM_DIAGRAM_VIRTUALLY_FRAME" val="{&quot;height&quot;:372.9,&quot;left&quot;:50.35,&quot;top&quot;:99.25,&quot;width&quot;:723.7}"/>
</p:tagLst>
</file>

<file path=ppt/tags/tag106.xml><?xml version="1.0" encoding="utf-8"?>
<p:tagLst xmlns:p="http://schemas.openxmlformats.org/presentationml/2006/main">
  <p:tag name="KSO_WM_DIAGRAM_VIRTUALLY_FRAME" val="{&quot;height&quot;:362.95,&quot;left&quot;:52.95,&quot;top&quot;:110,&quot;width&quot;:845.45}"/>
</p:tagLst>
</file>

<file path=ppt/tags/tag107.xml><?xml version="1.0" encoding="utf-8"?>
<p:tagLst xmlns:p="http://schemas.openxmlformats.org/presentationml/2006/main">
  <p:tag name="KSO_WM_DIAGRAM_VIRTUALLY_FRAME" val="{&quot;height&quot;:362.95,&quot;left&quot;:52.95,&quot;top&quot;:110,&quot;width&quot;:845.45}"/>
</p:tagLst>
</file>

<file path=ppt/tags/tag108.xml><?xml version="1.0" encoding="utf-8"?>
<p:tagLst xmlns:p="http://schemas.openxmlformats.org/presentationml/2006/main">
  <p:tag name="KSO_WM_DIAGRAM_VIRTUALLY_FRAME" val="{&quot;height&quot;:362.95,&quot;left&quot;:52.95,&quot;top&quot;:110,&quot;width&quot;:845.45}"/>
</p:tagLst>
</file>

<file path=ppt/tags/tag109.xml><?xml version="1.0" encoding="utf-8"?>
<p:tagLst xmlns:p="http://schemas.openxmlformats.org/presentationml/2006/main">
  <p:tag name="KSO_WM_DIAGRAM_VIRTUALLY_FRAME" val="{&quot;height&quot;:362.95,&quot;left&quot;:52.95,&quot;top&quot;:110,&quot;width&quot;:845.45}"/>
</p:tagLst>
</file>

<file path=ppt/tags/tag110.xml><?xml version="1.0" encoding="utf-8"?>
<p:tagLst xmlns:p="http://schemas.openxmlformats.org/presentationml/2006/main">
  <p:tag name="KSO_WM_DIAGRAM_VIRTUALLY_FRAME" val="{&quot;height&quot;:362.95,&quot;left&quot;:52.95,&quot;top&quot;:110,&quot;width&quot;:845.45}"/>
</p:tagLst>
</file>

<file path=ppt/tags/tag111.xml><?xml version="1.0" encoding="utf-8"?>
<p:tagLst xmlns:p="http://schemas.openxmlformats.org/presentationml/2006/main">
  <p:tag name="KSO_WM_DIAGRAM_VIRTUALLY_FRAME" val="{&quot;height&quot;:362.95,&quot;left&quot;:52.95,&quot;top&quot;:110,&quot;width&quot;:845.45}"/>
</p:tagLst>
</file>

<file path=ppt/tags/tag112.xml><?xml version="1.0" encoding="utf-8"?>
<p:tagLst xmlns:p="http://schemas.openxmlformats.org/presentationml/2006/main">
  <p:tag name="KSO_WM_DIAGRAM_VIRTUALLY_FRAME" val="{&quot;height&quot;:362.95,&quot;left&quot;:52.95,&quot;top&quot;:110,&quot;width&quot;:845.45}"/>
</p:tagLst>
</file>

<file path=ppt/tags/tag113.xml><?xml version="1.0" encoding="utf-8"?>
<p:tagLst xmlns:p="http://schemas.openxmlformats.org/presentationml/2006/main">
  <p:tag name="KSO_WM_DIAGRAM_VIRTUALLY_FRAME" val="{&quot;height&quot;:362.95,&quot;left&quot;:52.95,&quot;top&quot;:110,&quot;width&quot;:845.45}"/>
</p:tagLst>
</file>

<file path=ppt/tags/tag114.xml><?xml version="1.0" encoding="utf-8"?>
<p:tagLst xmlns:p="http://schemas.openxmlformats.org/presentationml/2006/main">
  <p:tag name="KSO_WM_DIAGRAM_VIRTUALLY_FRAME" val="{&quot;height&quot;:362.95,&quot;left&quot;:52.95,&quot;top&quot;:110,&quot;width&quot;:845.45}"/>
</p:tagLst>
</file>

<file path=ppt/tags/tag115.xml><?xml version="1.0" encoding="utf-8"?>
<p:tagLst xmlns:p="http://schemas.openxmlformats.org/presentationml/2006/main">
  <p:tag name="KSO_WM_DIAGRAM_VIRTUALLY_FRAME" val="{&quot;height&quot;:362.95,&quot;left&quot;:52.95,&quot;top&quot;:110,&quot;width&quot;:845.45}"/>
</p:tagLst>
</file>

<file path=ppt/tags/tag116.xml><?xml version="1.0" encoding="utf-8"?>
<p:tagLst xmlns:p="http://schemas.openxmlformats.org/presentationml/2006/main">
  <p:tag name="KSO_WM_DIAGRAM_VIRTUALLY_FRAME" val="{&quot;height&quot;:362.95,&quot;left&quot;:52.95,&quot;top&quot;:110,&quot;width&quot;:845.45}"/>
</p:tagLst>
</file>

<file path=ppt/tags/tag117.xml><?xml version="1.0" encoding="utf-8"?>
<p:tagLst xmlns:p="http://schemas.openxmlformats.org/presentationml/2006/main">
  <p:tag name="KSO_WM_DIAGRAM_VIRTUALLY_FRAME" val="{&quot;height&quot;:362.95,&quot;left&quot;:52.95,&quot;top&quot;:110,&quot;width&quot;:845.45}"/>
</p:tagLst>
</file>

<file path=ppt/tags/tag118.xml><?xml version="1.0" encoding="utf-8"?>
<p:tagLst xmlns:p="http://schemas.openxmlformats.org/presentationml/2006/main">
  <p:tag name="KSO_WM_DIAGRAM_VIRTUALLY_FRAME" val="{&quot;height&quot;:287.5374803149606,&quot;left&quot;:-1.25,&quot;top&quot;:108.25,&quot;width&quot;:962.4}"/>
</p:tagLst>
</file>

<file path=ppt/tags/tag119.xml><?xml version="1.0" encoding="utf-8"?>
<p:tagLst xmlns:p="http://schemas.openxmlformats.org/presentationml/2006/main">
  <p:tag name="KSO_WM_DIAGRAM_VIRTUALLY_FRAME" val="{&quot;height&quot;:287.5374803149606,&quot;left&quot;:-1.25,&quot;top&quot;:108.25,&quot;width&quot;:962.4}"/>
</p:tagLst>
</file>

<file path=ppt/tags/tag120.xml><?xml version="1.0" encoding="utf-8"?>
<p:tagLst xmlns:p="http://schemas.openxmlformats.org/presentationml/2006/main">
  <p:tag name="KSO_WM_DIAGRAM_VIRTUALLY_FRAME" val="{&quot;height&quot;:287.5374803149606,&quot;left&quot;:-1.25,&quot;top&quot;:108.25,&quot;width&quot;:962.4}"/>
</p:tagLst>
</file>

<file path=ppt/tags/tag121.xml><?xml version="1.0" encoding="utf-8"?>
<p:tagLst xmlns:p="http://schemas.openxmlformats.org/presentationml/2006/main">
  <p:tag name="KSO_WM_DIAGRAM_VIRTUALLY_FRAME" val="{&quot;height&quot;:287.5374803149606,&quot;left&quot;:-1.25,&quot;top&quot;:108.25,&quot;width&quot;:962.4}"/>
</p:tagLst>
</file>

<file path=ppt/tags/tag122.xml><?xml version="1.0" encoding="utf-8"?>
<p:tagLst xmlns:p="http://schemas.openxmlformats.org/presentationml/2006/main">
  <p:tag name="KSO_WM_DIAGRAM_VIRTUALLY_FRAME" val="{&quot;height&quot;:287.5374803149606,&quot;left&quot;:-1.25,&quot;top&quot;:108.25,&quot;width&quot;:962.4}"/>
</p:tagLst>
</file>

<file path=ppt/tags/tag123.xml><?xml version="1.0" encoding="utf-8"?>
<p:tagLst xmlns:p="http://schemas.openxmlformats.org/presentationml/2006/main">
  <p:tag name="KSO_WM_DIAGRAM_VIRTUALLY_FRAME" val="{&quot;height&quot;:287.5374803149606,&quot;left&quot;:-1.25,&quot;top&quot;:108.25,&quot;width&quot;:962.4}"/>
</p:tagLst>
</file>

<file path=ppt/tags/tag124.xml><?xml version="1.0" encoding="utf-8"?>
<p:tagLst xmlns:p="http://schemas.openxmlformats.org/presentationml/2006/main">
  <p:tag name="KSO_WM_DIAGRAM_VIRTUALLY_FRAME" val="{&quot;height&quot;:287.5374803149606,&quot;left&quot;:-1.25,&quot;top&quot;:108.25,&quot;width&quot;:962.4}"/>
</p:tagLst>
</file>

<file path=ppt/tags/tag125.xml><?xml version="1.0" encoding="utf-8"?>
<p:tagLst xmlns:p="http://schemas.openxmlformats.org/presentationml/2006/main">
  <p:tag name="KSO_WM_DIAGRAM_VIRTUALLY_FRAME" val="{&quot;height&quot;:287.5374803149606,&quot;left&quot;:-1.25,&quot;top&quot;:108.25,&quot;width&quot;:962.4}"/>
</p:tagLst>
</file>

<file path=ppt/tags/tag126.xml><?xml version="1.0" encoding="utf-8"?>
<p:tagLst xmlns:p="http://schemas.openxmlformats.org/presentationml/2006/main">
  <p:tag name="KSO_WM_DIAGRAM_VIRTUALLY_FRAME" val="{&quot;height&quot;:287.5374803149606,&quot;left&quot;:-1.25,&quot;top&quot;:108.25,&quot;width&quot;:962.4}"/>
</p:tagLst>
</file>

<file path=ppt/tags/tag127.xml><?xml version="1.0" encoding="utf-8"?>
<p:tagLst xmlns:p="http://schemas.openxmlformats.org/presentationml/2006/main">
  <p:tag name="KSO_WM_DIAGRAM_VIRTUALLY_FRAME" val="{&quot;height&quot;:320.8,&quot;left&quot;:1,&quot;top&quot;:131.4,&quot;width&quot;:959.0003149606298}"/>
</p:tagLst>
</file>

<file path=ppt/tags/tag128.xml><?xml version="1.0" encoding="utf-8"?>
<p:tagLst xmlns:p="http://schemas.openxmlformats.org/presentationml/2006/main">
  <p:tag name="KSO_WM_DIAGRAM_VIRTUALLY_FRAME" val="{&quot;height&quot;:320.8,&quot;left&quot;:1,&quot;top&quot;:131.4,&quot;width&quot;:959.0003149606298}"/>
</p:tagLst>
</file>

<file path=ppt/tags/tag129.xml><?xml version="1.0" encoding="utf-8"?>
<p:tagLst xmlns:p="http://schemas.openxmlformats.org/presentationml/2006/main">
  <p:tag name="KSO_WM_DIAGRAM_VIRTUALLY_FRAME" val="{&quot;height&quot;:320.8,&quot;left&quot;:1,&quot;top&quot;:131.4,&quot;width&quot;:959.0003149606298}"/>
</p:tagLst>
</file>

<file path=ppt/tags/tag130.xml><?xml version="1.0" encoding="utf-8"?>
<p:tagLst xmlns:p="http://schemas.openxmlformats.org/presentationml/2006/main">
  <p:tag name="KSO_WM_DIAGRAM_VIRTUALLY_FRAME" val="{&quot;height&quot;:320.8,&quot;left&quot;:1,&quot;top&quot;:131.4,&quot;width&quot;:959.0003149606298}"/>
</p:tagLst>
</file>

<file path=ppt/tags/tag131.xml><?xml version="1.0" encoding="utf-8"?>
<p:tagLst xmlns:p="http://schemas.openxmlformats.org/presentationml/2006/main">
  <p:tag name="KSO_WM_DIAGRAM_VIRTUALLY_FRAME" val="{&quot;height&quot;:320.8,&quot;left&quot;:1,&quot;top&quot;:131.4,&quot;width&quot;:959.0003149606298}"/>
</p:tagLst>
</file>

<file path=ppt/tags/tag132.xml><?xml version="1.0" encoding="utf-8"?>
<p:tagLst xmlns:p="http://schemas.openxmlformats.org/presentationml/2006/main">
  <p:tag name="KSO_WM_DIAGRAM_VIRTUALLY_FRAME" val="{&quot;height&quot;:320.8,&quot;left&quot;:1,&quot;top&quot;:131.4,&quot;width&quot;:959.0003149606298}"/>
</p:tagLst>
</file>

<file path=ppt/tags/tag133.xml><?xml version="1.0" encoding="utf-8"?>
<p:tagLst xmlns:p="http://schemas.openxmlformats.org/presentationml/2006/main">
  <p:tag name="KSO_WM_DIAGRAM_VIRTUALLY_FRAME" val="{&quot;height&quot;:320.8,&quot;left&quot;:1,&quot;top&quot;:131.4,&quot;width&quot;:959.0003149606298}"/>
</p:tagLst>
</file>

<file path=ppt/tags/tag134.xml><?xml version="1.0" encoding="utf-8"?>
<p:tagLst xmlns:p="http://schemas.openxmlformats.org/presentationml/2006/main">
  <p:tag name="KSO_WM_DIAGRAM_VIRTUALLY_FRAME" val="{&quot;height&quot;:320.8,&quot;left&quot;:1,&quot;top&quot;:131.4,&quot;width&quot;:959.0003149606298}"/>
</p:tagLst>
</file>

<file path=ppt/tags/tag135.xml><?xml version="1.0" encoding="utf-8"?>
<p:tagLst xmlns:p="http://schemas.openxmlformats.org/presentationml/2006/main">
  <p:tag name="KSO_WM_DIAGRAM_VIRTUALLY_FRAME" val="{&quot;height&quot;:34.55,&quot;left&quot;:56.25,&quot;top&quot;:349.45,&quot;width&quot;:359.65}"/>
</p:tagLst>
</file>

<file path=ppt/tags/tag136.xml><?xml version="1.0" encoding="utf-8"?>
<p:tagLst xmlns:p="http://schemas.openxmlformats.org/presentationml/2006/main">
  <p:tag name="KSO_WM_DIAGRAM_VIRTUALLY_FRAME" val="{&quot;height&quot;:34.55,&quot;left&quot;:56.25,&quot;top&quot;:349.45,&quot;width&quot;:359.65}"/>
</p:tagLst>
</file>

<file path=ppt/tags/tag137.xml><?xml version="1.0" encoding="utf-8"?>
<p:tagLst xmlns:p="http://schemas.openxmlformats.org/presentationml/2006/main">
  <p:tag name="KSO_WM_DIAGRAM_VIRTUALLY_FRAME" val="{&quot;height&quot;:34.55,&quot;left&quot;:56.25,&quot;top&quot;:349.45,&quot;width&quot;:359.65}"/>
</p:tagLst>
</file>

<file path=ppt/tags/tag138.xml><?xml version="1.0" encoding="utf-8"?>
<p:tagLst xmlns:p="http://schemas.openxmlformats.org/presentationml/2006/main">
  <p:tag name="KSO_WM_DIAGRAM_VIRTUALLY_FRAME" val="{&quot;height&quot;:34.55,&quot;left&quot;:56.25,&quot;top&quot;:349.45,&quot;width&quot;:359.65}"/>
</p:tagLst>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004CC0"/>
      </a:accent1>
      <a:accent2>
        <a:srgbClr val="00B0F0"/>
      </a:accent2>
      <a:accent3>
        <a:srgbClr val="1D3EBF"/>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004CC0"/>
      </a:accent1>
      <a:accent2>
        <a:srgbClr val="00B0F0"/>
      </a:accent2>
      <a:accent3>
        <a:srgbClr val="1D3EBF"/>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2434</Words>
  <Application>WPS 演示</Application>
  <PresentationFormat>On-screen Show (16:9)</PresentationFormat>
  <Paragraphs>242</Paragraphs>
  <Slides>20</Slides>
  <Notes>21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宋体</vt:lpstr>
      <vt:lpstr>Wingdings</vt:lpstr>
      <vt:lpstr>黑体</vt:lpstr>
      <vt:lpstr>Times New Roman</vt:lpstr>
      <vt:lpstr>MiSans</vt:lpstr>
      <vt:lpstr>MiSans</vt:lpstr>
      <vt:lpstr>微软雅黑</vt:lpstr>
      <vt:lpstr>Arial Unicode MS</vt:lpstr>
      <vt:lpstr>Calibri</vt:lpstr>
      <vt:lpstr>等线</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知识融入大语言模型的智能用户故事生成系统</dc:title>
  <dc:creator>Kimi</dc:creator>
  <dc:subject>知识融入大语言模型的智能用户故事生成系统</dc:subject>
  <cp:lastModifiedBy>翁艺恺</cp:lastModifiedBy>
  <cp:revision>14</cp:revision>
  <dcterms:created xsi:type="dcterms:W3CDTF">2026-05-10T06:17:00Z</dcterms:created>
  <dcterms:modified xsi:type="dcterms:W3CDTF">2026-05-12T11:44:33Z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知识融入大语言模型的智能用户故事生成系统","ContentProducer":"001191110108MACG2KBH8F10000","ProduceID":"19e107c4-0a52-8794-8000-000020696f90","ReservedCode1":"","ContentPropagator":"001191110108MACG2KBH8F20000","PropagateID":"19e107c4-0a52-8794-8000-000020696f90","ReservedCode2":""}</vt:lpwstr>
  </property>
  <property fmtid="{D5CDD505-2E9C-101B-9397-08002B2CF9AE}" pid="3" name="ICV">
    <vt:lpwstr>603B4F7274F4416BB11C2CF0ED4D2096_13</vt:lpwstr>
  </property>
  <property fmtid="{D5CDD505-2E9C-101B-9397-08002B2CF9AE}" pid="4" name="KSOProductBuildVer">
    <vt:lpwstr>2052-12.1.0.25865</vt:lpwstr>
  </property>
</Properties>
</file>